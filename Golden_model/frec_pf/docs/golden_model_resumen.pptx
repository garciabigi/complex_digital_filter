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98" r:id="rId50"/>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del modelo de referencia (golden) en Python del filtro RRC implementado en el dominio de la frecuencia. Cubre la teoría (RRC, convolución por bloques, FFT), las decisiones de diseño (sobre todo los formatos de punto fijo) y el código.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golden es la referencia contra la cual se va a verificar el RTL. No alcanza con que dé un resultado parecido: tiene que definir exactamente cada bit, por eso reproduce la estructura del hardware (etapas, multiplicadores, puntos de redondeo). El flujo es: primero validar el algoritmo en punto flotante, después cuantizar, después exportar vectores para que el testbench compare bit a bit.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consigna fija el filtro (RRC de 8 taps, roll-off 0.5), el método (bloques con 50 % de superposición) y los estímulos (QPSK). No fija el sobremuestreo: elegimos OS=2 para que los 8 taps cubran 4 símbolos. Las otras dos decisiones propias (normalización y simetría) se justifican en la sección del RRC.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Arriba el sistema del TP: generación de símbolos, sobremuestreo, los dos filtros en paralelo, comparación e interfaz serie. Este golden cubre el bloque resaltado (filtro en frecuencia). Abajo el detalle interno del filtro en frecuencia: cada bloque de esta cadena tiene su función en el código y su archivo de vectores.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Siete archivos en python_math/. fxp_utils es la base: define los formatos y la cuantización sobre la librería fxpmath. config fija parámetros y formatos; signals genera h y los estímulos; fft_fxp es la FFT bit-exacta. freq_filter usa todo lo anterior para implementar el filtro en float y en fijo. test_math y run_math son los dos ejecutables. Orden de lectura recomendado: config → signals → freq_filter (ols_float primero) → fxp_utils → fft_fxp → make_cfg → tests.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símbolo transmitido como impulso ocupa ancho de banda infinito. Para limitar la banda hay que filtrar, pero un pulso limitado en banda dura más en el tiempo y se superpone con los vecinos: interferencia entre símbolos (ISI). Nyquist mostró que se puede limitar la banda sin ISI si el pulso vale cero en todos los instantes de símbolo salvo el propio. El coseno realzado cumple eso. A la izquierda: tres símbolos superpuestos; en cada instante kT solo contribuye uno (puntos naranjas). A la derecha: β controla cuánto ancho de banda extra se usa por encima del mínimo 1/2T.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coseno realzado se reparte entre transmisor y receptor: cada uno aplica la raíz. El receptor usa el filtro adaptado (h invertido en el tiempo), que maximiza la relación señal a ruido. Importante: un RRC solo NO es Nyquist; la ISI desaparece recién en la cascada TX+RX. Por eso la constelación del golden se grafica después de aplicar el filtro adaptado. La fórmula es la forma cerrada estándar; tiene dos casos especiales (t=0 y |t|=T/4β) donde hay que usar el límite.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Muestreamos el RRC cada T/2 (OS=2), así que la frecuencia de muestreo es 2/T y las 8 muestras cubren 4 símbolos. El eje de tiempo es t = (n−3.5)·T/2: el filtro queda simétrico y el pico cae entre las muestras 3 y 4. Con solo 4 símbolos el RRC está muy truncado: en el borde de banda (0.75/T) la atenuación es de solo unos 22 dB, cuando el RRC ideal valdría 0. Un filtro simétrico de longitud par tiene siempre un cero en fs/2, por eso H[8] = 0. Los puntos naranjas son H[k], los 16 valores que usa la FFT.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Normalización: dividimos h por el máximo de |FFT16(h)|. Así ninguna componente espectral se amplifica; las cotas de bits quedan simples y H[k] entra en el mismo formato que los twiddles. La ganancia absoluta del filtro no importa (es una escala). Simetría: el RRC simétrico tiene fase lineal exacta, menor ISI y permite el FIR plegado. La contra es que el pico cae entre muestras; en la cascada TX+RX el retardo total es 7, entero. La versión anterior quedó en la rama rrc-asimetrico.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rrcos arma el eje de tiempo y evalúa la fórmula cerrada. normalize_taps aplica la normalización. qpsk_symbols convierte bits aleatorios en ±1 para I y Q. upsample inserta un cero entre símbolos (expansor por 2). El resultado x es la entrada del filtro.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FIR calcula una convolución: 8 multiplicaciones y sumas por muestra. En frecuencia la convolución se convierte en un producto. Pero la DFT de N puntos trata cada bloque como si fuera periódico, así que IFFT(FFT·H) da una convolución circular: la cola de la convolución (7 muestras) se envuelve al principio del bloque. El gráfico muestra un bloque real: en m=0..6 la circular difiere de la lineal; desde m=7 coinciden.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H[k] son 16 muestras de la respuesta en frecuencia del filtro. Se calcula una sola vez, con h rellenado con ceros hasta 16, y se guarda en una ROM. Cada bin k corresponde a la frecuencia k/(8T); los bins 9 a 15 son las frecuencias negativas. Se cuantiza H calculado en float, no la FFT de h cuantizado, para tener una sola cuantización.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entrada se corta en tramos de 8 muestras (A, B, C, D...). Cada bloque de 16 son dos tramos consecutivos: el viejo y el nuevo. Después de FFT, producto e IFFT, la primera mitad está contaminada por aliasing circular y se descarta; la segunda mitad es la salida correcta del tramo nuevo. Cada tramo entra dos veces (una como nuevo, otra como viejo) y sale una vez. Para el primer bloque, el tramo viejo son ceros.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que la segunda mitad del bloque sea correcta, la parte vieja tiene que cubrir la memoria del filtro: M−1 = 7 muestras. Con 50 % de superposición la parte vieja es N/2, así que N/2 ≥ 7 → N ≥ 14 → la potencia de 2 siguiente es 16. Overlap-add también sirve, pero solapa salidas y necesita sumarlas; overlap-save solo descarta, que en hardware es gratis. Además la salida queda alineada exactamente con la convolución lineal.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función es la más importante para entender el filtro. Rellena con 8 ceros al principio porque no hay bloque anterior, recorta bloques de 16 con paso 8, aplica FFT, producto e IFFT y guarda la segunda mitad. Se verificó contra np.convolve: error de 1e-16. Recién después de esto tiene sentido pasar a punto fijo.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DFT directa cuesta N² multiplicaciones. La FFT radix-2 de decimación en tiempo separa la entrada en muestras pares e impares: cada mitad es una DFT de N/2, y las dos se combinan con un solo producto por el twiddle W^k, que se usa sumado y restado. Esa combinación es la mariposa. Aplicando la idea recursivamente: 16 → 8 → 4 → 2, quedan 4 etapas de 8 mariposas.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Grafo de flujo de la FFT16. La entrada entra en orden bit-reverso (en hardware es solo cableado) y la salida sale en orden natural. En cada etapa la separación entre los dos elementos de la mariposa se duplica. Los twiddles W^0=1 y W^4=−j son triviales: no necesitan multiplicador. Solo las etapas 3 y 4 multiplican. El golden calcula todo genéricamente; como W^0 y W^4 se cuantizan exactos, la versión optimizada en RTL da el mismo resultado bit a bit.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IDFT es igual a la DFT con twiddles conjugados y un factor 1/N. Los twiddles conjugados salen de la misma ROM negando la parte imaginaria. El 1/16 se reparte como ÷2 en cada etapa: dividir por 2 es mover el punto binario, no cuesta lógica, y además impide que el ancho crezca. Si se dividiera por 16 al final, la IFFT crecería 4 bits para después tirarlos. Alternativa: reusar exactamente el módulo FFT intercambiando re e im a la entrada y la salida.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iteración del for es una etapa. Las 8 mariposas de la etapa se calculan con operaciones vectoriales sobre todos los bloques a la vez, que es lo mismo que tenerlas en paralelo en hardware. El producto W·b y la suma a ± W·b los calcula fxpmath a ancho completo, alineando los puntos fraccionales automáticamente. El único lugar donde se pierde precisión es requant, una vez por salida. Para la IFFT se niega la parte imaginaria del twiddle (conjugado) y se multiplica por Fxp(0.5), que es un ÷2 exacto.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S(NB, NBF) es un número con signo en complemento a 2 con NB bits en total, de los cuales NBF son fraccionales. Los bits enteros (sin signo) son NB−NBF−1. El valor real es el entero dividido por 2^NBF. S(16,13) es un ejemplo de la notación: no aparece en este diseño. Los formatos reales van de S(8,6) a S(14,8). Ejemplo concreto: el símbolo 1+j entra como el entero 64 en I y en Q, que en el archivo hex empaquetado se ve como 4040.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elegir anchos fijamos cómo se cuantiza. Todo se calcula a ancho completo y se redondea una sola vez a la salida de cada operador. El redondeo half-up es sumar medio LSB y descartar bits con floor: en hardware, un sumador. fxpmath no tiene half-up, por eso se emula así. La saturación protege, pero con las cotas elegidas nunca se activa: el contador de overflow da cero en todos los datasets.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bits enteros no se eligen simulando, porque una simulación solo cubre los casos probados. Se eligen con cotas que garantizan que nunca hay overflow para cualquier secuencia QPSK. La FFT sin escalar puede, como mucho, duplicar la magnitud en cada etapa: un bit más por etapa. El producto por H no agranda gracias a la normalización. La IFFT con ÷2 no crece. La salida está acotada por raíz de 2 por la suma de |h|. La regla para convertir una cota en bits es NBI = floor(log2(cota)) + 1.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Recorrido de los anchos de la entrada a la salida. Dentro de cada operador el resultado a ancho completo es más grande (por ejemplo 23 bits en la etapa 2); después se redondean los LSB sobrantes y se recortan los MSB que las cotas garantizan vacíos. Regla general de una mariposa con entrada S(n,8) y twiddle S(10,8): cada producto tiene n+10 bits, la suma de dos productos n+11, y a±t n+12 bits con 16 fraccionales. Se redondean 8 LSB y queda S(n+1,8).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bits fraccionales fijan la precisión y se eligen midiendo. Cada bit fraccional interno suma unos 6 dB de SQNR, como predice la teoría. Redondear da entre 5 y 9 dB más que truncar con un solo sumador. Con la configuración elegida, las tres fuentes de error tienen magnitudes parecidas, de 53, 54 y 61 dB por separado; sus potencias de ruido se suman y dan unos 49 dB medidos. Si se quisiera más precisión habría que subir NBF_D y NB_H juntos.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 de los formatos de cada nodo. Todos los genera make_cfg a partir de tres parámetros: bits fraccionales internos, bits de twiddles y bits de H. El archivo golden_params.svh se genera automáticamente para que el RTL use los mismos anchos y nunca se desincronice del golden.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fmt_for convierte una cota en un formato: calcula los bits enteros necesarios y les suma el signo y los fraccionales. Las etapas de la FFT usan la cota 2^s·√2; Y usa 16·√2; la IFFT repite el formato de Y; la salida usa √2·Σ|h|. Twiddles y H usan NB−2 fraccionales, o sea 1 bit entero, que alcanza para representar +1 exacto.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process_blocks es el diagrama en bloques escrito en código, con los cuatro pasos numerados. Recibe una matriz de bloques (cada fila: 16 muestras en S(8,6)) y devuelve un diccionario con todos los nodos intermedios. run() arma esa matriz con el mismo esquema que ols_float (8 muestras viejas + 8 nuevas por fila) y los procesa todos juntos.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dataset estresa una cosa distinta. Los aleatorios son el caso típico. El impulso es la verificación más directa: la salida tiene que ser (1+j) por h. Constante y alternado concentran la energía en un solo bin, en DC y en la frecuencia más alta. El peor caso maximiza la amplitud de salida para comprobar las cotas. Los 6 tests automáticos cubren desde la semántica de fxpmath hasta la comparación bit a bit de todos los nodos contra los vectores que usa el testbench RTL.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Primera columna: el filtro en frecuencia en float coincide con el FIR en tiempo hasta 1e-16, o sea que el algoritmo es exacto. El SQNR del punto fijo contra el float va de 40 a 68 dB y el error máximo es de unos 2 LSB de salida. No hubo ningún overflow. El impulso da menos SQNR porque tiene muy poca energía con el mismo error absoluto; constante y alternado dan más porque toda la energía está en un solo bin.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Izquierda: las salidas float y fija se superponen; el error está en el orden de 1 a 2 LSB y tiene forma de ruido. Derecha: los símbolos después del filtro adaptado del receptor forman los 4 puntos de QPSK bien agrupados; la pequeña dispersión es la ISI residual del RRC truncado a 8 taps más el error de cuantización.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lo que el testbench necesita queda en vectors. Las ROMs y los parámetros en rom; cada dataset en su carpeta con la entrada, la salida esperada y los nodos de cada etapa. Cada línea hex es una palabra compleja con la parte imaginaria en los bits altos. Si el RTL falla, comparar etapa por etapa dice dónde está el error.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Comparación honesta: con solo 8 taps el filtro en frecuencia no es más barato. Por bloque de 8 salidas gasta lo mismo que el FIR directo y el doble que el FIR plegado, con más latencia y más redondeos. Donde iguala es en throughput: la FFT paralela saca 8 muestras por ciclo de forma natural, y un FIR necesita replicarse 8 veces para eso. El método en frecuencia gana con filtros largos, de decenas de taps en adelante, porque su costo crece como log N y no como 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Todas las decisiones del diseño en una tabla, cada una con su motivo. Es la diapositiva para repasar antes de defender el diseño.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el golden terminado, el siguiente paso es el RTL del filtro en frecuencia usando los vectores. En paralelo, el FIR en tiempo con su propio golden. Después la comparación entre ambos con números de síntesis, la interfaz serie y el análisis de paralelización.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fxpmath es cómoda porque cada valor conoce su formato y las operaciones se hacen a ancho completo. Pero sus modos de redondeo no son los del hardware: 'trunc' redondea hacia cero y 'around' lleva los empates al par. El truncado de hardware es 'floor', y el half-up no existe, así que se emula sumando medio LSB y aplicando 'floor'. Para el ÷2 de la IFFT se multiplica por Fxp(0.5), que es exacto con cualquier configuración. Estos comportamientos están verificados en los tests.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822960" y="1554480"/>
            <a:ext cx="10515600" cy="548640"/>
          </a:xfrm>
          <a:prstGeom prst="rect">
            <a:avLst/>
          </a:prstGeom>
          <a:noFill/>
        </p:spPr>
        <p:txBody>
          <a:bodyPr wrap="square" lIns="45720" rIns="45720">
            <a:spAutoFit/>
          </a:bodyPr>
          <a:lstStyle/>
          <a:p>
            <a:pPr>
              <a:spcAft>
                <a:spcPts val="600"/>
              </a:spcAft>
            </a:pPr>
            <a:r>
              <a:rPr b="0" sz="1600">
                <a:solidFill>
                  <a:srgbClr val="1A9E8F"/>
                </a:solidFill>
                <a:latin typeface="Calibri"/>
              </a:rPr>
              <a:t>TP FINAL · CURSO MARVELL</a:t>
            </a:r>
          </a:p>
        </p:txBody>
      </p:sp>
      <p:sp>
        <p:nvSpPr>
          <p:cNvPr id="3" name="TextBox 2"/>
          <p:cNvSpPr txBox="1"/>
          <p:nvPr/>
        </p:nvSpPr>
        <p:spPr>
          <a:xfrm>
            <a:off x="822960" y="2103120"/>
            <a:ext cx="10515600" cy="1645920"/>
          </a:xfrm>
          <a:prstGeom prst="rect">
            <a:avLst/>
          </a:prstGeom>
          <a:noFill/>
        </p:spPr>
        <p:txBody>
          <a:bodyPr wrap="square" lIns="45720" rIns="45720">
            <a:spAutoFit/>
          </a:bodyPr>
          <a:lstStyle/>
          <a:p>
            <a:pPr>
              <a:spcAft>
                <a:spcPts val="600"/>
              </a:spcAft>
            </a:pPr>
            <a:r>
              <a:rPr b="0" sz="4400">
                <a:solidFill>
                  <a:srgbClr val="FFFFFF"/>
                </a:solidFill>
                <a:latin typeface="Calibri"/>
              </a:rPr>
              <a:t>Modelo golden del filtro RRC
en el dominio de la frecuencia</a:t>
            </a:r>
          </a:p>
        </p:txBody>
      </p:sp>
      <p:sp>
        <p:nvSpPr>
          <p:cNvPr id="4" name="TextBox 3"/>
          <p:cNvSpPr txBox="1"/>
          <p:nvPr/>
        </p:nvSpPr>
        <p:spPr>
          <a:xfrm>
            <a:off x="822960" y="3886200"/>
            <a:ext cx="10515600" cy="548640"/>
          </a:xfrm>
          <a:prstGeom prst="rect">
            <a:avLst/>
          </a:prstGeom>
          <a:noFill/>
        </p:spPr>
        <p:txBody>
          <a:bodyPr wrap="square" lIns="45720" rIns="45720">
            <a:spAutoFit/>
          </a:bodyPr>
          <a:lstStyle/>
          <a:p>
            <a:pPr>
              <a:spcAft>
                <a:spcPts val="600"/>
              </a:spcAft>
            </a:pPr>
            <a:r>
              <a:rPr b="0" sz="2000">
                <a:solidFill>
                  <a:srgbClr val="C8D3E0"/>
                </a:solidFill>
                <a:latin typeface="Calibri"/>
              </a:rPr>
              <a:t>Overlap-save 50 %  ·  FFT de 16 puntos  ·  punto fijo bit-exacto  ·  símbolos QPSK</a:t>
            </a:r>
          </a:p>
        </p:txBody>
      </p:sp>
      <p:sp>
        <p:nvSpPr>
          <p:cNvPr id="5" name="TextBox 4"/>
          <p:cNvSpPr txBox="1"/>
          <p:nvPr/>
        </p:nvSpPr>
        <p:spPr>
          <a:xfrm>
            <a:off x="822960" y="5120640"/>
            <a:ext cx="10515600" cy="457200"/>
          </a:xfrm>
          <a:prstGeom prst="rect">
            <a:avLst/>
          </a:prstGeom>
          <a:noFill/>
        </p:spPr>
        <p:txBody>
          <a:bodyPr wrap="square" lIns="45720" rIns="45720">
            <a:spAutoFit/>
          </a:bodyPr>
          <a:lstStyle/>
          <a:p>
            <a:pPr>
              <a:spcAft>
                <a:spcPts val="600"/>
              </a:spcAft>
            </a:pPr>
            <a:r>
              <a:rPr b="0" sz="1400">
                <a:solidFill>
                  <a:srgbClr val="C8D3E0"/>
                </a:solidFill>
                <a:latin typeface="Calibri"/>
              </a:rPr>
              <a:t>Octubre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Agenda</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Agenda</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2</a:t>
            </a:r>
          </a:p>
        </p:txBody>
      </p:sp>
      <p:sp>
        <p:nvSpPr>
          <p:cNvPr id="6" name="Rounded Rectangle 5"/>
          <p:cNvSpPr/>
          <p:nvPr/>
        </p:nvSpPr>
        <p:spPr>
          <a:xfrm>
            <a:off x="822960" y="1325880"/>
            <a:ext cx="548640" cy="5486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1</a:t>
            </a:r>
          </a:p>
        </p:txBody>
      </p:sp>
      <p:sp>
        <p:nvSpPr>
          <p:cNvPr id="7" name="TextBox 6"/>
          <p:cNvSpPr txBox="1"/>
          <p:nvPr/>
        </p:nvSpPr>
        <p:spPr>
          <a:xfrm>
            <a:off x="1554480" y="1307592"/>
            <a:ext cx="4297680" cy="548640"/>
          </a:xfrm>
          <a:prstGeom prst="rect">
            <a:avLst/>
          </a:prstGeom>
          <a:noFill/>
        </p:spPr>
        <p:txBody>
          <a:bodyPr wrap="square" lIns="45720" rIns="45720">
            <a:spAutoFit/>
          </a:bodyPr>
          <a:lstStyle/>
          <a:p>
            <a:pPr>
              <a:spcAft>
                <a:spcPts val="600"/>
              </a:spcAft>
            </a:pPr>
            <a:r>
              <a:rPr b="1" sz="2000">
                <a:solidFill>
                  <a:srgbClr val="1F3A5F"/>
                </a:solidFill>
                <a:latin typeface="Calibri"/>
              </a:rPr>
              <a:t>Contexto</a:t>
            </a:r>
          </a:p>
        </p:txBody>
      </p:sp>
      <p:sp>
        <p:nvSpPr>
          <p:cNvPr id="8" name="TextBox 7"/>
          <p:cNvSpPr txBox="1"/>
          <p:nvPr/>
        </p:nvSpPr>
        <p:spPr>
          <a:xfrm>
            <a:off x="5852160" y="1362456"/>
            <a:ext cx="5943600" cy="548640"/>
          </a:xfrm>
          <a:prstGeom prst="rect">
            <a:avLst/>
          </a:prstGeom>
          <a:noFill/>
        </p:spPr>
        <p:txBody>
          <a:bodyPr wrap="square" lIns="45720" rIns="45720">
            <a:spAutoFit/>
          </a:bodyPr>
          <a:lstStyle/>
          <a:p>
            <a:pPr>
              <a:spcAft>
                <a:spcPts val="600"/>
              </a:spcAft>
            </a:pPr>
            <a:r>
              <a:rPr b="0" sz="1600">
                <a:solidFill>
                  <a:srgbClr val="5F6B7A"/>
                </a:solidFill>
                <a:latin typeface="Calibri"/>
              </a:rPr>
              <a:t>qué es un golden, especificación, sistema y mapa del código</a:t>
            </a:r>
          </a:p>
        </p:txBody>
      </p:sp>
      <p:sp>
        <p:nvSpPr>
          <p:cNvPr id="9" name="Rounded Rectangle 8"/>
          <p:cNvSpPr/>
          <p:nvPr/>
        </p:nvSpPr>
        <p:spPr>
          <a:xfrm>
            <a:off x="822960" y="2020824"/>
            <a:ext cx="548640" cy="5486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2</a:t>
            </a:r>
          </a:p>
        </p:txBody>
      </p:sp>
      <p:sp>
        <p:nvSpPr>
          <p:cNvPr id="10" name="TextBox 9"/>
          <p:cNvSpPr txBox="1"/>
          <p:nvPr/>
        </p:nvSpPr>
        <p:spPr>
          <a:xfrm>
            <a:off x="1554480" y="2002536"/>
            <a:ext cx="4297680" cy="548640"/>
          </a:xfrm>
          <a:prstGeom prst="rect">
            <a:avLst/>
          </a:prstGeom>
          <a:noFill/>
        </p:spPr>
        <p:txBody>
          <a:bodyPr wrap="square" lIns="45720" rIns="45720">
            <a:spAutoFit/>
          </a:bodyPr>
          <a:lstStyle/>
          <a:p>
            <a:pPr>
              <a:spcAft>
                <a:spcPts val="600"/>
              </a:spcAft>
            </a:pPr>
            <a:r>
              <a:rPr b="1" sz="2000">
                <a:solidFill>
                  <a:srgbClr val="1F3A5F"/>
                </a:solidFill>
                <a:latin typeface="Calibri"/>
              </a:rPr>
              <a:t>El filtro RRC</a:t>
            </a:r>
          </a:p>
        </p:txBody>
      </p:sp>
      <p:sp>
        <p:nvSpPr>
          <p:cNvPr id="11" name="TextBox 10"/>
          <p:cNvSpPr txBox="1"/>
          <p:nvPr/>
        </p:nvSpPr>
        <p:spPr>
          <a:xfrm>
            <a:off x="5852160" y="2057400"/>
            <a:ext cx="5943600" cy="548640"/>
          </a:xfrm>
          <a:prstGeom prst="rect">
            <a:avLst/>
          </a:prstGeom>
          <a:noFill/>
        </p:spPr>
        <p:txBody>
          <a:bodyPr wrap="square" lIns="45720" rIns="45720">
            <a:spAutoFit/>
          </a:bodyPr>
          <a:lstStyle/>
          <a:p>
            <a:pPr>
              <a:spcAft>
                <a:spcPts val="600"/>
              </a:spcAft>
            </a:pPr>
            <a:r>
              <a:rPr b="0" sz="1600">
                <a:solidFill>
                  <a:srgbClr val="5F6B7A"/>
                </a:solidFill>
                <a:latin typeface="Calibri"/>
              </a:rPr>
              <a:t>Nyquist, coseno realzado, por qué "raíz", nuestros 8 taps</a:t>
            </a:r>
          </a:p>
        </p:txBody>
      </p:sp>
      <p:sp>
        <p:nvSpPr>
          <p:cNvPr id="12" name="Rounded Rectangle 11"/>
          <p:cNvSpPr/>
          <p:nvPr/>
        </p:nvSpPr>
        <p:spPr>
          <a:xfrm>
            <a:off x="822960" y="2715768"/>
            <a:ext cx="548640" cy="5486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3</a:t>
            </a:r>
          </a:p>
        </p:txBody>
      </p:sp>
      <p:sp>
        <p:nvSpPr>
          <p:cNvPr id="13" name="TextBox 12"/>
          <p:cNvSpPr txBox="1"/>
          <p:nvPr/>
        </p:nvSpPr>
        <p:spPr>
          <a:xfrm>
            <a:off x="1554480" y="2697479"/>
            <a:ext cx="4297680" cy="548640"/>
          </a:xfrm>
          <a:prstGeom prst="rect">
            <a:avLst/>
          </a:prstGeom>
          <a:noFill/>
        </p:spPr>
        <p:txBody>
          <a:bodyPr wrap="square" lIns="45720" rIns="45720">
            <a:spAutoFit/>
          </a:bodyPr>
          <a:lstStyle/>
          <a:p>
            <a:pPr>
              <a:spcAft>
                <a:spcPts val="600"/>
              </a:spcAft>
            </a:pPr>
            <a:r>
              <a:rPr b="1" sz="2000">
                <a:solidFill>
                  <a:srgbClr val="1F3A5F"/>
                </a:solidFill>
                <a:latin typeface="Calibri"/>
              </a:rPr>
              <a:t>Fundamento en frecuencia</a:t>
            </a:r>
          </a:p>
        </p:txBody>
      </p:sp>
      <p:sp>
        <p:nvSpPr>
          <p:cNvPr id="14" name="TextBox 13"/>
          <p:cNvSpPr txBox="1"/>
          <p:nvPr/>
        </p:nvSpPr>
        <p:spPr>
          <a:xfrm>
            <a:off x="5852160" y="2752344"/>
            <a:ext cx="5943600" cy="548640"/>
          </a:xfrm>
          <a:prstGeom prst="rect">
            <a:avLst/>
          </a:prstGeom>
          <a:noFill/>
        </p:spPr>
        <p:txBody>
          <a:bodyPr wrap="square" lIns="45720" rIns="45720">
            <a:spAutoFit/>
          </a:bodyPr>
          <a:lstStyle/>
          <a:p>
            <a:pPr>
              <a:spcAft>
                <a:spcPts val="600"/>
              </a:spcAft>
            </a:pPr>
            <a:r>
              <a:rPr b="0" sz="1600">
                <a:solidFill>
                  <a:srgbClr val="5F6B7A"/>
                </a:solidFill>
                <a:latin typeface="Calibri"/>
              </a:rPr>
              <a:t>convolución ↔ producto, circular vs lineal, overlap-save</a:t>
            </a:r>
          </a:p>
        </p:txBody>
      </p:sp>
      <p:sp>
        <p:nvSpPr>
          <p:cNvPr id="15" name="Rounded Rectangle 14"/>
          <p:cNvSpPr/>
          <p:nvPr/>
        </p:nvSpPr>
        <p:spPr>
          <a:xfrm>
            <a:off x="822960" y="3410712"/>
            <a:ext cx="548640" cy="5486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4</a:t>
            </a:r>
          </a:p>
        </p:txBody>
      </p:sp>
      <p:sp>
        <p:nvSpPr>
          <p:cNvPr id="16" name="TextBox 15"/>
          <p:cNvSpPr txBox="1"/>
          <p:nvPr/>
        </p:nvSpPr>
        <p:spPr>
          <a:xfrm>
            <a:off x="1554480" y="3392424"/>
            <a:ext cx="4297680" cy="548640"/>
          </a:xfrm>
          <a:prstGeom prst="rect">
            <a:avLst/>
          </a:prstGeom>
          <a:noFill/>
        </p:spPr>
        <p:txBody>
          <a:bodyPr wrap="square" lIns="45720" rIns="45720">
            <a:spAutoFit/>
          </a:bodyPr>
          <a:lstStyle/>
          <a:p>
            <a:pPr>
              <a:spcAft>
                <a:spcPts val="600"/>
              </a:spcAft>
            </a:pPr>
            <a:r>
              <a:rPr b="1" sz="2000">
                <a:solidFill>
                  <a:srgbClr val="1F3A5F"/>
                </a:solidFill>
                <a:latin typeface="Calibri"/>
              </a:rPr>
              <a:t>La FFT</a:t>
            </a:r>
          </a:p>
        </p:txBody>
      </p:sp>
      <p:sp>
        <p:nvSpPr>
          <p:cNvPr id="17" name="TextBox 16"/>
          <p:cNvSpPr txBox="1"/>
          <p:nvPr/>
        </p:nvSpPr>
        <p:spPr>
          <a:xfrm>
            <a:off x="5852160" y="3447288"/>
            <a:ext cx="5943600" cy="548640"/>
          </a:xfrm>
          <a:prstGeom prst="rect">
            <a:avLst/>
          </a:prstGeom>
          <a:noFill/>
        </p:spPr>
        <p:txBody>
          <a:bodyPr wrap="square" lIns="45720" rIns="45720">
            <a:spAutoFit/>
          </a:bodyPr>
          <a:lstStyle/>
          <a:p>
            <a:pPr>
              <a:spcAft>
                <a:spcPts val="600"/>
              </a:spcAft>
            </a:pPr>
            <a:r>
              <a:rPr b="0" sz="1600">
                <a:solidFill>
                  <a:srgbClr val="5F6B7A"/>
                </a:solidFill>
                <a:latin typeface="Calibri"/>
              </a:rPr>
              <a:t>de la DFT a la mariposa, FFT16 de 4 etapas, IFFT</a:t>
            </a:r>
          </a:p>
        </p:txBody>
      </p:sp>
      <p:sp>
        <p:nvSpPr>
          <p:cNvPr id="18" name="Rounded Rectangle 17"/>
          <p:cNvSpPr/>
          <p:nvPr/>
        </p:nvSpPr>
        <p:spPr>
          <a:xfrm>
            <a:off x="822960" y="4105656"/>
            <a:ext cx="548640" cy="5486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5</a:t>
            </a:r>
          </a:p>
        </p:txBody>
      </p:sp>
      <p:sp>
        <p:nvSpPr>
          <p:cNvPr id="19" name="TextBox 18"/>
          <p:cNvSpPr txBox="1"/>
          <p:nvPr/>
        </p:nvSpPr>
        <p:spPr>
          <a:xfrm>
            <a:off x="1554480" y="4087368"/>
            <a:ext cx="4297680" cy="548640"/>
          </a:xfrm>
          <a:prstGeom prst="rect">
            <a:avLst/>
          </a:prstGeom>
          <a:noFill/>
        </p:spPr>
        <p:txBody>
          <a:bodyPr wrap="square" lIns="45720" rIns="45720">
            <a:spAutoFit/>
          </a:bodyPr>
          <a:lstStyle/>
          <a:p>
            <a:pPr>
              <a:spcAft>
                <a:spcPts val="600"/>
              </a:spcAft>
            </a:pPr>
            <a:r>
              <a:rPr b="1" sz="2000">
                <a:solidFill>
                  <a:srgbClr val="1F3A5F"/>
                </a:solidFill>
                <a:latin typeface="Calibri"/>
              </a:rPr>
              <a:t>Punto fijo</a:t>
            </a:r>
          </a:p>
        </p:txBody>
      </p:sp>
      <p:sp>
        <p:nvSpPr>
          <p:cNvPr id="20" name="TextBox 19"/>
          <p:cNvSpPr txBox="1"/>
          <p:nvPr/>
        </p:nvSpPr>
        <p:spPr>
          <a:xfrm>
            <a:off x="5852160" y="4142232"/>
            <a:ext cx="5943600" cy="548640"/>
          </a:xfrm>
          <a:prstGeom prst="rect">
            <a:avLst/>
          </a:prstGeom>
          <a:noFill/>
        </p:spPr>
        <p:txBody>
          <a:bodyPr wrap="square" lIns="45720" rIns="45720">
            <a:spAutoFit/>
          </a:bodyPr>
          <a:lstStyle/>
          <a:p>
            <a:pPr>
              <a:spcAft>
                <a:spcPts val="600"/>
              </a:spcAft>
            </a:pPr>
            <a:r>
              <a:rPr b="0" sz="1600">
                <a:solidFill>
                  <a:srgbClr val="5F6B7A"/>
                </a:solidFill>
                <a:latin typeface="Calibri"/>
              </a:rPr>
              <a:t>notación S(NB,NBF), reglas de redondeo, cotas y barridos de bits</a:t>
            </a:r>
          </a:p>
        </p:txBody>
      </p:sp>
      <p:sp>
        <p:nvSpPr>
          <p:cNvPr id="21" name="Rounded Rectangle 20"/>
          <p:cNvSpPr/>
          <p:nvPr/>
        </p:nvSpPr>
        <p:spPr>
          <a:xfrm>
            <a:off x="822960" y="4800600"/>
            <a:ext cx="548640" cy="5486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6</a:t>
            </a:r>
          </a:p>
        </p:txBody>
      </p:sp>
      <p:sp>
        <p:nvSpPr>
          <p:cNvPr id="22" name="TextBox 21"/>
          <p:cNvSpPr txBox="1"/>
          <p:nvPr/>
        </p:nvSpPr>
        <p:spPr>
          <a:xfrm>
            <a:off x="1554480" y="4782312"/>
            <a:ext cx="4297680" cy="548640"/>
          </a:xfrm>
          <a:prstGeom prst="rect">
            <a:avLst/>
          </a:prstGeom>
          <a:noFill/>
        </p:spPr>
        <p:txBody>
          <a:bodyPr wrap="square" lIns="45720" rIns="45720">
            <a:spAutoFit/>
          </a:bodyPr>
          <a:lstStyle/>
          <a:p>
            <a:pPr>
              <a:spcAft>
                <a:spcPts val="600"/>
              </a:spcAft>
            </a:pPr>
            <a:r>
              <a:rPr b="1" sz="2000">
                <a:solidFill>
                  <a:srgbClr val="1F3A5F"/>
                </a:solidFill>
                <a:latin typeface="Calibri"/>
              </a:rPr>
              <a:t>Verificación y resultados</a:t>
            </a:r>
          </a:p>
        </p:txBody>
      </p:sp>
      <p:sp>
        <p:nvSpPr>
          <p:cNvPr id="23" name="TextBox 22"/>
          <p:cNvSpPr txBox="1"/>
          <p:nvPr/>
        </p:nvSpPr>
        <p:spPr>
          <a:xfrm>
            <a:off x="5852160" y="4837176"/>
            <a:ext cx="5943600" cy="548640"/>
          </a:xfrm>
          <a:prstGeom prst="rect">
            <a:avLst/>
          </a:prstGeom>
          <a:noFill/>
        </p:spPr>
        <p:txBody>
          <a:bodyPr wrap="square" lIns="45720" rIns="45720">
            <a:spAutoFit/>
          </a:bodyPr>
          <a:lstStyle/>
          <a:p>
            <a:pPr>
              <a:spcAft>
                <a:spcPts val="600"/>
              </a:spcAft>
            </a:pPr>
            <a:r>
              <a:rPr b="0" sz="1600">
                <a:solidFill>
                  <a:srgbClr val="5F6B7A"/>
                </a:solidFill>
                <a:latin typeface="Calibri"/>
              </a:rPr>
              <a:t>datasets, tests, float vs fijo, vectores para el RTL</a:t>
            </a:r>
          </a:p>
        </p:txBody>
      </p:sp>
      <p:sp>
        <p:nvSpPr>
          <p:cNvPr id="24" name="Rounded Rectangle 23"/>
          <p:cNvSpPr/>
          <p:nvPr/>
        </p:nvSpPr>
        <p:spPr>
          <a:xfrm>
            <a:off x="822960" y="5495544"/>
            <a:ext cx="548640" cy="5486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7</a:t>
            </a:r>
          </a:p>
        </p:txBody>
      </p:sp>
      <p:sp>
        <p:nvSpPr>
          <p:cNvPr id="25" name="TextBox 24"/>
          <p:cNvSpPr txBox="1"/>
          <p:nvPr/>
        </p:nvSpPr>
        <p:spPr>
          <a:xfrm>
            <a:off x="1554480" y="5477256"/>
            <a:ext cx="4297680" cy="548640"/>
          </a:xfrm>
          <a:prstGeom prst="rect">
            <a:avLst/>
          </a:prstGeom>
          <a:noFill/>
        </p:spPr>
        <p:txBody>
          <a:bodyPr wrap="square" lIns="45720" rIns="45720">
            <a:spAutoFit/>
          </a:bodyPr>
          <a:lstStyle/>
          <a:p>
            <a:pPr>
              <a:spcAft>
                <a:spcPts val="600"/>
              </a:spcAft>
            </a:pPr>
            <a:r>
              <a:rPr b="1" sz="2000">
                <a:solidFill>
                  <a:srgbClr val="1F3A5F"/>
                </a:solidFill>
                <a:latin typeface="Calibri"/>
              </a:rPr>
              <a:t>Cierre</a:t>
            </a:r>
          </a:p>
        </p:txBody>
      </p:sp>
      <p:sp>
        <p:nvSpPr>
          <p:cNvPr id="26" name="TextBox 25"/>
          <p:cNvSpPr txBox="1"/>
          <p:nvPr/>
        </p:nvSpPr>
        <p:spPr>
          <a:xfrm>
            <a:off x="5852160" y="5532120"/>
            <a:ext cx="5943600" cy="548640"/>
          </a:xfrm>
          <a:prstGeom prst="rect">
            <a:avLst/>
          </a:prstGeom>
          <a:noFill/>
        </p:spPr>
        <p:txBody>
          <a:bodyPr wrap="square" lIns="45720" rIns="45720">
            <a:spAutoFit/>
          </a:bodyPr>
          <a:lstStyle/>
          <a:p>
            <a:pPr>
              <a:spcAft>
                <a:spcPts val="600"/>
              </a:spcAft>
            </a:pPr>
            <a:r>
              <a:rPr b="0" sz="1600">
                <a:solidFill>
                  <a:srgbClr val="5F6B7A"/>
                </a:solidFill>
                <a:latin typeface="Calibri"/>
              </a:rPr>
              <a:t>tiempo vs frecuencia, resumen de decisiones, próximos pasos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822960" y="2103120"/>
            <a:ext cx="10515600" cy="914400"/>
          </a:xfrm>
          <a:prstGeom prst="rect">
            <a:avLst/>
          </a:prstGeom>
          <a:noFill/>
        </p:spPr>
        <p:txBody>
          <a:bodyPr wrap="square" lIns="45720" rIns="45720">
            <a:spAutoFit/>
          </a:bodyPr>
          <a:lstStyle/>
          <a:p>
            <a:pPr>
              <a:spcAft>
                <a:spcPts val="600"/>
              </a:spcAft>
            </a:pPr>
            <a:r>
              <a:rPr b="0" sz="5400">
                <a:solidFill>
                  <a:srgbClr val="1A9E8F"/>
                </a:solidFill>
                <a:latin typeface="Calibri"/>
              </a:rPr>
              <a:t>1</a:t>
            </a:r>
          </a:p>
        </p:txBody>
      </p:sp>
      <p:sp>
        <p:nvSpPr>
          <p:cNvPr id="3" name="TextBox 2"/>
          <p:cNvSpPr txBox="1"/>
          <p:nvPr/>
        </p:nvSpPr>
        <p:spPr>
          <a:xfrm>
            <a:off x="822960" y="3017520"/>
            <a:ext cx="10515600" cy="914400"/>
          </a:xfrm>
          <a:prstGeom prst="rect">
            <a:avLst/>
          </a:prstGeom>
          <a:noFill/>
        </p:spPr>
        <p:txBody>
          <a:bodyPr wrap="square" lIns="45720" rIns="45720">
            <a:spAutoFit/>
          </a:bodyPr>
          <a:lstStyle/>
          <a:p>
            <a:pPr>
              <a:spcAft>
                <a:spcPts val="600"/>
              </a:spcAft>
            </a:pPr>
            <a:r>
              <a:rPr b="0" sz="4000">
                <a:solidFill>
                  <a:srgbClr val="FFFFFF"/>
                </a:solidFill>
                <a:latin typeface="Calibri"/>
              </a:rPr>
              <a:t>Contexto</a:t>
            </a:r>
          </a:p>
        </p:txBody>
      </p:sp>
      <p:sp>
        <p:nvSpPr>
          <p:cNvPr id="4" name="TextBox 3"/>
          <p:cNvSpPr txBox="1"/>
          <p:nvPr/>
        </p:nvSpPr>
        <p:spPr>
          <a:xfrm>
            <a:off x="822960" y="3931920"/>
            <a:ext cx="10515600" cy="914400"/>
          </a:xfrm>
          <a:prstGeom prst="rect">
            <a:avLst/>
          </a:prstGeom>
          <a:noFill/>
        </p:spPr>
        <p:txBody>
          <a:bodyPr wrap="square" lIns="45720" rIns="45720">
            <a:spAutoFit/>
          </a:bodyPr>
          <a:lstStyle/>
          <a:p>
            <a:pPr>
              <a:spcAft>
                <a:spcPts val="600"/>
              </a:spcAft>
            </a:pPr>
            <a:r>
              <a:rPr b="0" sz="2000">
                <a:solidFill>
                  <a:srgbClr val="C8D3E0"/>
                </a:solidFill>
                <a:latin typeface="Calibri"/>
              </a:rPr>
              <a:t>Qué se construyó y para qué sirve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¿Qué es un modelo golden?</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1 · Contexto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4</a:t>
            </a:r>
          </a:p>
        </p:txBody>
      </p:sp>
      <p:sp>
        <p:nvSpPr>
          <p:cNvPr id="6" name="Rounded Rectangle 5"/>
          <p:cNvSpPr/>
          <p:nvPr/>
        </p:nvSpPr>
        <p:spPr>
          <a:xfrm>
            <a:off x="640080" y="1463040"/>
            <a:ext cx="1920240" cy="114300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Especificación</a:t>
            </a:r>
          </a:p>
          <a:p>
            <a:pPr algn="ctr"/>
            <a:r>
              <a:rPr b="0" sz="1300">
                <a:solidFill>
                  <a:srgbClr val="FFFFFF"/>
                </a:solidFill>
                <a:latin typeface="Calibri"/>
              </a:rPr>
              <a:t>QPSK, RRC 8 taps,</a:t>
            </a:r>
          </a:p>
          <a:p>
            <a:pPr algn="ctr"/>
            <a:r>
              <a:rPr b="0" sz="1300">
                <a:solidFill>
                  <a:srgbClr val="FFFFFF"/>
                </a:solidFill>
                <a:latin typeface="Calibri"/>
              </a:rPr>
              <a:t>OLS 50 %</a:t>
            </a:r>
          </a:p>
        </p:txBody>
      </p:sp>
      <p:cxnSp>
        <p:nvCxnSpPr>
          <p:cNvPr id="7" name="Connector 6"/>
          <p:cNvCxnSpPr/>
          <p:nvPr/>
        </p:nvCxnSpPr>
        <p:spPr>
          <a:xfrm>
            <a:off x="2560320" y="2029968"/>
            <a:ext cx="36576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926080" y="1463040"/>
            <a:ext cx="1920240" cy="114300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Modelo float</a:t>
            </a:r>
          </a:p>
          <a:p>
            <a:pPr algn="ctr"/>
            <a:r>
              <a:rPr b="0" sz="1300">
                <a:solidFill>
                  <a:srgbClr val="FFFFFF"/>
                </a:solidFill>
                <a:latin typeface="Calibri"/>
              </a:rPr>
              <a:t>¿el algoritmo</a:t>
            </a:r>
          </a:p>
          <a:p>
            <a:pPr algn="ctr"/>
            <a:r>
              <a:rPr b="0" sz="1300">
                <a:solidFill>
                  <a:srgbClr val="FFFFFF"/>
                </a:solidFill>
                <a:latin typeface="Calibri"/>
              </a:rPr>
              <a:t>es correcto?</a:t>
            </a:r>
          </a:p>
        </p:txBody>
      </p:sp>
      <p:cxnSp>
        <p:nvCxnSpPr>
          <p:cNvPr id="9" name="Connector 8"/>
          <p:cNvCxnSpPr/>
          <p:nvPr/>
        </p:nvCxnSpPr>
        <p:spPr>
          <a:xfrm>
            <a:off x="4846320" y="2029968"/>
            <a:ext cx="36576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12080" y="1463040"/>
            <a:ext cx="1920240" cy="114300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Modelo punto fijo</a:t>
            </a:r>
          </a:p>
          <a:p>
            <a:pPr algn="ctr"/>
            <a:r>
              <a:rPr b="0" sz="1300">
                <a:solidFill>
                  <a:srgbClr val="FFFFFF"/>
                </a:solidFill>
                <a:latin typeface="Calibri"/>
              </a:rPr>
              <a:t>¿con cuántos bits?</a:t>
            </a:r>
          </a:p>
          <a:p>
            <a:pPr algn="ctr"/>
            <a:r>
              <a:rPr b="0" sz="1300">
                <a:solidFill>
                  <a:srgbClr val="FFFFFF"/>
                </a:solidFill>
                <a:latin typeface="Calibri"/>
              </a:rPr>
              <a:t>bit-exacto</a:t>
            </a:r>
          </a:p>
        </p:txBody>
      </p:sp>
      <p:cxnSp>
        <p:nvCxnSpPr>
          <p:cNvPr id="11" name="Connector 10"/>
          <p:cNvCxnSpPr/>
          <p:nvPr/>
        </p:nvCxnSpPr>
        <p:spPr>
          <a:xfrm>
            <a:off x="7132320" y="2029968"/>
            <a:ext cx="365759"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98079" y="1463040"/>
            <a:ext cx="1920240" cy="114300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Vectores de test</a:t>
            </a:r>
          </a:p>
          <a:p>
            <a:pPr algn="ctr"/>
            <a:r>
              <a:rPr b="0" sz="1300">
                <a:solidFill>
                  <a:srgbClr val="FFFFFF"/>
                </a:solidFill>
                <a:latin typeface="Calibri"/>
              </a:rPr>
              <a:t>entradas, salidas y</a:t>
            </a:r>
          </a:p>
          <a:p>
            <a:pPr algn="ctr"/>
            <a:r>
              <a:rPr b="0" sz="1300">
                <a:solidFill>
                  <a:srgbClr val="FFFFFF"/>
                </a:solidFill>
                <a:latin typeface="Calibri"/>
              </a:rPr>
              <a:t>nodos intermedios</a:t>
            </a:r>
          </a:p>
        </p:txBody>
      </p:sp>
      <p:cxnSp>
        <p:nvCxnSpPr>
          <p:cNvPr id="13" name="Connector 12"/>
          <p:cNvCxnSpPr/>
          <p:nvPr/>
        </p:nvCxnSpPr>
        <p:spPr>
          <a:xfrm>
            <a:off x="9418319" y="2029968"/>
            <a:ext cx="365761"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784080" y="1463040"/>
            <a:ext cx="1920240" cy="1143000"/>
          </a:xfrm>
          <a:prstGeom prst="roundRect">
            <a:avLst>
              <a:gd name="adj" fmla="val 12000"/>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RTL + testbench</a:t>
            </a:r>
          </a:p>
          <a:p>
            <a:pPr algn="ctr"/>
            <a:r>
              <a:rPr b="0" sz="1300">
                <a:solidFill>
                  <a:srgbClr val="FFFFFF"/>
                </a:solidFill>
                <a:latin typeface="Calibri"/>
              </a:rPr>
              <a:t>compara</a:t>
            </a:r>
          </a:p>
          <a:p>
            <a:pPr algn="ctr"/>
            <a:r>
              <a:rPr b="0" sz="1300">
                <a:solidFill>
                  <a:srgbClr val="FFFFFF"/>
                </a:solidFill>
                <a:latin typeface="Calibri"/>
              </a:rPr>
              <a:t>bit a bit</a:t>
            </a:r>
          </a:p>
        </p:txBody>
      </p:sp>
      <p:sp>
        <p:nvSpPr>
          <p:cNvPr id="15" name="TextBox 14"/>
          <p:cNvSpPr txBox="1"/>
          <p:nvPr/>
        </p:nvSpPr>
        <p:spPr>
          <a:xfrm>
            <a:off x="640080" y="3063240"/>
            <a:ext cx="5669280" cy="3108960"/>
          </a:xfrm>
          <a:prstGeom prst="rect">
            <a:avLst/>
          </a:prstGeom>
          <a:noFill/>
        </p:spPr>
        <p:txBody>
          <a:bodyPr wrap="square" lIns="45720" rIns="45720">
            <a:spAutoFit/>
          </a:bodyPr>
          <a:lstStyle/>
          <a:p>
            <a:pPr marL="256032" indent="-219456">
              <a:spcAft>
                <a:spcPts val="600"/>
              </a:spcAft>
              <a:buFont typeface="Arial"/>
              <a:buChar char="•"/>
            </a:pPr>
            <a:r>
              <a:rPr b="0" sz="1700">
                <a:solidFill>
                  <a:srgbClr val="222831"/>
                </a:solidFill>
                <a:latin typeface="Calibri"/>
              </a:rPr>
              <a:t>Modelo en software que define </a:t>
            </a:r>
            <a:r>
              <a:rPr b="1" sz="1700">
                <a:solidFill>
                  <a:srgbClr val="1F3A5F"/>
                </a:solidFill>
                <a:latin typeface="Calibri"/>
              </a:rPr>
              <a:t>exactamente</a:t>
            </a:r>
            <a:r>
              <a:rPr b="0" sz="1700">
                <a:solidFill>
                  <a:srgbClr val="222831"/>
                </a:solidFill>
                <a:latin typeface="Calibri"/>
              </a:rPr>
              <a:t> qué calcula el hardware, </a:t>
            </a:r>
            <a:r>
              <a:rPr b="1" sz="1700">
                <a:solidFill>
                  <a:srgbClr val="1F3A5F"/>
                </a:solidFill>
                <a:latin typeface="Calibri"/>
              </a:rPr>
              <a:t>bit a bit</a:t>
            </a:r>
            <a:r>
              <a:rPr b="0" sz="1700">
                <a:solidFill>
                  <a:srgbClr val="222831"/>
                </a:solidFill>
                <a:latin typeface="Calibri"/>
              </a:rPr>
              <a:t>.</a:t>
            </a:r>
          </a:p>
          <a:p>
            <a:pPr marL="256032" indent="-219456">
              <a:spcAft>
                <a:spcPts val="600"/>
              </a:spcAft>
              <a:buFont typeface="Arial"/>
              <a:buChar char="•"/>
            </a:pPr>
            <a:r>
              <a:rPr b="0" sz="1700">
                <a:solidFill>
                  <a:srgbClr val="222831"/>
                </a:solidFill>
                <a:latin typeface="Calibri"/>
              </a:rPr>
              <a:t>Copia la </a:t>
            </a:r>
            <a:r>
              <a:rPr b="1" sz="1700">
                <a:solidFill>
                  <a:srgbClr val="1F3A5F"/>
                </a:solidFill>
                <a:latin typeface="Calibri"/>
              </a:rPr>
              <a:t>estructura</a:t>
            </a:r>
            <a:r>
              <a:rPr b="0" sz="1700">
                <a:solidFill>
                  <a:srgbClr val="222831"/>
                </a:solidFill>
                <a:latin typeface="Calibri"/>
              </a:rPr>
              <a:t> del hardware (etapas, multiplicadores, dónde se redondea), no solo el resultado.</a:t>
            </a:r>
          </a:p>
          <a:p>
            <a:pPr marL="256032" indent="-219456">
              <a:spcAft>
                <a:spcPts val="600"/>
              </a:spcAft>
              <a:buFont typeface="Arial"/>
              <a:buChar char="•"/>
            </a:pPr>
            <a:r>
              <a:rPr b="0" sz="1700">
                <a:solidFill>
                  <a:srgbClr val="222831"/>
                </a:solidFill>
                <a:latin typeface="Calibri"/>
              </a:rPr>
              <a:t>Si el RTL difiere en un solo bit de un nodo → hay un bug (en uno de los dos).</a:t>
            </a:r>
          </a:p>
        </p:txBody>
      </p:sp>
      <p:sp>
        <p:nvSpPr>
          <p:cNvPr id="16" name="Rectangle 15"/>
          <p:cNvSpPr/>
          <p:nvPr/>
        </p:nvSpPr>
        <p:spPr>
          <a:xfrm>
            <a:off x="6583680" y="3108960"/>
            <a:ext cx="4937760" cy="292608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0" y="3108960"/>
            <a:ext cx="64008" cy="292608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2" y="3182112"/>
            <a:ext cx="4663440" cy="2788920"/>
          </a:xfrm>
          <a:prstGeom prst="rect">
            <a:avLst/>
          </a:prstGeom>
          <a:noFill/>
        </p:spPr>
        <p:txBody>
          <a:bodyPr wrap="square" lIns="45720" rIns="45720">
            <a:spAutoFit/>
          </a:bodyPr>
          <a:lstStyle/>
          <a:p>
            <a:pPr>
              <a:spcAft>
                <a:spcPts val="400"/>
              </a:spcAft>
            </a:pPr>
            <a:r>
              <a:rPr b="1" sz="1500">
                <a:solidFill>
                  <a:srgbClr val="1F3A5F"/>
                </a:solidFill>
                <a:latin typeface="Calibri"/>
              </a:rPr>
              <a:t>¿Por qué en Python?</a:t>
            </a:r>
          </a:p>
          <a:p>
            <a:pPr>
              <a:spcAft>
                <a:spcPts val="400"/>
              </a:spcAft>
            </a:pPr>
            <a:r>
              <a:rPr b="0" sz="1500">
                <a:solidFill>
                  <a:srgbClr val="222831"/>
                </a:solidFill>
                <a:latin typeface="Calibri"/>
              </a:rPr>
              <a:t>• Iterar rápido: cambiar un ancho y ver el SQNR en segundos.</a:t>
            </a:r>
          </a:p>
          <a:p>
            <a:pPr>
              <a:spcAft>
                <a:spcPts val="400"/>
              </a:spcAft>
            </a:pPr>
            <a:r>
              <a:rPr b="0" sz="1500">
                <a:solidFill>
                  <a:srgbClr val="222831"/>
                </a:solidFill>
                <a:latin typeface="Calibri"/>
              </a:rPr>
              <a:t>• Barrer parámetros y graficar (decisiones justificadas).</a:t>
            </a:r>
          </a:p>
          <a:p>
            <a:pPr>
              <a:spcAft>
                <a:spcPts val="400"/>
              </a:spcAft>
            </a:pPr>
            <a:r>
              <a:rPr b="0" sz="1500">
                <a:solidFill>
                  <a:srgbClr val="222831"/>
                </a:solidFill>
                <a:latin typeface="Calibri"/>
              </a:rPr>
              <a:t>• </a:t>
            </a:r>
            <a:r>
              <a:rPr b="1" sz="1500">
                <a:solidFill>
                  <a:srgbClr val="1F3A5F"/>
                </a:solidFill>
                <a:latin typeface="Calibri"/>
              </a:rPr>
              <a:t>fxpmath</a:t>
            </a:r>
            <a:r>
              <a:rPr b="0" sz="1500">
                <a:solidFill>
                  <a:srgbClr val="222831"/>
                </a:solidFill>
                <a:latin typeface="Calibri"/>
              </a:rPr>
              <a:t>: cada valor conoce su formato S(NB,NBF); los enteros que ve el RTL están en </a:t>
            </a:r>
            <a:r>
              <a:rPr b="0" sz="1500">
                <a:solidFill>
                  <a:srgbClr val="0E6E63"/>
                </a:solidFill>
                <a:latin typeface="Consolas"/>
              </a:rPr>
              <a:t>.val</a:t>
            </a:r>
            <a:r>
              <a:rPr b="0" sz="1500">
                <a:solidFill>
                  <a:srgbClr val="222831"/>
                </a:solidFill>
                <a:latin typeface="Calibri"/>
              </a:rPr>
              <a:t>.</a:t>
            </a:r>
          </a:p>
          <a:p>
            <a:pPr>
              <a:spcAft>
                <a:spcPts val="400"/>
              </a:spcAft>
            </a:pPr>
            <a:r>
              <a:rPr b="0" sz="1500">
                <a:solidFill>
                  <a:srgbClr val="222831"/>
                </a:solidFill>
                <a:latin typeface="Calibri"/>
              </a:rPr>
              <a:t>• Genera ROMs, parámetros </a:t>
            </a:r>
            <a:r>
              <a:rPr b="0" sz="1500">
                <a:solidFill>
                  <a:srgbClr val="0E6E63"/>
                </a:solidFill>
                <a:latin typeface="Consolas"/>
              </a:rPr>
              <a:t>.svh</a:t>
            </a:r>
            <a:r>
              <a:rPr b="0" sz="1500">
                <a:solidFill>
                  <a:srgbClr val="222831"/>
                </a:solidFill>
                <a:latin typeface="Calibri"/>
              </a:rPr>
              <a:t> y vectores </a:t>
            </a:r>
            <a:r>
              <a:rPr b="0" sz="1500">
                <a:solidFill>
                  <a:srgbClr val="0E6E63"/>
                </a:solidFill>
                <a:latin typeface="Consolas"/>
              </a:rPr>
              <a:t>.hex</a:t>
            </a:r>
            <a:r>
              <a:rPr b="0" sz="1500">
                <a:solidFill>
                  <a:srgbClr val="222831"/>
                </a:solidFill>
                <a:latin typeface="Calibri"/>
              </a:rPr>
              <a:t> para </a:t>
            </a:r>
            <a:r>
              <a:rPr b="0" sz="1500">
                <a:solidFill>
                  <a:srgbClr val="0E6E63"/>
                </a:solidFill>
                <a:latin typeface="Consolas"/>
              </a:rPr>
              <a:t>$readmemh</a:t>
            </a:r>
            <a:r>
              <a:rPr b="0" sz="1500">
                <a:solidFill>
                  <a:srgbClr val="222831"/>
                </a:solidFill>
                <a:latin typeface="Calibr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Especificación y decisiones propias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1 · Contexto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5</a:t>
            </a:r>
          </a:p>
        </p:txBody>
      </p:sp>
      <p:graphicFrame>
        <p:nvGraphicFramePr>
          <p:cNvPr id="6" name="Table 5"/>
          <p:cNvGraphicFramePr>
            <a:graphicFrameLocks noGrp="1"/>
          </p:cNvGraphicFramePr>
          <p:nvPr/>
        </p:nvGraphicFramePr>
        <p:xfrm>
          <a:off x="548640" y="1371600"/>
          <a:ext cx="6583680" cy="3657600"/>
        </p:xfrm>
        <a:graphic>
          <a:graphicData uri="http://schemas.openxmlformats.org/drawingml/2006/table">
            <a:tbl>
              <a:tblPr firstRow="1" bandRow="1">
                <a:tableStyleId>{5C22544A-7EE6-4342-B048-85BDC9FD1C3A}</a:tableStyleId>
              </a:tblPr>
              <a:tblGrid>
                <a:gridCol w="1645920"/>
                <a:gridCol w="3474720"/>
                <a:gridCol w="1463040"/>
              </a:tblGrid>
              <a:tr h="457200">
                <a:tc>
                  <a:txBody>
                    <a:bodyPr wrap="square"/>
                    <a:lstStyle/>
                    <a:p>
                      <a:r>
                        <a:rPr b="1" sz="1400">
                          <a:solidFill>
                            <a:srgbClr val="FFFFFF"/>
                          </a:solidFill>
                          <a:latin typeface="Calibri"/>
                        </a:rPr>
                        <a:t>Parámetro</a:t>
                      </a:r>
                    </a:p>
                  </a:txBody>
                  <a:tcPr marL="73152" marR="73152" marT="27432" marB="27432" anchor="ctr">
                    <a:solidFill>
                      <a:srgbClr val="1F3A5F"/>
                    </a:solidFill>
                  </a:tcPr>
                </a:tc>
                <a:tc>
                  <a:txBody>
                    <a:bodyPr wrap="square"/>
                    <a:lstStyle/>
                    <a:p>
                      <a:r>
                        <a:rPr b="1" sz="1400">
                          <a:solidFill>
                            <a:srgbClr val="FFFFFF"/>
                          </a:solidFill>
                          <a:latin typeface="Calibri"/>
                        </a:rPr>
                        <a:t>Valor</a:t>
                      </a:r>
                    </a:p>
                  </a:txBody>
                  <a:tcPr marL="73152" marR="73152" marT="27432" marB="27432" anchor="ctr">
                    <a:solidFill>
                      <a:srgbClr val="1F3A5F"/>
                    </a:solidFill>
                  </a:tcPr>
                </a:tc>
                <a:tc>
                  <a:txBody>
                    <a:bodyPr wrap="square"/>
                    <a:lstStyle/>
                    <a:p>
                      <a:r>
                        <a:rPr b="1" sz="1400">
                          <a:solidFill>
                            <a:srgbClr val="FFFFFF"/>
                          </a:solidFill>
                          <a:latin typeface="Calibri"/>
                        </a:rPr>
                        <a:t>Origen</a:t>
                      </a:r>
                    </a:p>
                  </a:txBody>
                  <a:tcPr marL="73152" marR="73152" marT="27432" marB="27432" anchor="ctr">
                    <a:solidFill>
                      <a:srgbClr val="1F3A5F"/>
                    </a:solidFill>
                  </a:tcPr>
                </a:tc>
              </a:tr>
              <a:tr h="457200">
                <a:tc>
                  <a:txBody>
                    <a:bodyPr wrap="square"/>
                    <a:lstStyle/>
                    <a:p>
                      <a:r>
                        <a:rPr b="0" sz="1400">
                          <a:solidFill>
                            <a:srgbClr val="222831"/>
                          </a:solidFill>
                          <a:latin typeface="Calibri"/>
                        </a:rPr>
                        <a:t>Símbolos</a:t>
                      </a:r>
                    </a:p>
                  </a:txBody>
                  <a:tcPr marL="73152" marR="73152" marT="27432" marB="27432" anchor="ctr">
                    <a:solidFill>
                      <a:srgbClr val="FFFFFF"/>
                    </a:solidFill>
                  </a:tcPr>
                </a:tc>
                <a:tc>
                  <a:txBody>
                    <a:bodyPr wrap="square"/>
                    <a:lstStyle/>
                    <a:p>
                      <a:r>
                        <a:rPr b="0" sz="1400">
                          <a:solidFill>
                            <a:srgbClr val="222831"/>
                          </a:solidFill>
                          <a:latin typeface="Calibri"/>
                        </a:rPr>
                        <a:t>QPSK: I, Q ∈ {+1, −1}</a:t>
                      </a:r>
                    </a:p>
                  </a:txBody>
                  <a:tcPr marL="73152" marR="73152" marT="27432" marB="27432" anchor="ctr">
                    <a:solidFill>
                      <a:srgbClr val="FFFFFF"/>
                    </a:solidFill>
                  </a:tcPr>
                </a:tc>
                <a:tc>
                  <a:txBody>
                    <a:bodyPr wrap="square"/>
                    <a:lstStyle/>
                    <a:p>
                      <a:r>
                        <a:rPr b="0" sz="1400">
                          <a:solidFill>
                            <a:srgbClr val="222831"/>
                          </a:solidFill>
                          <a:latin typeface="Calibri"/>
                        </a:rPr>
                        <a:t>consigna</a:t>
                      </a:r>
                    </a:p>
                  </a:txBody>
                  <a:tcPr marL="73152" marR="73152" marT="27432" marB="27432" anchor="ctr">
                    <a:solidFill>
                      <a:srgbClr val="FFFFFF"/>
                    </a:solidFill>
                  </a:tcPr>
                </a:tc>
              </a:tr>
              <a:tr h="457200">
                <a:tc>
                  <a:txBody>
                    <a:bodyPr wrap="square"/>
                    <a:lstStyle/>
                    <a:p>
                      <a:r>
                        <a:rPr b="0" sz="1400">
                          <a:solidFill>
                            <a:srgbClr val="222831"/>
                          </a:solidFill>
                          <a:latin typeface="Calibri"/>
                        </a:rPr>
                        <a:t>Filtro</a:t>
                      </a:r>
                    </a:p>
                  </a:txBody>
                  <a:tcPr marL="73152" marR="73152" marT="27432" marB="27432" anchor="ctr">
                    <a:solidFill>
                      <a:srgbClr val="F3F5F8"/>
                    </a:solidFill>
                  </a:tcPr>
                </a:tc>
                <a:tc>
                  <a:txBody>
                    <a:bodyPr wrap="square"/>
                    <a:lstStyle/>
                    <a:p>
                      <a:r>
                        <a:rPr b="0" sz="1400">
                          <a:solidFill>
                            <a:srgbClr val="222831"/>
                          </a:solidFill>
                          <a:latin typeface="Calibri"/>
                        </a:rPr>
                        <a:t>RRC, 8 taps, roll-off β = 0.5</a:t>
                      </a:r>
                    </a:p>
                  </a:txBody>
                  <a:tcPr marL="73152" marR="73152" marT="27432" marB="27432" anchor="ctr">
                    <a:solidFill>
                      <a:srgbClr val="F3F5F8"/>
                    </a:solidFill>
                  </a:tcPr>
                </a:tc>
                <a:tc>
                  <a:txBody>
                    <a:bodyPr wrap="square"/>
                    <a:lstStyle/>
                    <a:p>
                      <a:r>
                        <a:rPr b="0" sz="1400">
                          <a:solidFill>
                            <a:srgbClr val="222831"/>
                          </a:solidFill>
                          <a:latin typeface="Calibri"/>
                        </a:rPr>
                        <a:t>consigna</a:t>
                      </a:r>
                    </a:p>
                  </a:txBody>
                  <a:tcPr marL="73152" marR="73152" marT="27432" marB="27432" anchor="ctr">
                    <a:solidFill>
                      <a:srgbClr val="F3F5F8"/>
                    </a:solidFill>
                  </a:tcPr>
                </a:tc>
              </a:tr>
              <a:tr h="457200">
                <a:tc>
                  <a:txBody>
                    <a:bodyPr wrap="square"/>
                    <a:lstStyle/>
                    <a:p>
                      <a:r>
                        <a:rPr b="0" sz="1400">
                          <a:solidFill>
                            <a:srgbClr val="222831"/>
                          </a:solidFill>
                          <a:latin typeface="Calibri"/>
                        </a:rPr>
                        <a:t>Señal</a:t>
                      </a:r>
                    </a:p>
                  </a:txBody>
                  <a:tcPr marL="73152" marR="73152" marT="27432" marB="27432" anchor="ctr">
                    <a:solidFill>
                      <a:srgbClr val="FFFFFF"/>
                    </a:solidFill>
                  </a:tcPr>
                </a:tc>
                <a:tc>
                  <a:txBody>
                    <a:bodyPr wrap="square"/>
                    <a:lstStyle/>
                    <a:p>
                      <a:r>
                        <a:rPr b="0" sz="1400">
                          <a:solidFill>
                            <a:srgbClr val="222831"/>
                          </a:solidFill>
                          <a:latin typeface="Calibri"/>
                        </a:rPr>
                        <a:t>compleja (I + jQ), h real</a:t>
                      </a:r>
                    </a:p>
                  </a:txBody>
                  <a:tcPr marL="73152" marR="73152" marT="27432" marB="27432" anchor="ctr">
                    <a:solidFill>
                      <a:srgbClr val="FFFFFF"/>
                    </a:solidFill>
                  </a:tcPr>
                </a:tc>
                <a:tc>
                  <a:txBody>
                    <a:bodyPr wrap="square"/>
                    <a:lstStyle/>
                    <a:p>
                      <a:r>
                        <a:rPr b="0" sz="1400">
                          <a:solidFill>
                            <a:srgbClr val="222831"/>
                          </a:solidFill>
                          <a:latin typeface="Calibri"/>
                        </a:rPr>
                        <a:t>consigna</a:t>
                      </a:r>
                    </a:p>
                  </a:txBody>
                  <a:tcPr marL="73152" marR="73152" marT="27432" marB="27432" anchor="ctr">
                    <a:solidFill>
                      <a:srgbClr val="FFFFFF"/>
                    </a:solidFill>
                  </a:tcPr>
                </a:tc>
              </a:tr>
              <a:tr h="457200">
                <a:tc>
                  <a:txBody>
                    <a:bodyPr wrap="square"/>
                    <a:lstStyle/>
                    <a:p>
                      <a:r>
                        <a:rPr b="0" sz="1400">
                          <a:solidFill>
                            <a:srgbClr val="222831"/>
                          </a:solidFill>
                          <a:latin typeface="Calibri"/>
                        </a:rPr>
                        <a:t>Método</a:t>
                      </a:r>
                    </a:p>
                  </a:txBody>
                  <a:tcPr marL="73152" marR="73152" marT="27432" marB="27432" anchor="ctr">
                    <a:solidFill>
                      <a:srgbClr val="F3F5F8"/>
                    </a:solidFill>
                  </a:tcPr>
                </a:tc>
                <a:tc>
                  <a:txBody>
                    <a:bodyPr wrap="square"/>
                    <a:lstStyle/>
                    <a:p>
                      <a:r>
                        <a:rPr b="0" sz="1400">
                          <a:solidFill>
                            <a:srgbClr val="222831"/>
                          </a:solidFill>
                          <a:latin typeface="Calibri"/>
                        </a:rPr>
                        <a:t>por bloques, superposición 50 %</a:t>
                      </a:r>
                    </a:p>
                  </a:txBody>
                  <a:tcPr marL="73152" marR="73152" marT="27432" marB="27432" anchor="ctr">
                    <a:solidFill>
                      <a:srgbClr val="F3F5F8"/>
                    </a:solidFill>
                  </a:tcPr>
                </a:tc>
                <a:tc>
                  <a:txBody>
                    <a:bodyPr wrap="square"/>
                    <a:lstStyle/>
                    <a:p>
                      <a:r>
                        <a:rPr b="0" sz="1400">
                          <a:solidFill>
                            <a:srgbClr val="222831"/>
                          </a:solidFill>
                          <a:latin typeface="Calibri"/>
                        </a:rPr>
                        <a:t>consigna</a:t>
                      </a:r>
                    </a:p>
                  </a:txBody>
                  <a:tcPr marL="73152" marR="73152" marT="27432" marB="27432" anchor="ctr">
                    <a:solidFill>
                      <a:srgbClr val="F3F5F8"/>
                    </a:solidFill>
                  </a:tcPr>
                </a:tc>
              </a:tr>
              <a:tr h="457200">
                <a:tc>
                  <a:txBody>
                    <a:bodyPr wrap="square"/>
                    <a:lstStyle/>
                    <a:p>
                      <a:r>
                        <a:rPr b="0" sz="1400">
                          <a:solidFill>
                            <a:srgbClr val="222831"/>
                          </a:solidFill>
                          <a:latin typeface="Calibri"/>
                        </a:rPr>
                        <a:t>Sobremuestreo</a:t>
                      </a:r>
                    </a:p>
                  </a:txBody>
                  <a:tcPr marL="73152" marR="73152" marT="27432" marB="27432" anchor="ctr">
                    <a:solidFill>
                      <a:srgbClr val="FFFFFF"/>
                    </a:solidFill>
                  </a:tcPr>
                </a:tc>
                <a:tc>
                  <a:txBody>
                    <a:bodyPr wrap="square"/>
                    <a:lstStyle/>
                    <a:p>
                      <a:r>
                        <a:rPr b="0" sz="1400">
                          <a:solidFill>
                            <a:srgbClr val="222831"/>
                          </a:solidFill>
                          <a:latin typeface="Calibri"/>
                        </a:rPr>
                        <a:t>OS = 2 muestras/símbolo</a:t>
                      </a:r>
                    </a:p>
                  </a:txBody>
                  <a:tcPr marL="73152" marR="73152" marT="27432" marB="27432" anchor="ctr">
                    <a:solidFill>
                      <a:srgbClr val="FFFFFF"/>
                    </a:solidFill>
                  </a:tcPr>
                </a:tc>
                <a:tc>
                  <a:txBody>
                    <a:bodyPr wrap="square"/>
                    <a:lstStyle/>
                    <a:p>
                      <a:r>
                        <a:rPr b="0" sz="1400">
                          <a:solidFill>
                            <a:srgbClr val="222831"/>
                          </a:solidFill>
                          <a:latin typeface="Calibri"/>
                        </a:rPr>
                        <a:t>decisión</a:t>
                      </a:r>
                    </a:p>
                  </a:txBody>
                  <a:tcPr marL="73152" marR="73152" marT="27432" marB="27432" anchor="ctr">
                    <a:solidFill>
                      <a:srgbClr val="FFFFFF"/>
                    </a:solidFill>
                  </a:tcPr>
                </a:tc>
              </a:tr>
              <a:tr h="457200">
                <a:tc>
                  <a:txBody>
                    <a:bodyPr wrap="square"/>
                    <a:lstStyle/>
                    <a:p>
                      <a:r>
                        <a:rPr b="0" sz="1400">
                          <a:solidFill>
                            <a:srgbClr val="222831"/>
                          </a:solidFill>
                          <a:latin typeface="Calibri"/>
                        </a:rPr>
                        <a:t>Bloque / FFT</a:t>
                      </a:r>
                    </a:p>
                  </a:txBody>
                  <a:tcPr marL="73152" marR="73152" marT="27432" marB="27432" anchor="ctr">
                    <a:solidFill>
                      <a:srgbClr val="F3F5F8"/>
                    </a:solidFill>
                  </a:tcPr>
                </a:tc>
                <a:tc>
                  <a:txBody>
                    <a:bodyPr wrap="square"/>
                    <a:lstStyle/>
                    <a:p>
                      <a:r>
                        <a:rPr b="0" sz="1400">
                          <a:solidFill>
                            <a:srgbClr val="222831"/>
                          </a:solidFill>
                          <a:latin typeface="Calibri"/>
                        </a:rPr>
                        <a:t>N = 16, L = 8 nuevas por bloque</a:t>
                      </a:r>
                    </a:p>
                  </a:txBody>
                  <a:tcPr marL="73152" marR="73152" marT="27432" marB="27432" anchor="ctr">
                    <a:solidFill>
                      <a:srgbClr val="F3F5F8"/>
                    </a:solidFill>
                  </a:tcPr>
                </a:tc>
                <a:tc>
                  <a:txBody>
                    <a:bodyPr wrap="square"/>
                    <a:lstStyle/>
                    <a:p>
                      <a:r>
                        <a:rPr b="0" sz="1400">
                          <a:solidFill>
                            <a:srgbClr val="222831"/>
                          </a:solidFill>
                          <a:latin typeface="Calibri"/>
                        </a:rPr>
                        <a:t>derivado</a:t>
                      </a:r>
                    </a:p>
                  </a:txBody>
                  <a:tcPr marL="73152" marR="73152" marT="27432" marB="27432" anchor="ctr">
                    <a:solidFill>
                      <a:srgbClr val="F3F5F8"/>
                    </a:solidFill>
                  </a:tcPr>
                </a:tc>
              </a:tr>
              <a:tr h="457200">
                <a:tc>
                  <a:txBody>
                    <a:bodyPr wrap="square"/>
                    <a:lstStyle/>
                    <a:p>
                      <a:r>
                        <a:rPr b="0" sz="1400">
                          <a:solidFill>
                            <a:srgbClr val="222831"/>
                          </a:solidFill>
                          <a:latin typeface="Calibri"/>
                        </a:rPr>
                        <a:t>Golden</a:t>
                      </a:r>
                    </a:p>
                  </a:txBody>
                  <a:tcPr marL="73152" marR="73152" marT="27432" marB="27432" anchor="ctr">
                    <a:solidFill>
                      <a:srgbClr val="FFFFFF"/>
                    </a:solidFill>
                  </a:tcPr>
                </a:tc>
                <a:tc>
                  <a:txBody>
                    <a:bodyPr wrap="square"/>
                    <a:lstStyle/>
                    <a:p>
                      <a:r>
                        <a:rPr b="0" sz="1400">
                          <a:solidFill>
                            <a:srgbClr val="222831"/>
                          </a:solidFill>
                          <a:latin typeface="Calibri"/>
                        </a:rPr>
                        <a:t>Python + fxpmath, bit-exacto</a:t>
                      </a:r>
                    </a:p>
                  </a:txBody>
                  <a:tcPr marL="73152" marR="73152" marT="27432" marB="27432" anchor="ctr">
                    <a:solidFill>
                      <a:srgbClr val="FFFFFF"/>
                    </a:solidFill>
                  </a:tcPr>
                </a:tc>
                <a:tc>
                  <a:txBody>
                    <a:bodyPr wrap="square"/>
                    <a:lstStyle/>
                    <a:p>
                      <a:r>
                        <a:rPr b="0" sz="1400">
                          <a:solidFill>
                            <a:srgbClr val="222831"/>
                          </a:solidFill>
                          <a:latin typeface="Calibri"/>
                        </a:rPr>
                        <a:t>consigna</a:t>
                      </a:r>
                    </a:p>
                  </a:txBody>
                  <a:tcPr marL="73152" marR="73152" marT="27432" marB="27432" anchor="ctr">
                    <a:solidFill>
                      <a:srgbClr val="FFFFFF"/>
                    </a:solidFill>
                  </a:tcPr>
                </a:tc>
              </a:tr>
            </a:tbl>
          </a:graphicData>
        </a:graphic>
      </p:graphicFrame>
      <p:sp>
        <p:nvSpPr>
          <p:cNvPr id="7" name="Rectangle 6"/>
          <p:cNvSpPr/>
          <p:nvPr/>
        </p:nvSpPr>
        <p:spPr>
          <a:xfrm>
            <a:off x="7498079" y="1371600"/>
            <a:ext cx="4114800" cy="365760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79" y="1371600"/>
            <a:ext cx="64008" cy="36576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62671" y="1444752"/>
            <a:ext cx="3840480" cy="3520440"/>
          </a:xfrm>
          <a:prstGeom prst="rect">
            <a:avLst/>
          </a:prstGeom>
          <a:noFill/>
        </p:spPr>
        <p:txBody>
          <a:bodyPr wrap="square" lIns="45720" rIns="45720">
            <a:spAutoFit/>
          </a:bodyPr>
          <a:lstStyle/>
          <a:p>
            <a:pPr>
              <a:spcAft>
                <a:spcPts val="400"/>
              </a:spcAft>
            </a:pPr>
            <a:r>
              <a:rPr b="1" sz="1500">
                <a:solidFill>
                  <a:srgbClr val="1F3A5F"/>
                </a:solidFill>
                <a:latin typeface="Calibri"/>
              </a:rPr>
              <a:t>Decisiones propias</a:t>
            </a:r>
          </a:p>
          <a:p>
            <a:pPr>
              <a:spcAft>
                <a:spcPts val="400"/>
              </a:spcAft>
            </a:pPr>
            <a:r>
              <a:rPr b="1" sz="1500">
                <a:solidFill>
                  <a:srgbClr val="1F3A5F"/>
                </a:solidFill>
                <a:latin typeface="Calibri"/>
              </a:rPr>
              <a:t>OS = 2</a:t>
            </a:r>
            <a:r>
              <a:rPr b="0" sz="1500">
                <a:solidFill>
                  <a:srgbClr val="222831"/>
                </a:solidFill>
                <a:latin typeface="Calibri"/>
              </a:rPr>
              <a:t>: 8 taps = 4 símbolos de RRC. Con OS = 4 serían solo 2 símbolos → RRC muy truncado.</a:t>
            </a:r>
          </a:p>
          <a:p>
            <a:pPr>
              <a:spcAft>
                <a:spcPts val="400"/>
              </a:spcAft>
            </a:pPr>
            <a:r>
              <a:rPr b="1" sz="1500">
                <a:solidFill>
                  <a:srgbClr val="1F3A5F"/>
                </a:solidFill>
                <a:latin typeface="Calibri"/>
              </a:rPr>
              <a:t>max|H[k]| = 1</a:t>
            </a:r>
            <a:r>
              <a:rPr b="0" sz="1500">
                <a:solidFill>
                  <a:srgbClr val="222831"/>
                </a:solidFill>
                <a:latin typeface="Calibri"/>
              </a:rPr>
              <a:t>: el filtro no amplifica → cotas de bits simples.</a:t>
            </a:r>
          </a:p>
          <a:p>
            <a:pPr>
              <a:spcAft>
                <a:spcPts val="400"/>
              </a:spcAft>
            </a:pPr>
            <a:r>
              <a:rPr b="1" sz="1500">
                <a:solidFill>
                  <a:srgbClr val="1F3A5F"/>
                </a:solidFill>
                <a:latin typeface="Calibri"/>
              </a:rPr>
              <a:t>RRC simétrico</a:t>
            </a:r>
            <a:r>
              <a:rPr b="0" sz="1500">
                <a:solidFill>
                  <a:srgbClr val="222831"/>
                </a:solidFill>
                <a:latin typeface="Calibri"/>
              </a:rPr>
              <a:t> h[n] = h[7−n]: fase lineal, menos ISI, FIR plegable.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El sistema completo y dónde está el golden</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1 · Contexto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6</a:t>
            </a:r>
          </a:p>
        </p:txBody>
      </p:sp>
      <p:sp>
        <p:nvSpPr>
          <p:cNvPr id="6" name="Rounded Rectangle 5"/>
          <p:cNvSpPr/>
          <p:nvPr/>
        </p:nvSpPr>
        <p:spPr>
          <a:xfrm>
            <a:off x="457200" y="1600200"/>
            <a:ext cx="1463040" cy="822960"/>
          </a:xfrm>
          <a:prstGeom prst="roundRect">
            <a:avLst>
              <a:gd name="adj" fmla="val 12000"/>
            </a:avLst>
          </a:prstGeom>
          <a:solidFill>
            <a:srgbClr val="5F6B7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Bits</a:t>
            </a:r>
          </a:p>
          <a:p>
            <a:pPr algn="ctr"/>
            <a:r>
              <a:rPr b="0" sz="1200">
                <a:solidFill>
                  <a:srgbClr val="FFFFFF"/>
                </a:solidFill>
                <a:latin typeface="Calibri"/>
              </a:rPr>
              <a:t>I y Q</a:t>
            </a:r>
          </a:p>
        </p:txBody>
      </p:sp>
      <p:sp>
        <p:nvSpPr>
          <p:cNvPr id="7" name="Rounded Rectangle 6"/>
          <p:cNvSpPr/>
          <p:nvPr/>
        </p:nvSpPr>
        <p:spPr>
          <a:xfrm>
            <a:off x="2286000" y="1600200"/>
            <a:ext cx="1554480" cy="822960"/>
          </a:xfrm>
          <a:prstGeom prst="roundRect">
            <a:avLst>
              <a:gd name="adj" fmla="val 12000"/>
            </a:avLst>
          </a:prstGeom>
          <a:solidFill>
            <a:srgbClr val="5F6B7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Mapper QPSK</a:t>
            </a:r>
          </a:p>
          <a:p>
            <a:pPr algn="ctr"/>
            <a:r>
              <a:rPr b="0" sz="1200">
                <a:solidFill>
                  <a:srgbClr val="FFFFFF"/>
                </a:solidFill>
                <a:latin typeface="Calibri"/>
              </a:rPr>
              <a:t>±1 ± j</a:t>
            </a:r>
          </a:p>
        </p:txBody>
      </p:sp>
      <p:sp>
        <p:nvSpPr>
          <p:cNvPr id="8" name="Rounded Rectangle 7"/>
          <p:cNvSpPr/>
          <p:nvPr/>
        </p:nvSpPr>
        <p:spPr>
          <a:xfrm>
            <a:off x="4206240" y="1600200"/>
            <a:ext cx="1371600" cy="822960"/>
          </a:xfrm>
          <a:prstGeom prst="roundRect">
            <a:avLst>
              <a:gd name="adj" fmla="val 12000"/>
            </a:avLst>
          </a:prstGeom>
          <a:solidFill>
            <a:srgbClr val="5F6B7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 OS = 2</a:t>
            </a:r>
          </a:p>
          <a:p>
            <a:pPr algn="ctr"/>
            <a:r>
              <a:rPr b="0" sz="1200">
                <a:solidFill>
                  <a:srgbClr val="FFFFFF"/>
                </a:solidFill>
                <a:latin typeface="Calibri"/>
              </a:rPr>
              <a:t>inserta ceros</a:t>
            </a:r>
          </a:p>
        </p:txBody>
      </p:sp>
      <p:sp>
        <p:nvSpPr>
          <p:cNvPr id="9" name="Rounded Rectangle 8"/>
          <p:cNvSpPr/>
          <p:nvPr/>
        </p:nvSpPr>
        <p:spPr>
          <a:xfrm>
            <a:off x="6217920" y="1234440"/>
            <a:ext cx="2560320" cy="685800"/>
          </a:xfrm>
          <a:prstGeom prst="roundRect">
            <a:avLst>
              <a:gd name="adj" fmla="val 12000"/>
            </a:avLst>
          </a:prstGeom>
          <a:solidFill>
            <a:srgbClr val="B8C2CE"/>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222831"/>
                </a:solidFill>
                <a:latin typeface="Calibri"/>
              </a:rPr>
              <a:t>FIR en tiempo</a:t>
            </a:r>
          </a:p>
          <a:p>
            <a:pPr algn="ctr"/>
            <a:r>
              <a:rPr b="0" sz="1200">
                <a:solidFill>
                  <a:srgbClr val="222831"/>
                </a:solidFill>
                <a:latin typeface="Calibri"/>
              </a:rPr>
              <a:t>(pendiente)</a:t>
            </a:r>
          </a:p>
        </p:txBody>
      </p:sp>
      <p:sp>
        <p:nvSpPr>
          <p:cNvPr id="10" name="Rounded Rectangle 9"/>
          <p:cNvSpPr/>
          <p:nvPr/>
        </p:nvSpPr>
        <p:spPr>
          <a:xfrm>
            <a:off x="6217920" y="2148840"/>
            <a:ext cx="2560320" cy="68580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Filtro en frecuencia</a:t>
            </a:r>
          </a:p>
          <a:p>
            <a:pPr algn="ctr"/>
            <a:r>
              <a:rPr b="0" sz="1200">
                <a:solidFill>
                  <a:srgbClr val="FFFFFF"/>
                </a:solidFill>
                <a:latin typeface="Calibri"/>
              </a:rPr>
              <a:t>← este golden</a:t>
            </a:r>
          </a:p>
        </p:txBody>
      </p:sp>
      <p:sp>
        <p:nvSpPr>
          <p:cNvPr id="11" name="Rounded Rectangle 10"/>
          <p:cNvSpPr/>
          <p:nvPr/>
        </p:nvSpPr>
        <p:spPr>
          <a:xfrm>
            <a:off x="9326880" y="1600200"/>
            <a:ext cx="1188720" cy="822960"/>
          </a:xfrm>
          <a:prstGeom prst="roundRect">
            <a:avLst>
              <a:gd name="adj" fmla="val 12000"/>
            </a:avLst>
          </a:prstGeom>
          <a:solidFill>
            <a:srgbClr val="5F6B7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Compara</a:t>
            </a:r>
          </a:p>
        </p:txBody>
      </p:sp>
      <p:sp>
        <p:nvSpPr>
          <p:cNvPr id="12" name="Rounded Rectangle 11"/>
          <p:cNvSpPr/>
          <p:nvPr/>
        </p:nvSpPr>
        <p:spPr>
          <a:xfrm>
            <a:off x="10789920" y="1600200"/>
            <a:ext cx="1005840" cy="822960"/>
          </a:xfrm>
          <a:prstGeom prst="roundRect">
            <a:avLst>
              <a:gd name="adj" fmla="val 12000"/>
            </a:avLst>
          </a:prstGeom>
          <a:solidFill>
            <a:srgbClr val="5F6B7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UART</a:t>
            </a:r>
          </a:p>
        </p:txBody>
      </p:sp>
      <p:cxnSp>
        <p:nvCxnSpPr>
          <p:cNvPr id="13" name="Connector 12"/>
          <p:cNvCxnSpPr/>
          <p:nvPr/>
        </p:nvCxnSpPr>
        <p:spPr>
          <a:xfrm>
            <a:off x="1920240" y="2011680"/>
            <a:ext cx="36576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840480" y="2011680"/>
            <a:ext cx="36576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577840" y="1572768"/>
            <a:ext cx="640080" cy="438912"/>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577840" y="2011680"/>
            <a:ext cx="640080" cy="475488"/>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778240" y="1572768"/>
            <a:ext cx="548640" cy="347472"/>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778240" y="2103120"/>
            <a:ext cx="548640" cy="384048"/>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15600" y="2011680"/>
            <a:ext cx="27432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3246120"/>
            <a:ext cx="10972800" cy="365760"/>
          </a:xfrm>
          <a:prstGeom prst="rect">
            <a:avLst/>
          </a:prstGeom>
          <a:noFill/>
        </p:spPr>
        <p:txBody>
          <a:bodyPr wrap="square" lIns="45720" rIns="45720">
            <a:spAutoFit/>
          </a:bodyPr>
          <a:lstStyle/>
          <a:p>
            <a:pPr>
              <a:spcAft>
                <a:spcPts val="600"/>
              </a:spcAft>
            </a:pPr>
            <a:r>
              <a:rPr b="1" sz="1600">
                <a:solidFill>
                  <a:srgbClr val="1F3A5F"/>
                </a:solidFill>
                <a:latin typeface="Calibri"/>
              </a:rPr>
              <a:t>Detalle del filtro en frecuencia</a:t>
            </a:r>
            <a:r>
              <a:rPr b="0" sz="1600">
                <a:solidFill>
                  <a:srgbClr val="222831"/>
                </a:solidFill>
                <a:latin typeface="Calibri"/>
              </a:rPr>
              <a:t> (overlap-save, 50 %)</a:t>
            </a:r>
          </a:p>
        </p:txBody>
      </p:sp>
      <p:sp>
        <p:nvSpPr>
          <p:cNvPr id="21" name="Rounded Rectangle 20"/>
          <p:cNvSpPr/>
          <p:nvPr/>
        </p:nvSpPr>
        <p:spPr>
          <a:xfrm>
            <a:off x="457200" y="3794760"/>
            <a:ext cx="1600200" cy="91440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S/P + buffer</a:t>
            </a:r>
          </a:p>
          <a:p>
            <a:pPr algn="ctr"/>
            <a:r>
              <a:rPr b="0" sz="1200">
                <a:solidFill>
                  <a:srgbClr val="FFFFFF"/>
                </a:solidFill>
                <a:latin typeface="Calibri"/>
              </a:rPr>
              <a:t>8 viejas + 8 nuevas</a:t>
            </a:r>
          </a:p>
        </p:txBody>
      </p:sp>
      <p:cxnSp>
        <p:nvCxnSpPr>
          <p:cNvPr id="22" name="Connector 21"/>
          <p:cNvCxnSpPr/>
          <p:nvPr/>
        </p:nvCxnSpPr>
        <p:spPr>
          <a:xfrm>
            <a:off x="2057400" y="4251960"/>
            <a:ext cx="32004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377440" y="3794760"/>
            <a:ext cx="1600200" cy="91440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FFT 16</a:t>
            </a:r>
          </a:p>
          <a:p>
            <a:pPr algn="ctr"/>
            <a:r>
              <a:rPr b="0" sz="1200">
                <a:solidFill>
                  <a:srgbClr val="FFFFFF"/>
                </a:solidFill>
                <a:latin typeface="Calibri"/>
              </a:rPr>
              <a:t>4 etapas × 8 mariposas</a:t>
            </a:r>
          </a:p>
        </p:txBody>
      </p:sp>
      <p:cxnSp>
        <p:nvCxnSpPr>
          <p:cNvPr id="24" name="Connector 23"/>
          <p:cNvCxnSpPr/>
          <p:nvPr/>
        </p:nvCxnSpPr>
        <p:spPr>
          <a:xfrm>
            <a:off x="3977639" y="4251960"/>
            <a:ext cx="320041"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297680" y="3794760"/>
            <a:ext cx="1600200" cy="91440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 H[k]</a:t>
            </a:r>
          </a:p>
          <a:p>
            <a:pPr algn="ctr"/>
            <a:r>
              <a:rPr b="0" sz="1200">
                <a:solidFill>
                  <a:srgbClr val="FFFFFF"/>
                </a:solidFill>
                <a:latin typeface="Calibri"/>
              </a:rPr>
              <a:t>16 mult. complejos</a:t>
            </a:r>
          </a:p>
        </p:txBody>
      </p:sp>
      <p:cxnSp>
        <p:nvCxnSpPr>
          <p:cNvPr id="26" name="Connector 25"/>
          <p:cNvCxnSpPr/>
          <p:nvPr/>
        </p:nvCxnSpPr>
        <p:spPr>
          <a:xfrm>
            <a:off x="5897880" y="4251960"/>
            <a:ext cx="32004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217920" y="3794760"/>
            <a:ext cx="1600200" cy="91440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IFFT 16</a:t>
            </a:r>
          </a:p>
          <a:p>
            <a:pPr algn="ctr"/>
            <a:r>
              <a:rPr b="0" sz="1200">
                <a:solidFill>
                  <a:srgbClr val="FFFFFF"/>
                </a:solidFill>
                <a:latin typeface="Calibri"/>
              </a:rPr>
              <a:t>÷2 por etapa</a:t>
            </a:r>
          </a:p>
        </p:txBody>
      </p:sp>
      <p:cxnSp>
        <p:nvCxnSpPr>
          <p:cNvPr id="28" name="Connector 27"/>
          <p:cNvCxnSpPr/>
          <p:nvPr/>
        </p:nvCxnSpPr>
        <p:spPr>
          <a:xfrm>
            <a:off x="7818120" y="4251960"/>
            <a:ext cx="32004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138160" y="3794760"/>
            <a:ext cx="1600200" cy="91440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Descarte</a:t>
            </a:r>
          </a:p>
          <a:p>
            <a:pPr algn="ctr"/>
            <a:r>
              <a:rPr b="0" sz="1200">
                <a:solidFill>
                  <a:srgbClr val="FFFFFF"/>
                </a:solidFill>
                <a:latin typeface="Calibri"/>
              </a:rPr>
              <a:t>tira y_c[0..7]</a:t>
            </a:r>
          </a:p>
        </p:txBody>
      </p:sp>
      <p:cxnSp>
        <p:nvCxnSpPr>
          <p:cNvPr id="30" name="Connector 29"/>
          <p:cNvCxnSpPr/>
          <p:nvPr/>
        </p:nvCxnSpPr>
        <p:spPr>
          <a:xfrm>
            <a:off x="9738360" y="4251960"/>
            <a:ext cx="32004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058400" y="3794760"/>
            <a:ext cx="1600200" cy="91440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P/S</a:t>
            </a:r>
          </a:p>
          <a:p>
            <a:pPr algn="ctr"/>
            <a:r>
              <a:rPr b="0" sz="1200">
                <a:solidFill>
                  <a:srgbClr val="FFFFFF"/>
                </a:solidFill>
                <a:latin typeface="Calibri"/>
              </a:rPr>
              <a:t>saca y_c[8..15]</a:t>
            </a:r>
          </a:p>
        </p:txBody>
      </p:sp>
      <p:sp>
        <p:nvSpPr>
          <p:cNvPr id="32" name="Magnetic Disk 31"/>
          <p:cNvSpPr/>
          <p:nvPr/>
        </p:nvSpPr>
        <p:spPr>
          <a:xfrm>
            <a:off x="4297680" y="5257800"/>
            <a:ext cx="1600200" cy="640080"/>
          </a:xfrm>
          <a:prstGeom prst="flowChartMagneticDisk">
            <a:avLst/>
          </a:prstGeom>
          <a:solidFill>
            <a:srgbClr val="FCEEE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300">
                <a:solidFill>
                  <a:srgbClr val="222831"/>
                </a:solidFill>
                <a:latin typeface="Calibri"/>
              </a:rPr>
              <a:t>ROM H[k]</a:t>
            </a:r>
          </a:p>
        </p:txBody>
      </p:sp>
      <p:sp>
        <p:nvSpPr>
          <p:cNvPr id="33" name="Magnetic Disk 32"/>
          <p:cNvSpPr/>
          <p:nvPr/>
        </p:nvSpPr>
        <p:spPr>
          <a:xfrm>
            <a:off x="2377440" y="5257800"/>
            <a:ext cx="1600200" cy="640080"/>
          </a:xfrm>
          <a:prstGeom prst="flowChartMagneticDisk">
            <a:avLst/>
          </a:prstGeom>
          <a:solidFill>
            <a:srgbClr val="FCEEE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300">
                <a:solidFill>
                  <a:srgbClr val="222831"/>
                </a:solidFill>
                <a:latin typeface="Calibri"/>
              </a:rPr>
              <a:t>ROM twiddles</a:t>
            </a:r>
          </a:p>
        </p:txBody>
      </p:sp>
      <p:cxnSp>
        <p:nvCxnSpPr>
          <p:cNvPr id="34" name="Connector 33"/>
          <p:cNvCxnSpPr/>
          <p:nvPr/>
        </p:nvCxnSpPr>
        <p:spPr>
          <a:xfrm flipV="1">
            <a:off x="5093208" y="4709160"/>
            <a:ext cx="0" cy="548640"/>
          </a:xfrm>
          <a:prstGeom prst="line">
            <a:avLst/>
          </a:prstGeom>
          <a:ln w="22225">
            <a:solidFill>
              <a:srgbClr val="E07A1F"/>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172968" y="4709160"/>
            <a:ext cx="0" cy="548640"/>
          </a:xfrm>
          <a:prstGeom prst="line">
            <a:avLst/>
          </a:prstGeom>
          <a:ln w="22225">
            <a:solidFill>
              <a:srgbClr val="E07A1F"/>
            </a:solidFill>
            <a:prstDash val="dash"/>
            <a:tailEnd type="triangle" w="med" h="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977639" y="4709160"/>
            <a:ext cx="2697481" cy="868680"/>
          </a:xfrm>
          <a:prstGeom prst="line">
            <a:avLst/>
          </a:prstGeom>
          <a:ln w="22225">
            <a:solidFill>
              <a:srgbClr val="E07A1F"/>
            </a:solidFill>
            <a:prstDash val="dash"/>
            <a:tailEnd type="triangle" w="med" h="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315200" y="5166360"/>
            <a:ext cx="4389120" cy="914400"/>
          </a:xfrm>
          <a:prstGeom prst="rect">
            <a:avLst/>
          </a:prstGeom>
          <a:noFill/>
        </p:spPr>
        <p:txBody>
          <a:bodyPr wrap="square" lIns="45720" rIns="45720">
            <a:spAutoFit/>
          </a:bodyPr>
          <a:lstStyle/>
          <a:p>
            <a:pPr>
              <a:spcAft>
                <a:spcPts val="600"/>
              </a:spcAft>
            </a:pPr>
            <a:r>
              <a:rPr b="0" sz="1300">
                <a:solidFill>
                  <a:srgbClr val="5F6B7A"/>
                </a:solidFill>
                <a:latin typeface="Calibri"/>
              </a:rPr>
              <a:t>Las ROMs las genera Python: </a:t>
            </a:r>
            <a:r>
              <a:rPr b="0" sz="1300">
                <a:solidFill>
                  <a:srgbClr val="0E6E63"/>
                </a:solidFill>
                <a:latin typeface="Consolas"/>
              </a:rPr>
              <a:t>vectors/rom/H.hex</a:t>
            </a:r>
            <a:r>
              <a:rPr b="0" sz="1300">
                <a:solidFill>
                  <a:srgbClr val="5F6B7A"/>
                </a:solidFill>
                <a:latin typeface="Calibri"/>
              </a:rPr>
              <a:t> y </a:t>
            </a:r>
            <a:r>
              <a:rPr b="0" sz="1300">
                <a:solidFill>
                  <a:srgbClr val="0E6E63"/>
                </a:solidFill>
                <a:latin typeface="Consolas"/>
              </a:rPr>
              <a:t>twiddle.hex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Mapa del código (carpeta python_math/)</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1 · Contexto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7</a:t>
            </a:r>
          </a:p>
        </p:txBody>
      </p:sp>
      <p:sp>
        <p:nvSpPr>
          <p:cNvPr id="6" name="Rounded Rectangle 5"/>
          <p:cNvSpPr/>
          <p:nvPr/>
        </p:nvSpPr>
        <p:spPr>
          <a:xfrm>
            <a:off x="548640" y="4892040"/>
            <a:ext cx="2286000" cy="10515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fxp_utils.py</a:t>
            </a:r>
          </a:p>
          <a:p>
            <a:pPr algn="ctr"/>
            <a:r>
              <a:rPr b="0" sz="1300">
                <a:solidFill>
                  <a:srgbClr val="FFFFFF"/>
                </a:solidFill>
                <a:latin typeface="Calibri"/>
              </a:rPr>
              <a:t>Fmt, quantize, requant</a:t>
            </a:r>
          </a:p>
          <a:p>
            <a:pPr algn="ctr"/>
            <a:r>
              <a:rPr b="0" sz="1300">
                <a:solidFill>
                  <a:srgbClr val="FFFFFF"/>
                </a:solidFill>
                <a:latin typeface="Calibri"/>
              </a:rPr>
              <a:t>sobre fxpmath</a:t>
            </a:r>
          </a:p>
        </p:txBody>
      </p:sp>
      <p:sp>
        <p:nvSpPr>
          <p:cNvPr id="7" name="Rounded Rectangle 6"/>
          <p:cNvSpPr/>
          <p:nvPr/>
        </p:nvSpPr>
        <p:spPr>
          <a:xfrm>
            <a:off x="548640" y="3291840"/>
            <a:ext cx="2286000" cy="10515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config.py</a:t>
            </a:r>
          </a:p>
          <a:p>
            <a:pPr algn="ctr"/>
            <a:r>
              <a:rPr b="0" sz="1300">
                <a:solidFill>
                  <a:srgbClr val="FFFFFF"/>
                </a:solidFill>
                <a:latin typeface="Calibri"/>
              </a:rPr>
              <a:t>parámetros + formatos</a:t>
            </a:r>
          </a:p>
          <a:p>
            <a:pPr algn="ctr"/>
            <a:r>
              <a:rPr b="0" sz="1300">
                <a:solidFill>
                  <a:srgbClr val="FFFFFF"/>
                </a:solidFill>
                <a:latin typeface="Calibri"/>
              </a:rPr>
              <a:t>make_cfg()</a:t>
            </a:r>
          </a:p>
        </p:txBody>
      </p:sp>
      <p:sp>
        <p:nvSpPr>
          <p:cNvPr id="8" name="Rounded Rectangle 7"/>
          <p:cNvSpPr/>
          <p:nvPr/>
        </p:nvSpPr>
        <p:spPr>
          <a:xfrm>
            <a:off x="3291840" y="3291840"/>
            <a:ext cx="2286000" cy="10515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fft_fxp.py</a:t>
            </a:r>
          </a:p>
          <a:p>
            <a:pPr algn="ctr"/>
            <a:r>
              <a:rPr b="0" sz="1300">
                <a:solidFill>
                  <a:srgbClr val="FFFFFF"/>
                </a:solidFill>
                <a:latin typeface="Calibri"/>
              </a:rPr>
              <a:t>FFT/IFFT radix-2</a:t>
            </a:r>
          </a:p>
          <a:p>
            <a:pPr algn="ctr"/>
            <a:r>
              <a:rPr b="0" sz="1300">
                <a:solidFill>
                  <a:srgbClr val="FFFFFF"/>
                </a:solidFill>
                <a:latin typeface="Calibri"/>
              </a:rPr>
              <a:t>bit-exacta</a:t>
            </a:r>
          </a:p>
        </p:txBody>
      </p:sp>
      <p:sp>
        <p:nvSpPr>
          <p:cNvPr id="9" name="Rounded Rectangle 8"/>
          <p:cNvSpPr/>
          <p:nvPr/>
        </p:nvSpPr>
        <p:spPr>
          <a:xfrm>
            <a:off x="6035040" y="3291840"/>
            <a:ext cx="2286000" cy="1051560"/>
          </a:xfrm>
          <a:prstGeom prst="roundRect">
            <a:avLst>
              <a:gd name="adj" fmla="val 12000"/>
            </a:avLst>
          </a:prstGeom>
          <a:solidFill>
            <a:srgbClr val="5F6B7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signals.py</a:t>
            </a:r>
          </a:p>
          <a:p>
            <a:pPr algn="ctr"/>
            <a:r>
              <a:rPr b="0" sz="1300">
                <a:solidFill>
                  <a:srgbClr val="FFFFFF"/>
                </a:solidFill>
                <a:latin typeface="Calibri"/>
              </a:rPr>
              <a:t>RRC, QPSK, ↑OS,</a:t>
            </a:r>
          </a:p>
          <a:p>
            <a:pPr algn="ctr"/>
            <a:r>
              <a:rPr b="0" sz="1300">
                <a:solidFill>
                  <a:srgbClr val="FFFFFF"/>
                </a:solidFill>
                <a:latin typeface="Calibri"/>
              </a:rPr>
              <a:t>datasets</a:t>
            </a:r>
          </a:p>
        </p:txBody>
      </p:sp>
      <p:sp>
        <p:nvSpPr>
          <p:cNvPr id="10" name="Rounded Rectangle 9"/>
          <p:cNvSpPr/>
          <p:nvPr/>
        </p:nvSpPr>
        <p:spPr>
          <a:xfrm>
            <a:off x="3291840" y="1691640"/>
            <a:ext cx="2286000" cy="105156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freq_filter.py</a:t>
            </a:r>
          </a:p>
          <a:p>
            <a:pPr algn="ctr"/>
            <a:r>
              <a:rPr b="0" sz="1300">
                <a:solidFill>
                  <a:srgbClr val="FFFFFF"/>
                </a:solidFill>
                <a:latin typeface="Calibri"/>
              </a:rPr>
              <a:t>ols_float()</a:t>
            </a:r>
          </a:p>
          <a:p>
            <a:pPr algn="ctr"/>
            <a:r>
              <a:rPr b="0" sz="1300">
                <a:solidFill>
                  <a:srgbClr val="FFFFFF"/>
                </a:solidFill>
                <a:latin typeface="Calibri"/>
              </a:rPr>
              <a:t>FreqFilterFxp</a:t>
            </a:r>
          </a:p>
        </p:txBody>
      </p:sp>
      <p:sp>
        <p:nvSpPr>
          <p:cNvPr id="11" name="Rounded Rectangle 10"/>
          <p:cNvSpPr/>
          <p:nvPr/>
        </p:nvSpPr>
        <p:spPr>
          <a:xfrm>
            <a:off x="548640" y="1691640"/>
            <a:ext cx="2286000" cy="1051560"/>
          </a:xfrm>
          <a:prstGeom prst="roundRect">
            <a:avLst>
              <a:gd name="adj" fmla="val 12000"/>
            </a:avLst>
          </a:prstGeom>
          <a:solidFill>
            <a:srgbClr val="5F6B7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test_math.py</a:t>
            </a:r>
          </a:p>
          <a:p>
            <a:pPr algn="ctr"/>
            <a:r>
              <a:rPr b="0" sz="1300">
                <a:solidFill>
                  <a:srgbClr val="FFFFFF"/>
                </a:solidFill>
                <a:latin typeface="Calibri"/>
              </a:rPr>
              <a:t>6 tests + bit a bit</a:t>
            </a:r>
          </a:p>
          <a:p>
            <a:pPr algn="ctr"/>
            <a:r>
              <a:rPr b="0" sz="1300">
                <a:solidFill>
                  <a:srgbClr val="FFFFFF"/>
                </a:solidFill>
                <a:latin typeface="Calibri"/>
              </a:rPr>
              <a:t>contra vectors/</a:t>
            </a:r>
          </a:p>
        </p:txBody>
      </p:sp>
      <p:sp>
        <p:nvSpPr>
          <p:cNvPr id="12" name="Rounded Rectangle 11"/>
          <p:cNvSpPr/>
          <p:nvPr/>
        </p:nvSpPr>
        <p:spPr>
          <a:xfrm>
            <a:off x="6035040" y="1691640"/>
            <a:ext cx="2286000" cy="1051560"/>
          </a:xfrm>
          <a:prstGeom prst="roundRect">
            <a:avLst>
              <a:gd name="adj" fmla="val 12000"/>
            </a:avLst>
          </a:prstGeom>
          <a:solidFill>
            <a:srgbClr val="5F6B7A"/>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run_math.py</a:t>
            </a:r>
          </a:p>
          <a:p>
            <a:pPr algn="ctr"/>
            <a:r>
              <a:rPr b="0" sz="1300">
                <a:solidFill>
                  <a:srgbClr val="FFFFFF"/>
                </a:solidFill>
                <a:latin typeface="Calibri"/>
              </a:rPr>
              <a:t>métricas, gráficos,</a:t>
            </a:r>
          </a:p>
          <a:p>
            <a:pPr algn="ctr"/>
            <a:r>
              <a:rPr b="0" sz="1300">
                <a:solidFill>
                  <a:srgbClr val="FFFFFF"/>
                </a:solidFill>
                <a:latin typeface="Calibri"/>
              </a:rPr>
              <a:t>vectores, reporte</a:t>
            </a:r>
          </a:p>
        </p:txBody>
      </p:sp>
      <p:cxnSp>
        <p:nvCxnSpPr>
          <p:cNvPr id="13" name="Connector 12"/>
          <p:cNvCxnSpPr/>
          <p:nvPr/>
        </p:nvCxnSpPr>
        <p:spPr>
          <a:xfrm>
            <a:off x="1691640" y="4343400"/>
            <a:ext cx="0" cy="54864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377440" y="4343400"/>
            <a:ext cx="2057400" cy="54864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434840" y="2743200"/>
            <a:ext cx="0" cy="54864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691640" y="2743200"/>
            <a:ext cx="1965960" cy="54864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5212080" y="2743200"/>
            <a:ext cx="1965960" cy="54864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834640" y="2212848"/>
            <a:ext cx="45720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577840" y="2212848"/>
            <a:ext cx="45720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686800" y="1691640"/>
            <a:ext cx="3017520" cy="425196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0" y="1691640"/>
            <a:ext cx="64008" cy="425196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51392" y="1764792"/>
            <a:ext cx="2743200" cy="4114800"/>
          </a:xfrm>
          <a:prstGeom prst="rect">
            <a:avLst/>
          </a:prstGeom>
          <a:noFill/>
        </p:spPr>
        <p:txBody>
          <a:bodyPr wrap="square" lIns="45720" rIns="45720">
            <a:spAutoFit/>
          </a:bodyPr>
          <a:lstStyle/>
          <a:p>
            <a:pPr>
              <a:spcAft>
                <a:spcPts val="400"/>
              </a:spcAft>
            </a:pPr>
            <a:r>
              <a:rPr b="1" sz="1300">
                <a:solidFill>
                  <a:srgbClr val="1F3A5F"/>
                </a:solidFill>
                <a:latin typeface="Calibri"/>
              </a:rPr>
              <a:t>Orden de lectura</a:t>
            </a:r>
          </a:p>
          <a:p>
            <a:pPr>
              <a:spcAft>
                <a:spcPts val="400"/>
              </a:spcAft>
            </a:pPr>
            <a:r>
              <a:rPr b="0" sz="1300">
                <a:solidFill>
                  <a:srgbClr val="222831"/>
                </a:solidFill>
                <a:latin typeface="Calibri"/>
              </a:rPr>
              <a:t>1. </a:t>
            </a:r>
            <a:r>
              <a:rPr b="0" sz="1300">
                <a:solidFill>
                  <a:srgbClr val="0E6E63"/>
                </a:solidFill>
                <a:latin typeface="Consolas"/>
              </a:rPr>
              <a:t>config.py</a:t>
            </a:r>
            <a:r>
              <a:rPr b="0" sz="1300">
                <a:solidFill>
                  <a:srgbClr val="222831"/>
                </a:solidFill>
                <a:latin typeface="Calibri"/>
              </a:rPr>
              <a:t> (parámetros)</a:t>
            </a:r>
          </a:p>
          <a:p>
            <a:pPr>
              <a:spcAft>
                <a:spcPts val="400"/>
              </a:spcAft>
            </a:pPr>
            <a:r>
              <a:rPr b="0" sz="1300">
                <a:solidFill>
                  <a:srgbClr val="222831"/>
                </a:solidFill>
                <a:latin typeface="Calibri"/>
              </a:rPr>
              <a:t>2. </a:t>
            </a:r>
            <a:r>
              <a:rPr b="0" sz="1300">
                <a:solidFill>
                  <a:srgbClr val="0E6E63"/>
                </a:solidFill>
                <a:latin typeface="Consolas"/>
              </a:rPr>
              <a:t>signals.py</a:t>
            </a:r>
          </a:p>
          <a:p>
            <a:pPr>
              <a:spcAft>
                <a:spcPts val="400"/>
              </a:spcAft>
            </a:pPr>
            <a:r>
              <a:rPr b="0" sz="1300">
                <a:solidFill>
                  <a:srgbClr val="222831"/>
                </a:solidFill>
                <a:latin typeface="Calibri"/>
              </a:rPr>
              <a:t>3. </a:t>
            </a:r>
            <a:r>
              <a:rPr b="0" sz="1300">
                <a:solidFill>
                  <a:srgbClr val="0E6E63"/>
                </a:solidFill>
                <a:latin typeface="Consolas"/>
              </a:rPr>
              <a:t>freq_filter.py</a:t>
            </a:r>
            <a:r>
              <a:rPr b="0" sz="1300">
                <a:solidFill>
                  <a:srgbClr val="222831"/>
                </a:solidFill>
                <a:latin typeface="Calibri"/>
              </a:rPr>
              <a:t> → </a:t>
            </a:r>
            <a:r>
              <a:rPr b="1" sz="1300">
                <a:solidFill>
                  <a:srgbClr val="1F3A5F"/>
                </a:solidFill>
                <a:latin typeface="Calibri"/>
              </a:rPr>
              <a:t>ols_float</a:t>
            </a:r>
            <a:r>
              <a:rPr b="0" sz="1300">
                <a:solidFill>
                  <a:srgbClr val="222831"/>
                </a:solidFill>
                <a:latin typeface="Calibri"/>
              </a:rPr>
              <a:t> primero</a:t>
            </a:r>
          </a:p>
          <a:p>
            <a:pPr>
              <a:spcAft>
                <a:spcPts val="400"/>
              </a:spcAft>
            </a:pPr>
            <a:r>
              <a:rPr b="0" sz="1300">
                <a:solidFill>
                  <a:srgbClr val="222831"/>
                </a:solidFill>
                <a:latin typeface="Calibri"/>
              </a:rPr>
              <a:t>4. </a:t>
            </a:r>
            <a:r>
              <a:rPr b="0" sz="1300">
                <a:solidFill>
                  <a:srgbClr val="0E6E63"/>
                </a:solidFill>
                <a:latin typeface="Consolas"/>
              </a:rPr>
              <a:t>fxp_utils.py</a:t>
            </a:r>
            <a:r>
              <a:rPr b="0" sz="1300">
                <a:solidFill>
                  <a:srgbClr val="222831"/>
                </a:solidFill>
                <a:latin typeface="Calibri"/>
              </a:rPr>
              <a:t> → </a:t>
            </a:r>
            <a:r>
              <a:rPr b="1" sz="1300">
                <a:solidFill>
                  <a:srgbClr val="1F3A5F"/>
                </a:solidFill>
                <a:latin typeface="Calibri"/>
              </a:rPr>
              <a:t>requant</a:t>
            </a:r>
          </a:p>
          <a:p>
            <a:pPr>
              <a:spcAft>
                <a:spcPts val="400"/>
              </a:spcAft>
            </a:pPr>
            <a:r>
              <a:rPr b="0" sz="1300">
                <a:solidFill>
                  <a:srgbClr val="222831"/>
                </a:solidFill>
                <a:latin typeface="Calibri"/>
              </a:rPr>
              <a:t>5. </a:t>
            </a:r>
            <a:r>
              <a:rPr b="0" sz="1300">
                <a:solidFill>
                  <a:srgbClr val="0E6E63"/>
                </a:solidFill>
                <a:latin typeface="Consolas"/>
              </a:rPr>
              <a:t>fft_fxp.py</a:t>
            </a:r>
          </a:p>
          <a:p>
            <a:pPr>
              <a:spcAft>
                <a:spcPts val="400"/>
              </a:spcAft>
            </a:pPr>
            <a:r>
              <a:rPr b="0" sz="1300">
                <a:solidFill>
                  <a:srgbClr val="222831"/>
                </a:solidFill>
                <a:latin typeface="Calibri"/>
              </a:rPr>
              <a:t>6. </a:t>
            </a:r>
            <a:r>
              <a:rPr b="0" sz="1300">
                <a:solidFill>
                  <a:srgbClr val="0E6E63"/>
                </a:solidFill>
                <a:latin typeface="Consolas"/>
              </a:rPr>
              <a:t>config.make_cfg()</a:t>
            </a:r>
          </a:p>
          <a:p>
            <a:pPr>
              <a:spcAft>
                <a:spcPts val="400"/>
              </a:spcAft>
            </a:pPr>
            <a:r>
              <a:rPr b="0" sz="1300">
                <a:solidFill>
                  <a:srgbClr val="222831"/>
                </a:solidFill>
                <a:latin typeface="Calibri"/>
              </a:rPr>
              <a:t>7. </a:t>
            </a:r>
            <a:r>
              <a:rPr b="0" sz="1300">
                <a:solidFill>
                  <a:srgbClr val="0E6E63"/>
                </a:solidFill>
                <a:latin typeface="Consolas"/>
              </a:rPr>
              <a:t>test_math.py</a:t>
            </a:r>
          </a:p>
          <a:p>
            <a:pPr>
              <a:spcAft>
                <a:spcPts val="400"/>
              </a:spcAft>
            </a:pPr>
            <a:r>
              <a:rPr b="0" sz="1300">
                <a:solidFill>
                  <a:srgbClr val="222831"/>
                </a:solidFill>
                <a:latin typeface="Calibri"/>
              </a:rPr>
              <a:t>8. </a:t>
            </a:r>
            <a:r>
              <a:rPr b="0" sz="1300">
                <a:solidFill>
                  <a:srgbClr val="0E6E63"/>
                </a:solidFill>
                <a:latin typeface="Consolas"/>
              </a:rPr>
              <a:t>run_math.py</a:t>
            </a:r>
            <a:r>
              <a:rPr b="0" sz="1300">
                <a:solidFill>
                  <a:srgbClr val="222831"/>
                </a:solidFill>
                <a:latin typeface="Calibri"/>
              </a:rPr>
              <a:t> (por encima)</a:t>
            </a:r>
          </a:p>
          <a:p>
            <a:pPr>
              <a:spcAft>
                <a:spcPts val="400"/>
              </a:spcAft>
            </a:pPr>
          </a:p>
          <a:p>
            <a:pPr>
              <a:spcAft>
                <a:spcPts val="400"/>
              </a:spcAft>
            </a:pPr>
            <a:r>
              <a:rPr b="0" sz="1300">
                <a:solidFill>
                  <a:srgbClr val="222831"/>
                </a:solidFill>
                <a:latin typeface="Calibri"/>
              </a:rPr>
              <a:t>Correr (en python_math/):</a:t>
            </a:r>
          </a:p>
          <a:p>
            <a:pPr>
              <a:spcAft>
                <a:spcPts val="400"/>
              </a:spcAft>
            </a:pPr>
            <a:r>
              <a:rPr b="0" sz="1300">
                <a:solidFill>
                  <a:srgbClr val="0E6E63"/>
                </a:solidFill>
                <a:latin typeface="Consolas"/>
              </a:rPr>
              <a:t>python3 run_math.py</a:t>
            </a:r>
          </a:p>
        </p:txBody>
      </p:sp>
      <p:sp>
        <p:nvSpPr>
          <p:cNvPr id="23" name="TextBox 22"/>
          <p:cNvSpPr txBox="1"/>
          <p:nvPr/>
        </p:nvSpPr>
        <p:spPr>
          <a:xfrm>
            <a:off x="548640" y="5989320"/>
            <a:ext cx="7772400" cy="365760"/>
          </a:xfrm>
          <a:prstGeom prst="rect">
            <a:avLst/>
          </a:prstGeom>
          <a:noFill/>
        </p:spPr>
        <p:txBody>
          <a:bodyPr wrap="square" lIns="45720" rIns="45720">
            <a:spAutoFit/>
          </a:bodyPr>
          <a:lstStyle/>
          <a:p>
            <a:pPr>
              <a:spcAft>
                <a:spcPts val="600"/>
              </a:spcAft>
            </a:pPr>
            <a:r>
              <a:rPr b="0" sz="1200">
                <a:solidFill>
                  <a:srgbClr val="5F6B7A"/>
                </a:solidFill>
                <a:latin typeface="Calibri"/>
              </a:rPr>
              <a:t>Flecha A → B: A usa a 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822960" y="2103120"/>
            <a:ext cx="10515600" cy="914400"/>
          </a:xfrm>
          <a:prstGeom prst="rect">
            <a:avLst/>
          </a:prstGeom>
          <a:noFill/>
        </p:spPr>
        <p:txBody>
          <a:bodyPr wrap="square" lIns="45720" rIns="45720">
            <a:spAutoFit/>
          </a:bodyPr>
          <a:lstStyle/>
          <a:p>
            <a:pPr>
              <a:spcAft>
                <a:spcPts val="600"/>
              </a:spcAft>
            </a:pPr>
            <a:r>
              <a:rPr b="0" sz="5400">
                <a:solidFill>
                  <a:srgbClr val="1A9E8F"/>
                </a:solidFill>
                <a:latin typeface="Calibri"/>
              </a:rPr>
              <a:t>2</a:t>
            </a:r>
          </a:p>
        </p:txBody>
      </p:sp>
      <p:sp>
        <p:nvSpPr>
          <p:cNvPr id="3" name="TextBox 2"/>
          <p:cNvSpPr txBox="1"/>
          <p:nvPr/>
        </p:nvSpPr>
        <p:spPr>
          <a:xfrm>
            <a:off x="822960" y="3017520"/>
            <a:ext cx="10515600" cy="914400"/>
          </a:xfrm>
          <a:prstGeom prst="rect">
            <a:avLst/>
          </a:prstGeom>
          <a:noFill/>
        </p:spPr>
        <p:txBody>
          <a:bodyPr wrap="square" lIns="45720" rIns="45720">
            <a:spAutoFit/>
          </a:bodyPr>
          <a:lstStyle/>
          <a:p>
            <a:pPr>
              <a:spcAft>
                <a:spcPts val="600"/>
              </a:spcAft>
            </a:pPr>
            <a:r>
              <a:rPr b="0" sz="4000">
                <a:solidFill>
                  <a:srgbClr val="FFFFFF"/>
                </a:solidFill>
                <a:latin typeface="Calibri"/>
              </a:rPr>
              <a:t>El filtro RRC</a:t>
            </a:r>
          </a:p>
        </p:txBody>
      </p:sp>
      <p:sp>
        <p:nvSpPr>
          <p:cNvPr id="4" name="TextBox 3"/>
          <p:cNvSpPr txBox="1"/>
          <p:nvPr/>
        </p:nvSpPr>
        <p:spPr>
          <a:xfrm>
            <a:off x="822960" y="3931920"/>
            <a:ext cx="10515600" cy="914400"/>
          </a:xfrm>
          <a:prstGeom prst="rect">
            <a:avLst/>
          </a:prstGeom>
          <a:noFill/>
        </p:spPr>
        <p:txBody>
          <a:bodyPr wrap="square" lIns="45720" rIns="45720">
            <a:spAutoFit/>
          </a:bodyPr>
          <a:lstStyle/>
          <a:p>
            <a:pPr>
              <a:spcAft>
                <a:spcPts val="600"/>
              </a:spcAft>
            </a:pPr>
            <a:r>
              <a:rPr b="0" sz="2000">
                <a:solidFill>
                  <a:srgbClr val="C8D3E0"/>
                </a:solidFill>
                <a:latin typeface="Calibri"/>
              </a:rPr>
              <a:t>Por qué conformar pulsos y por qué la "raíz" del coseno realzado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¿Para qué sirve un filtro de conformación de pulsos?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2 · El filtro RRC</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9</a:t>
            </a:r>
          </a:p>
        </p:txBody>
      </p:sp>
      <p:sp>
        <p:nvSpPr>
          <p:cNvPr id="6" name="TextBox 5"/>
          <p:cNvSpPr txBox="1"/>
          <p:nvPr/>
        </p:nvSpPr>
        <p:spPr>
          <a:xfrm>
            <a:off x="548640" y="1280160"/>
            <a:ext cx="11155680" cy="1828800"/>
          </a:xfrm>
          <a:prstGeom prst="rect">
            <a:avLst/>
          </a:prstGeom>
          <a:noFill/>
        </p:spPr>
        <p:txBody>
          <a:bodyPr wrap="square" lIns="45720" rIns="45720">
            <a:spAutoFit/>
          </a:bodyPr>
          <a:lstStyle/>
          <a:p>
            <a:pPr marL="256032" indent="-219456">
              <a:spcAft>
                <a:spcPts val="600"/>
              </a:spcAft>
              <a:buFont typeface="Arial"/>
              <a:buChar char="•"/>
            </a:pPr>
            <a:r>
              <a:rPr b="0" sz="1700">
                <a:solidFill>
                  <a:srgbClr val="222831"/>
                </a:solidFill>
                <a:latin typeface="Calibri"/>
              </a:rPr>
              <a:t>Los símbolos son "impulsos" → espectro infinito. Hay que </a:t>
            </a:r>
            <a:r>
              <a:rPr b="1" sz="1700">
                <a:solidFill>
                  <a:srgbClr val="1F3A5F"/>
                </a:solidFill>
                <a:latin typeface="Calibri"/>
              </a:rPr>
              <a:t>limitar el ancho de banda</a:t>
            </a:r>
            <a:r>
              <a:rPr b="0" sz="1700">
                <a:solidFill>
                  <a:srgbClr val="222831"/>
                </a:solidFill>
                <a:latin typeface="Calibri"/>
              </a:rPr>
              <a:t>.</a:t>
            </a:r>
          </a:p>
          <a:p>
            <a:pPr marL="256032" indent="-219456">
              <a:spcAft>
                <a:spcPts val="600"/>
              </a:spcAft>
              <a:buFont typeface="Arial"/>
              <a:buChar char="•"/>
            </a:pPr>
            <a:r>
              <a:rPr b="0" sz="1700">
                <a:solidFill>
                  <a:srgbClr val="222831"/>
                </a:solidFill>
                <a:latin typeface="Calibri"/>
              </a:rPr>
              <a:t>Limitar la banda </a:t>
            </a:r>
            <a:r>
              <a:rPr b="1" sz="1700">
                <a:solidFill>
                  <a:srgbClr val="1F3A5F"/>
                </a:solidFill>
                <a:latin typeface="Calibri"/>
              </a:rPr>
              <a:t>ensancha el pulso</a:t>
            </a:r>
            <a:r>
              <a:rPr b="0" sz="1700">
                <a:solidFill>
                  <a:srgbClr val="222831"/>
                </a:solidFill>
                <a:latin typeface="Calibri"/>
              </a:rPr>
              <a:t> en el tiempo → los pulsos vecinos se superponen (</a:t>
            </a:r>
            <a:r>
              <a:rPr b="1" sz="1700">
                <a:solidFill>
                  <a:srgbClr val="1F3A5F"/>
                </a:solidFill>
                <a:latin typeface="Calibri"/>
              </a:rPr>
              <a:t>ISI</a:t>
            </a:r>
            <a:r>
              <a:rPr b="0" sz="1700">
                <a:solidFill>
                  <a:srgbClr val="222831"/>
                </a:solidFill>
                <a:latin typeface="Calibri"/>
              </a:rPr>
              <a:t>).</a:t>
            </a:r>
          </a:p>
          <a:p>
            <a:pPr marL="256032" indent="-219456">
              <a:spcAft>
                <a:spcPts val="600"/>
              </a:spcAft>
              <a:buFont typeface="Arial"/>
              <a:buChar char="•"/>
            </a:pPr>
            <a:r>
              <a:rPr b="1" sz="1700">
                <a:solidFill>
                  <a:srgbClr val="1F3A5F"/>
                </a:solidFill>
                <a:latin typeface="Calibri"/>
              </a:rPr>
              <a:t>Criterio de Nyquist</a:t>
            </a:r>
            <a:r>
              <a:rPr b="0" sz="1700">
                <a:solidFill>
                  <a:srgbClr val="222831"/>
                </a:solidFill>
                <a:latin typeface="Calibri"/>
              </a:rPr>
              <a:t>: no hay ISI si el pulso total vale </a:t>
            </a:r>
            <a:r>
              <a:rPr b="1" sz="1700">
                <a:solidFill>
                  <a:srgbClr val="1F3A5F"/>
                </a:solidFill>
                <a:latin typeface="Calibri"/>
              </a:rPr>
              <a:t>0 en t = kT</a:t>
            </a:r>
            <a:r>
              <a:rPr b="0" sz="1700">
                <a:solidFill>
                  <a:srgbClr val="222831"/>
                </a:solidFill>
                <a:latin typeface="Calibri"/>
              </a:rPr>
              <a:t> (k ≠ 0). El </a:t>
            </a:r>
            <a:r>
              <a:rPr b="1" sz="1700">
                <a:solidFill>
                  <a:srgbClr val="1F3A5F"/>
                </a:solidFill>
                <a:latin typeface="Calibri"/>
              </a:rPr>
              <a:t>coseno realzado (RC)</a:t>
            </a:r>
            <a:r>
              <a:rPr b="0" sz="1700">
                <a:solidFill>
                  <a:srgbClr val="222831"/>
                </a:solidFill>
                <a:latin typeface="Calibri"/>
              </a:rPr>
              <a:t> lo cumple.</a:t>
            </a:r>
          </a:p>
          <a:p>
            <a:pPr marL="256032" indent="-219456">
              <a:spcAft>
                <a:spcPts val="600"/>
              </a:spcAft>
              <a:buFont typeface="Arial"/>
              <a:buChar char="•"/>
            </a:pPr>
            <a:r>
              <a:rPr b="0" sz="1700">
                <a:solidFill>
                  <a:srgbClr val="222831"/>
                </a:solidFill>
                <a:latin typeface="Calibri"/>
              </a:rPr>
              <a:t>El roll-off </a:t>
            </a:r>
            <a:r>
              <a:rPr b="1" sz="1700">
                <a:solidFill>
                  <a:srgbClr val="1F3A5F"/>
                </a:solidFill>
                <a:latin typeface="Calibri"/>
              </a:rPr>
              <a:t>β</a:t>
            </a:r>
            <a:r>
              <a:rPr b="0" sz="1700">
                <a:solidFill>
                  <a:srgbClr val="222831"/>
                </a:solidFill>
                <a:latin typeface="Calibri"/>
              </a:rPr>
              <a:t> fija el exceso de banda: BW = (1 + β)/2T.  Con β = 0.5 → 0.75/T.</a:t>
            </a:r>
          </a:p>
        </p:txBody>
      </p:sp>
      <p:pic>
        <p:nvPicPr>
          <p:cNvPr id="7" name="Picture 6" descr="rc_rrc.png"/>
          <p:cNvPicPr>
            <a:picLocks noChangeAspect="1"/>
          </p:cNvPicPr>
          <p:nvPr/>
        </p:nvPicPr>
        <p:blipFill>
          <a:blip r:embed="rId3"/>
          <a:stretch>
            <a:fillRect/>
          </a:stretch>
        </p:blipFill>
        <p:spPr>
          <a:xfrm>
            <a:off x="1280160" y="3108960"/>
            <a:ext cx="9509760" cy="314553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¿Por qué "raíz" (RRC)?</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2 · El filtro RRC</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10</a:t>
            </a:r>
          </a:p>
        </p:txBody>
      </p:sp>
      <p:sp>
        <p:nvSpPr>
          <p:cNvPr id="6" name="TextBox 5"/>
          <p:cNvSpPr txBox="1"/>
          <p:nvPr/>
        </p:nvSpPr>
        <p:spPr>
          <a:xfrm>
            <a:off x="548640" y="1280160"/>
            <a:ext cx="6035040" cy="4114800"/>
          </a:xfrm>
          <a:prstGeom prst="rect">
            <a:avLst/>
          </a:prstGeom>
          <a:noFill/>
        </p:spPr>
        <p:txBody>
          <a:bodyPr wrap="square" lIns="45720" rIns="45720">
            <a:spAutoFit/>
          </a:bodyPr>
          <a:lstStyle/>
          <a:p>
            <a:pPr marL="256032" indent="-219456">
              <a:spcAft>
                <a:spcPts val="600"/>
              </a:spcAft>
              <a:buFont typeface="Arial"/>
              <a:buChar char="•"/>
            </a:pPr>
            <a:r>
              <a:rPr b="0" sz="1700">
                <a:solidFill>
                  <a:srgbClr val="222831"/>
                </a:solidFill>
                <a:latin typeface="Calibri"/>
              </a:rPr>
              <a:t>El RC se </a:t>
            </a:r>
            <a:r>
              <a:rPr b="1" sz="1700">
                <a:solidFill>
                  <a:srgbClr val="1F3A5F"/>
                </a:solidFill>
                <a:latin typeface="Calibri"/>
              </a:rPr>
              <a:t>reparte entre TX y RX</a:t>
            </a:r>
            <a:r>
              <a:rPr b="0" sz="1700">
                <a:solidFill>
                  <a:srgbClr val="222831"/>
                </a:solidFill>
                <a:latin typeface="Calibri"/>
              </a:rPr>
              <a:t>:</a:t>
            </a:r>
          </a:p>
          <a:p>
            <a:pPr marL="548640" indent="-219456">
              <a:spcAft>
                <a:spcPts val="600"/>
              </a:spcAft>
              <a:buFont typeface="Arial"/>
              <a:buChar char="–"/>
            </a:pPr>
            <a:r>
              <a:rPr b="0" sz="1500">
                <a:solidFill>
                  <a:srgbClr val="5F6B7A"/>
                </a:solidFill>
                <a:latin typeface="Calibri"/>
              </a:rPr>
              <a:t>RRC_TX(f) · RRC_RX(f) = RC(f)</a:t>
            </a:r>
          </a:p>
          <a:p>
            <a:pPr marL="256032" indent="-219456">
              <a:spcAft>
                <a:spcPts val="600"/>
              </a:spcAft>
              <a:buFont typeface="Arial"/>
              <a:buChar char="•"/>
            </a:pPr>
            <a:r>
              <a:rPr b="0" sz="1700">
                <a:solidFill>
                  <a:srgbClr val="222831"/>
                </a:solidFill>
                <a:latin typeface="Calibri"/>
              </a:rPr>
              <a:t>RX usa el </a:t>
            </a:r>
            <a:r>
              <a:rPr b="1" sz="1700">
                <a:solidFill>
                  <a:srgbClr val="1F3A5F"/>
                </a:solidFill>
                <a:latin typeface="Calibri"/>
              </a:rPr>
              <a:t>filtro adaptado</a:t>
            </a:r>
            <a:r>
              <a:rPr b="0" sz="1700">
                <a:solidFill>
                  <a:srgbClr val="222831"/>
                </a:solidFill>
                <a:latin typeface="Calibri"/>
              </a:rPr>
              <a:t> h[−n]: maximiza la SNR frente a ruido blanco.</a:t>
            </a:r>
          </a:p>
          <a:p>
            <a:pPr marL="256032" indent="-219456">
              <a:spcAft>
                <a:spcPts val="600"/>
              </a:spcAft>
              <a:buFont typeface="Arial"/>
              <a:buChar char="•"/>
            </a:pPr>
            <a:r>
              <a:rPr b="1" sz="1700">
                <a:solidFill>
                  <a:srgbClr val="1F3A5F"/>
                </a:solidFill>
                <a:latin typeface="Calibri"/>
              </a:rPr>
              <a:t>Un RRC solo NO es Nyquist</a:t>
            </a:r>
            <a:r>
              <a:rPr b="0" sz="1700">
                <a:solidFill>
                  <a:srgbClr val="222831"/>
                </a:solidFill>
                <a:latin typeface="Calibri"/>
              </a:rPr>
              <a:t> (tiene ISI). La ISI se anula recién en la </a:t>
            </a:r>
            <a:r>
              <a:rPr b="1" sz="1700">
                <a:solidFill>
                  <a:srgbClr val="1F3A5F"/>
                </a:solidFill>
                <a:latin typeface="Calibri"/>
              </a:rPr>
              <a:t>cascada TX + RX</a:t>
            </a:r>
            <a:r>
              <a:rPr b="0" sz="1700">
                <a:solidFill>
                  <a:srgbClr val="222831"/>
                </a:solidFill>
                <a:latin typeface="Calibri"/>
              </a:rPr>
              <a:t>.</a:t>
            </a:r>
          </a:p>
          <a:p>
            <a:pPr marL="548640" indent="-219456">
              <a:spcAft>
                <a:spcPts val="600"/>
              </a:spcAft>
              <a:buFont typeface="Arial"/>
              <a:buChar char="–"/>
            </a:pPr>
            <a:r>
              <a:rPr b="0" sz="1500">
                <a:solidFill>
                  <a:srgbClr val="5F6B7A"/>
                </a:solidFill>
                <a:latin typeface="Calibri"/>
              </a:rPr>
              <a:t>→ la constelación se mira después del filtro adaptado del receptor.</a:t>
            </a:r>
          </a:p>
          <a:p>
            <a:pPr marL="256032" indent="-219456">
              <a:spcAft>
                <a:spcPts val="600"/>
              </a:spcAft>
              <a:buFont typeface="Arial"/>
              <a:buChar char="•"/>
            </a:pPr>
            <a:r>
              <a:rPr b="0" sz="1700">
                <a:solidFill>
                  <a:srgbClr val="222831"/>
                </a:solidFill>
                <a:latin typeface="Calibri"/>
              </a:rPr>
              <a:t>En este TP implementamos el </a:t>
            </a:r>
            <a:r>
              <a:rPr b="1" sz="1700">
                <a:solidFill>
                  <a:srgbClr val="1F3A5F"/>
                </a:solidFill>
                <a:latin typeface="Calibri"/>
              </a:rPr>
              <a:t>RRC del transmisor</a:t>
            </a:r>
            <a:r>
              <a:rPr b="0" sz="1700">
                <a:solidFill>
                  <a:srgbClr val="222831"/>
                </a:solidFill>
                <a:latin typeface="Calibri"/>
              </a:rPr>
              <a:t>.</a:t>
            </a:r>
          </a:p>
        </p:txBody>
      </p:sp>
      <p:sp>
        <p:nvSpPr>
          <p:cNvPr id="7" name="Rectangle 6"/>
          <p:cNvSpPr/>
          <p:nvPr/>
        </p:nvSpPr>
        <p:spPr>
          <a:xfrm>
            <a:off x="6949440" y="1325880"/>
            <a:ext cx="4754880" cy="2377440"/>
          </a:xfrm>
          <a:prstGeom prst="rect">
            <a:avLst/>
          </a:prstGeom>
          <a:solidFill>
            <a:srgbClr val="E6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0" y="1325880"/>
            <a:ext cx="64008" cy="23774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4031" y="1399032"/>
            <a:ext cx="4480560" cy="2240280"/>
          </a:xfrm>
          <a:prstGeom prst="rect">
            <a:avLst/>
          </a:prstGeom>
          <a:noFill/>
        </p:spPr>
        <p:txBody>
          <a:bodyPr wrap="square" lIns="45720" rIns="45720">
            <a:spAutoFit/>
          </a:bodyPr>
          <a:lstStyle/>
          <a:p>
            <a:pPr>
              <a:spcAft>
                <a:spcPts val="400"/>
              </a:spcAft>
            </a:pPr>
            <a:r>
              <a:rPr b="1" sz="1500">
                <a:solidFill>
                  <a:srgbClr val="1F3A5F"/>
                </a:solidFill>
                <a:latin typeface="Calibri"/>
              </a:rPr>
              <a:t>Respuesta al impulso (t en unidades de T)</a:t>
            </a:r>
          </a:p>
          <a:p>
            <a:pPr>
              <a:spcAft>
                <a:spcPts val="400"/>
              </a:spcAft>
            </a:pPr>
            <a:r>
              <a:rPr b="0" sz="1500">
                <a:solidFill>
                  <a:srgbClr val="222831"/>
                </a:solidFill>
                <a:latin typeface="Calibri"/>
              </a:rPr>
              <a:t>h(t) = [ sin(πt(1−β)) + 4βt·cos(πt(1+β)) ]</a:t>
            </a:r>
          </a:p>
          <a:p>
            <a:pPr>
              <a:spcAft>
                <a:spcPts val="400"/>
              </a:spcAft>
            </a:pPr>
            <a:r>
              <a:rPr b="0" sz="1500">
                <a:solidFill>
                  <a:srgbClr val="222831"/>
                </a:solidFill>
                <a:latin typeface="Calibri"/>
              </a:rPr>
              <a:t>         / [ πt · (1 − (4βt)²) ]</a:t>
            </a:r>
          </a:p>
          <a:p>
            <a:pPr>
              <a:spcAft>
                <a:spcPts val="400"/>
              </a:spcAft>
            </a:pPr>
          </a:p>
          <a:p>
            <a:pPr>
              <a:spcAft>
                <a:spcPts val="400"/>
              </a:spcAft>
            </a:pPr>
            <a:r>
              <a:rPr b="0" sz="1500">
                <a:solidFill>
                  <a:srgbClr val="222831"/>
                </a:solidFill>
                <a:latin typeface="Calibri"/>
              </a:rPr>
              <a:t>Casos límite:  t = 0  y  |t| = 1/(4β)</a:t>
            </a:r>
          </a:p>
        </p:txBody>
      </p:sp>
      <p:sp>
        <p:nvSpPr>
          <p:cNvPr id="10" name="Rectangle 9"/>
          <p:cNvSpPr/>
          <p:nvPr/>
        </p:nvSpPr>
        <p:spPr>
          <a:xfrm>
            <a:off x="6949440" y="3931920"/>
            <a:ext cx="4754880" cy="201168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49440" y="3931920"/>
            <a:ext cx="64008" cy="201168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14031" y="4005072"/>
            <a:ext cx="4480560" cy="1874520"/>
          </a:xfrm>
          <a:prstGeom prst="rect">
            <a:avLst/>
          </a:prstGeom>
          <a:noFill/>
        </p:spPr>
        <p:txBody>
          <a:bodyPr wrap="square" lIns="45720" rIns="45720">
            <a:spAutoFit/>
          </a:bodyPr>
          <a:lstStyle/>
          <a:p>
            <a:pPr>
              <a:spcAft>
                <a:spcPts val="400"/>
              </a:spcAft>
            </a:pPr>
            <a:r>
              <a:rPr b="1" sz="1500">
                <a:solidFill>
                  <a:srgbClr val="1F3A5F"/>
                </a:solidFill>
                <a:latin typeface="Calibri"/>
              </a:rPr>
              <a:t>Con β = 0.5</a:t>
            </a:r>
          </a:p>
          <a:p>
            <a:pPr>
              <a:spcAft>
                <a:spcPts val="400"/>
              </a:spcAft>
            </a:pPr>
            <a:r>
              <a:rPr b="0" sz="1500">
                <a:solidFill>
                  <a:srgbClr val="222831"/>
                </a:solidFill>
                <a:latin typeface="Calibri"/>
              </a:rPr>
              <a:t>• Banda pasante plana hasta 0.25/T</a:t>
            </a:r>
          </a:p>
          <a:p>
            <a:pPr>
              <a:spcAft>
                <a:spcPts val="400"/>
              </a:spcAft>
            </a:pPr>
            <a:r>
              <a:rPr b="0" sz="1500">
                <a:solidFill>
                  <a:srgbClr val="222831"/>
                </a:solidFill>
                <a:latin typeface="Calibri"/>
              </a:rPr>
              <a:t>• Transición de 0.25/T a 0.75/T</a:t>
            </a:r>
          </a:p>
          <a:p>
            <a:pPr>
              <a:spcAft>
                <a:spcPts val="400"/>
              </a:spcAft>
            </a:pPr>
            <a:r>
              <a:rPr b="0" sz="1500">
                <a:solidFill>
                  <a:srgbClr val="222831"/>
                </a:solidFill>
                <a:latin typeface="Calibri"/>
              </a:rPr>
              <a:t>• Ancho de banda total 0.75/T (50 % extra sobre el mínimo 0.5/T)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Nuestro RRC discreto: 8 taps, OS = 2, simétrico</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2 · El filtro RRC</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11</a:t>
            </a:r>
          </a:p>
        </p:txBody>
      </p:sp>
      <p:sp>
        <p:nvSpPr>
          <p:cNvPr id="6" name="TextBox 5"/>
          <p:cNvSpPr txBox="1"/>
          <p:nvPr/>
        </p:nvSpPr>
        <p:spPr>
          <a:xfrm>
            <a:off x="548640" y="1280160"/>
            <a:ext cx="4663440" cy="2377440"/>
          </a:xfrm>
          <a:prstGeom prst="rect">
            <a:avLst/>
          </a:prstGeom>
          <a:noFill/>
        </p:spPr>
        <p:txBody>
          <a:bodyPr wrap="square" lIns="45720" rIns="45720">
            <a:spAutoFit/>
          </a:bodyPr>
          <a:lstStyle/>
          <a:p>
            <a:pPr marL="256032" indent="-219456">
              <a:spcAft>
                <a:spcPts val="400"/>
              </a:spcAft>
              <a:buFont typeface="Arial"/>
              <a:buChar char="•"/>
            </a:pPr>
            <a:r>
              <a:rPr b="0" sz="1400">
                <a:solidFill>
                  <a:srgbClr val="222831"/>
                </a:solidFill>
                <a:latin typeface="Calibri"/>
              </a:rPr>
              <a:t>Muestras cada </a:t>
            </a:r>
            <a:r>
              <a:rPr b="1" sz="1400">
                <a:solidFill>
                  <a:srgbClr val="1F3A5F"/>
                </a:solidFill>
                <a:latin typeface="Calibri"/>
              </a:rPr>
              <a:t>Ts = T/2</a:t>
            </a:r>
            <a:r>
              <a:rPr b="0" sz="1400">
                <a:solidFill>
                  <a:srgbClr val="222831"/>
                </a:solidFill>
                <a:latin typeface="Calibri"/>
              </a:rPr>
              <a:t> → fs = 2/T; 8 taps = </a:t>
            </a:r>
            <a:r>
              <a:rPr b="1" sz="1400">
                <a:solidFill>
                  <a:srgbClr val="1F3A5F"/>
                </a:solidFill>
                <a:latin typeface="Calibri"/>
              </a:rPr>
              <a:t>4 símbolos</a:t>
            </a:r>
            <a:r>
              <a:rPr b="0" sz="1400">
                <a:solidFill>
                  <a:srgbClr val="222831"/>
                </a:solidFill>
                <a:latin typeface="Calibri"/>
              </a:rPr>
              <a:t>.</a:t>
            </a:r>
          </a:p>
          <a:p>
            <a:pPr marL="256032" indent="-219456">
              <a:spcAft>
                <a:spcPts val="400"/>
              </a:spcAft>
              <a:buFont typeface="Arial"/>
              <a:buChar char="•"/>
            </a:pPr>
            <a:r>
              <a:rPr b="0" sz="1400">
                <a:solidFill>
                  <a:srgbClr val="222831"/>
                </a:solidFill>
                <a:latin typeface="Calibri"/>
              </a:rPr>
              <a:t>Eje </a:t>
            </a:r>
            <a:r>
              <a:rPr b="1" sz="1400">
                <a:solidFill>
                  <a:srgbClr val="1F3A5F"/>
                </a:solidFill>
                <a:latin typeface="Calibri"/>
              </a:rPr>
              <a:t>t = (n − 3.5)·T/2</a:t>
            </a:r>
            <a:r>
              <a:rPr b="0" sz="1400">
                <a:solidFill>
                  <a:srgbClr val="222831"/>
                </a:solidFill>
                <a:latin typeface="Calibri"/>
              </a:rPr>
              <a:t> → simétrico h[n] = h[7 − n]; pico entre n = 3 y 4.</a:t>
            </a:r>
          </a:p>
          <a:p>
            <a:pPr marL="256032" indent="-219456">
              <a:spcAft>
                <a:spcPts val="400"/>
              </a:spcAft>
              <a:buFont typeface="Arial"/>
              <a:buChar char="•"/>
            </a:pPr>
            <a:r>
              <a:rPr b="0" sz="1400">
                <a:solidFill>
                  <a:srgbClr val="222831"/>
                </a:solidFill>
                <a:latin typeface="Calibri"/>
              </a:rPr>
              <a:t>Truncado a 4 símbolos: en el borde de banda (0.75/T) solo </a:t>
            </a:r>
            <a:r>
              <a:rPr b="1" sz="1400">
                <a:solidFill>
                  <a:srgbClr val="1F3A5F"/>
                </a:solidFill>
                <a:latin typeface="Calibri"/>
              </a:rPr>
              <a:t>≈ 22 dB</a:t>
            </a:r>
            <a:r>
              <a:rPr b="0" sz="1400">
                <a:solidFill>
                  <a:srgbClr val="222831"/>
                </a:solidFill>
                <a:latin typeface="Calibri"/>
              </a:rPr>
              <a:t> de atenuación.</a:t>
            </a:r>
          </a:p>
          <a:p>
            <a:pPr marL="256032" indent="-219456">
              <a:spcAft>
                <a:spcPts val="400"/>
              </a:spcAft>
              <a:buFont typeface="Arial"/>
              <a:buChar char="•"/>
            </a:pPr>
            <a:r>
              <a:rPr b="0" sz="1400">
                <a:solidFill>
                  <a:srgbClr val="222831"/>
                </a:solidFill>
                <a:latin typeface="Calibri"/>
              </a:rPr>
              <a:t>Simétrico de largo par → </a:t>
            </a:r>
            <a:r>
              <a:rPr b="1" sz="1400">
                <a:solidFill>
                  <a:srgbClr val="1F3A5F"/>
                </a:solidFill>
                <a:latin typeface="Calibri"/>
              </a:rPr>
              <a:t>cero exacto en fs/2</a:t>
            </a:r>
            <a:r>
              <a:rPr b="0" sz="1400">
                <a:solidFill>
                  <a:srgbClr val="222831"/>
                </a:solidFill>
                <a:latin typeface="Calibri"/>
              </a:rPr>
              <a:t> (H[8] = 0).</a:t>
            </a:r>
          </a:p>
        </p:txBody>
      </p:sp>
      <p:graphicFrame>
        <p:nvGraphicFramePr>
          <p:cNvPr id="7" name="Table 6"/>
          <p:cNvGraphicFramePr>
            <a:graphicFrameLocks noGrp="1"/>
          </p:cNvGraphicFramePr>
          <p:nvPr/>
        </p:nvGraphicFramePr>
        <p:xfrm>
          <a:off x="5440680" y="1325880"/>
          <a:ext cx="6309360" cy="768096"/>
        </p:xfrm>
        <a:graphic>
          <a:graphicData uri="http://schemas.openxmlformats.org/drawingml/2006/table">
            <a:tbl>
              <a:tblPr firstRow="1" bandRow="1">
                <a:tableStyleId>{5C22544A-7EE6-4342-B048-85BDC9FD1C3A}</a:tableStyleId>
              </a:tblPr>
              <a:tblGrid>
                <a:gridCol w="530352"/>
                <a:gridCol w="722376"/>
                <a:gridCol w="722376"/>
                <a:gridCol w="722376"/>
                <a:gridCol w="722376"/>
                <a:gridCol w="722376"/>
                <a:gridCol w="722376"/>
                <a:gridCol w="722376"/>
                <a:gridCol w="722376"/>
              </a:tblGrid>
              <a:tr h="384048">
                <a:tc>
                  <a:txBody>
                    <a:bodyPr wrap="square"/>
                    <a:lstStyle/>
                    <a:p>
                      <a:r>
                        <a:rPr b="1" sz="1000">
                          <a:solidFill>
                            <a:srgbClr val="FFFFFF"/>
                          </a:solidFill>
                          <a:latin typeface="Calibri"/>
                        </a:rPr>
                        <a:t>n</a:t>
                      </a:r>
                    </a:p>
                  </a:txBody>
                  <a:tcPr marL="73152" marR="73152" marT="27432" marB="27432" anchor="ctr">
                    <a:solidFill>
                      <a:srgbClr val="1F3A5F"/>
                    </a:solidFill>
                  </a:tcPr>
                </a:tc>
                <a:tc>
                  <a:txBody>
                    <a:bodyPr wrap="square"/>
                    <a:lstStyle/>
                    <a:p>
                      <a:r>
                        <a:rPr b="1" sz="1000">
                          <a:solidFill>
                            <a:srgbClr val="FFFFFF"/>
                          </a:solidFill>
                          <a:latin typeface="Calibri"/>
                        </a:rPr>
                        <a:t>0</a:t>
                      </a:r>
                    </a:p>
                  </a:txBody>
                  <a:tcPr marL="73152" marR="73152" marT="27432" marB="27432" anchor="ctr">
                    <a:solidFill>
                      <a:srgbClr val="1F3A5F"/>
                    </a:solidFill>
                  </a:tcPr>
                </a:tc>
                <a:tc>
                  <a:txBody>
                    <a:bodyPr wrap="square"/>
                    <a:lstStyle/>
                    <a:p>
                      <a:r>
                        <a:rPr b="1" sz="1000">
                          <a:solidFill>
                            <a:srgbClr val="FFFFFF"/>
                          </a:solidFill>
                          <a:latin typeface="Calibri"/>
                        </a:rPr>
                        <a:t>1</a:t>
                      </a:r>
                    </a:p>
                  </a:txBody>
                  <a:tcPr marL="73152" marR="73152" marT="27432" marB="27432" anchor="ctr">
                    <a:solidFill>
                      <a:srgbClr val="1F3A5F"/>
                    </a:solidFill>
                  </a:tcPr>
                </a:tc>
                <a:tc>
                  <a:txBody>
                    <a:bodyPr wrap="square"/>
                    <a:lstStyle/>
                    <a:p>
                      <a:r>
                        <a:rPr b="1" sz="1000">
                          <a:solidFill>
                            <a:srgbClr val="FFFFFF"/>
                          </a:solidFill>
                          <a:latin typeface="Calibri"/>
                        </a:rPr>
                        <a:t>2</a:t>
                      </a:r>
                    </a:p>
                  </a:txBody>
                  <a:tcPr marL="73152" marR="73152" marT="27432" marB="27432" anchor="ctr">
                    <a:solidFill>
                      <a:srgbClr val="1F3A5F"/>
                    </a:solidFill>
                  </a:tcPr>
                </a:tc>
                <a:tc>
                  <a:txBody>
                    <a:bodyPr wrap="square"/>
                    <a:lstStyle/>
                    <a:p>
                      <a:r>
                        <a:rPr b="1" sz="1000">
                          <a:solidFill>
                            <a:srgbClr val="FFFFFF"/>
                          </a:solidFill>
                          <a:latin typeface="Calibri"/>
                        </a:rPr>
                        <a:t>3</a:t>
                      </a:r>
                    </a:p>
                  </a:txBody>
                  <a:tcPr marL="73152" marR="73152" marT="27432" marB="27432" anchor="ctr">
                    <a:solidFill>
                      <a:srgbClr val="1F3A5F"/>
                    </a:solidFill>
                  </a:tcPr>
                </a:tc>
                <a:tc>
                  <a:txBody>
                    <a:bodyPr wrap="square"/>
                    <a:lstStyle/>
                    <a:p>
                      <a:r>
                        <a:rPr b="1" sz="1000">
                          <a:solidFill>
                            <a:srgbClr val="FFFFFF"/>
                          </a:solidFill>
                          <a:latin typeface="Calibri"/>
                        </a:rPr>
                        <a:t>4</a:t>
                      </a:r>
                    </a:p>
                  </a:txBody>
                  <a:tcPr marL="73152" marR="73152" marT="27432" marB="27432" anchor="ctr">
                    <a:solidFill>
                      <a:srgbClr val="1F3A5F"/>
                    </a:solidFill>
                  </a:tcPr>
                </a:tc>
                <a:tc>
                  <a:txBody>
                    <a:bodyPr wrap="square"/>
                    <a:lstStyle/>
                    <a:p>
                      <a:r>
                        <a:rPr b="1" sz="1000">
                          <a:solidFill>
                            <a:srgbClr val="FFFFFF"/>
                          </a:solidFill>
                          <a:latin typeface="Calibri"/>
                        </a:rPr>
                        <a:t>5</a:t>
                      </a:r>
                    </a:p>
                  </a:txBody>
                  <a:tcPr marL="73152" marR="73152" marT="27432" marB="27432" anchor="ctr">
                    <a:solidFill>
                      <a:srgbClr val="1F3A5F"/>
                    </a:solidFill>
                  </a:tcPr>
                </a:tc>
                <a:tc>
                  <a:txBody>
                    <a:bodyPr wrap="square"/>
                    <a:lstStyle/>
                    <a:p>
                      <a:r>
                        <a:rPr b="1" sz="1000">
                          <a:solidFill>
                            <a:srgbClr val="FFFFFF"/>
                          </a:solidFill>
                          <a:latin typeface="Calibri"/>
                        </a:rPr>
                        <a:t>6</a:t>
                      </a:r>
                    </a:p>
                  </a:txBody>
                  <a:tcPr marL="73152" marR="73152" marT="27432" marB="27432" anchor="ctr">
                    <a:solidFill>
                      <a:srgbClr val="1F3A5F"/>
                    </a:solidFill>
                  </a:tcPr>
                </a:tc>
                <a:tc>
                  <a:txBody>
                    <a:bodyPr wrap="square"/>
                    <a:lstStyle/>
                    <a:p>
                      <a:r>
                        <a:rPr b="1" sz="1000">
                          <a:solidFill>
                            <a:srgbClr val="FFFFFF"/>
                          </a:solidFill>
                          <a:latin typeface="Calibri"/>
                        </a:rPr>
                        <a:t>7</a:t>
                      </a:r>
                    </a:p>
                  </a:txBody>
                  <a:tcPr marL="73152" marR="73152" marT="27432" marB="27432" anchor="ctr">
                    <a:solidFill>
                      <a:srgbClr val="1F3A5F"/>
                    </a:solidFill>
                  </a:tcPr>
                </a:tc>
              </a:tr>
              <a:tr h="384048">
                <a:tc>
                  <a:txBody>
                    <a:bodyPr wrap="square"/>
                    <a:lstStyle/>
                    <a:p>
                      <a:r>
                        <a:rPr b="1" sz="1000">
                          <a:solidFill>
                            <a:srgbClr val="222831"/>
                          </a:solidFill>
                          <a:latin typeface="Calibri"/>
                        </a:rPr>
                        <a:t>h[n]</a:t>
                      </a:r>
                    </a:p>
                  </a:txBody>
                  <a:tcPr marL="73152" marR="73152" marT="27432" marB="27432" anchor="ctr">
                    <a:solidFill>
                      <a:srgbClr val="FFFFFF"/>
                    </a:solidFill>
                  </a:tcPr>
                </a:tc>
                <a:tc>
                  <a:txBody>
                    <a:bodyPr wrap="square"/>
                    <a:lstStyle/>
                    <a:p>
                      <a:r>
                        <a:rPr b="0" sz="1000">
                          <a:solidFill>
                            <a:srgbClr val="222831"/>
                          </a:solidFill>
                          <a:latin typeface="Calibri"/>
                        </a:rPr>
                        <a:t>0.0077</a:t>
                      </a:r>
                    </a:p>
                  </a:txBody>
                  <a:tcPr marL="73152" marR="73152" marT="27432" marB="27432" anchor="ctr">
                    <a:solidFill>
                      <a:srgbClr val="FFFFFF"/>
                    </a:solidFill>
                  </a:tcPr>
                </a:tc>
                <a:tc>
                  <a:txBody>
                    <a:bodyPr wrap="square"/>
                    <a:lstStyle/>
                    <a:p>
                      <a:r>
                        <a:rPr b="0" sz="1000">
                          <a:solidFill>
                            <a:srgbClr val="222831"/>
                          </a:solidFill>
                          <a:latin typeface="Calibri"/>
                        </a:rPr>
                        <a:t>−0.0779</a:t>
                      </a:r>
                    </a:p>
                  </a:txBody>
                  <a:tcPr marL="73152" marR="73152" marT="27432" marB="27432" anchor="ctr">
                    <a:solidFill>
                      <a:srgbClr val="FFFFFF"/>
                    </a:solidFill>
                  </a:tcPr>
                </a:tc>
                <a:tc>
                  <a:txBody>
                    <a:bodyPr wrap="square"/>
                    <a:lstStyle/>
                    <a:p>
                      <a:r>
                        <a:rPr b="0" sz="1000">
                          <a:solidFill>
                            <a:srgbClr val="222831"/>
                          </a:solidFill>
                          <a:latin typeface="Calibri"/>
                        </a:rPr>
                        <a:t>0.0779</a:t>
                      </a:r>
                    </a:p>
                  </a:txBody>
                  <a:tcPr marL="73152" marR="73152" marT="27432" marB="27432" anchor="ctr">
                    <a:solidFill>
                      <a:srgbClr val="FFFFFF"/>
                    </a:solidFill>
                  </a:tcPr>
                </a:tc>
                <a:tc>
                  <a:txBody>
                    <a:bodyPr wrap="square"/>
                    <a:lstStyle/>
                    <a:p>
                      <a:r>
                        <a:rPr b="0" sz="1000">
                          <a:solidFill>
                            <a:srgbClr val="222831"/>
                          </a:solidFill>
                          <a:latin typeface="Calibri"/>
                        </a:rPr>
                        <a:t>0.4843</a:t>
                      </a:r>
                    </a:p>
                  </a:txBody>
                  <a:tcPr marL="73152" marR="73152" marT="27432" marB="27432" anchor="ctr">
                    <a:solidFill>
                      <a:srgbClr val="FFFFFF"/>
                    </a:solidFill>
                  </a:tcPr>
                </a:tc>
                <a:tc>
                  <a:txBody>
                    <a:bodyPr wrap="square"/>
                    <a:lstStyle/>
                    <a:p>
                      <a:r>
                        <a:rPr b="0" sz="1000">
                          <a:solidFill>
                            <a:srgbClr val="222831"/>
                          </a:solidFill>
                          <a:latin typeface="Calibri"/>
                        </a:rPr>
                        <a:t>0.4843</a:t>
                      </a:r>
                    </a:p>
                  </a:txBody>
                  <a:tcPr marL="73152" marR="73152" marT="27432" marB="27432" anchor="ctr">
                    <a:solidFill>
                      <a:srgbClr val="FFFFFF"/>
                    </a:solidFill>
                  </a:tcPr>
                </a:tc>
                <a:tc>
                  <a:txBody>
                    <a:bodyPr wrap="square"/>
                    <a:lstStyle/>
                    <a:p>
                      <a:r>
                        <a:rPr b="0" sz="1000">
                          <a:solidFill>
                            <a:srgbClr val="222831"/>
                          </a:solidFill>
                          <a:latin typeface="Calibri"/>
                        </a:rPr>
                        <a:t>0.0779</a:t>
                      </a:r>
                    </a:p>
                  </a:txBody>
                  <a:tcPr marL="73152" marR="73152" marT="27432" marB="27432" anchor="ctr">
                    <a:solidFill>
                      <a:srgbClr val="FFFFFF"/>
                    </a:solidFill>
                  </a:tcPr>
                </a:tc>
                <a:tc>
                  <a:txBody>
                    <a:bodyPr wrap="square"/>
                    <a:lstStyle/>
                    <a:p>
                      <a:r>
                        <a:rPr b="0" sz="1000">
                          <a:solidFill>
                            <a:srgbClr val="222831"/>
                          </a:solidFill>
                          <a:latin typeface="Calibri"/>
                        </a:rPr>
                        <a:t>−0.0779</a:t>
                      </a:r>
                    </a:p>
                  </a:txBody>
                  <a:tcPr marL="73152" marR="73152" marT="27432" marB="27432" anchor="ctr">
                    <a:solidFill>
                      <a:srgbClr val="FFFFFF"/>
                    </a:solidFill>
                  </a:tcPr>
                </a:tc>
                <a:tc>
                  <a:txBody>
                    <a:bodyPr wrap="square"/>
                    <a:lstStyle/>
                    <a:p>
                      <a:r>
                        <a:rPr b="0" sz="1000">
                          <a:solidFill>
                            <a:srgbClr val="222831"/>
                          </a:solidFill>
                          <a:latin typeface="Calibri"/>
                        </a:rPr>
                        <a:t>0.0077</a:t>
                      </a:r>
                    </a:p>
                  </a:txBody>
                  <a:tcPr marL="73152" marR="73152" marT="27432" marB="27432" anchor="ctr">
                    <a:solidFill>
                      <a:srgbClr val="FFFFFF"/>
                    </a:solidFill>
                  </a:tcPr>
                </a:tc>
              </a:tr>
            </a:tbl>
          </a:graphicData>
        </a:graphic>
      </p:graphicFrame>
      <p:sp>
        <p:nvSpPr>
          <p:cNvPr id="8" name="TextBox 7"/>
          <p:cNvSpPr txBox="1"/>
          <p:nvPr/>
        </p:nvSpPr>
        <p:spPr>
          <a:xfrm>
            <a:off x="5440680" y="2194560"/>
            <a:ext cx="6309360" cy="731520"/>
          </a:xfrm>
          <a:prstGeom prst="rect">
            <a:avLst/>
          </a:prstGeom>
          <a:noFill/>
        </p:spPr>
        <p:txBody>
          <a:bodyPr wrap="square" lIns="45720" rIns="45720">
            <a:spAutoFit/>
          </a:bodyPr>
          <a:lstStyle/>
          <a:p>
            <a:pPr>
              <a:spcAft>
                <a:spcPts val="600"/>
              </a:spcAft>
            </a:pPr>
            <a:r>
              <a:rPr b="0" sz="1200">
                <a:solidFill>
                  <a:srgbClr val="5F6B7A"/>
                </a:solidFill>
                <a:latin typeface="Calibri"/>
              </a:rPr>
              <a:t>(ya normalizados: max|H[k]| = 1, ver siguiente diapositiva)</a:t>
            </a:r>
          </a:p>
        </p:txBody>
      </p:sp>
      <p:pic>
        <p:nvPicPr>
          <p:cNvPr id="9" name="Picture 8" descr="filtro_rrc.png"/>
          <p:cNvPicPr>
            <a:picLocks noChangeAspect="1"/>
          </p:cNvPicPr>
          <p:nvPr/>
        </p:nvPicPr>
        <p:blipFill>
          <a:blip r:embed="rId3"/>
          <a:stretch>
            <a:fillRect/>
          </a:stretch>
        </p:blipFill>
        <p:spPr>
          <a:xfrm>
            <a:off x="548640" y="3611880"/>
            <a:ext cx="7863840" cy="2716599"/>
          </a:xfrm>
          <a:prstGeom prst="rect">
            <a:avLst/>
          </a:prstGeom>
        </p:spPr>
      </p:pic>
      <p:sp>
        <p:nvSpPr>
          <p:cNvPr id="10" name="Rectangle 9"/>
          <p:cNvSpPr/>
          <p:nvPr/>
        </p:nvSpPr>
        <p:spPr>
          <a:xfrm>
            <a:off x="8732520" y="3840480"/>
            <a:ext cx="2971800" cy="219456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732520" y="3840480"/>
            <a:ext cx="64008" cy="219456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7112" y="3913632"/>
            <a:ext cx="2697480" cy="2057400"/>
          </a:xfrm>
          <a:prstGeom prst="rect">
            <a:avLst/>
          </a:prstGeom>
          <a:noFill/>
        </p:spPr>
        <p:txBody>
          <a:bodyPr wrap="square" lIns="45720" rIns="45720">
            <a:spAutoFit/>
          </a:bodyPr>
          <a:lstStyle/>
          <a:p>
            <a:pPr>
              <a:spcAft>
                <a:spcPts val="400"/>
              </a:spcAft>
            </a:pPr>
            <a:r>
              <a:rPr b="1" sz="1300">
                <a:solidFill>
                  <a:srgbClr val="1F3A5F"/>
                </a:solidFill>
                <a:latin typeface="Calibri"/>
              </a:rPr>
              <a:t>Lectura del gráfico</a:t>
            </a:r>
          </a:p>
          <a:p>
            <a:pPr>
              <a:spcAft>
                <a:spcPts val="400"/>
              </a:spcAft>
            </a:pPr>
            <a:r>
              <a:rPr b="0" sz="1300">
                <a:solidFill>
                  <a:srgbClr val="222831"/>
                </a:solidFill>
                <a:latin typeface="Calibri"/>
              </a:rPr>
              <a:t>Línea: |H(f)| continua.</a:t>
            </a:r>
          </a:p>
          <a:p>
            <a:pPr>
              <a:spcAft>
                <a:spcPts val="400"/>
              </a:spcAft>
            </a:pPr>
            <a:r>
              <a:rPr b="0" sz="1300">
                <a:solidFill>
                  <a:srgbClr val="222831"/>
                </a:solidFill>
                <a:latin typeface="Calibri"/>
              </a:rPr>
              <a:t>Puntos: los </a:t>
            </a:r>
            <a:r>
              <a:rPr b="1" sz="1300">
                <a:solidFill>
                  <a:srgbClr val="1F3A5F"/>
                </a:solidFill>
                <a:latin typeface="Calibri"/>
              </a:rPr>
              <a:t>16 valores H[k]</a:t>
            </a:r>
            <a:r>
              <a:rPr b="0" sz="1300">
                <a:solidFill>
                  <a:srgbClr val="222831"/>
                </a:solidFill>
                <a:latin typeface="Calibri"/>
              </a:rPr>
              <a:t> que usa la FFT (cuantizados en S(10,8)).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Dos decisiones sobre h</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2 · El filtro RRC</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12</a:t>
            </a:r>
          </a:p>
        </p:txBody>
      </p:sp>
      <p:sp>
        <p:nvSpPr>
          <p:cNvPr id="6" name="Rectangle 5"/>
          <p:cNvSpPr/>
          <p:nvPr/>
        </p:nvSpPr>
        <p:spPr>
          <a:xfrm>
            <a:off x="548640" y="1325880"/>
            <a:ext cx="5120640" cy="4480560"/>
          </a:xfrm>
          <a:prstGeom prst="rect">
            <a:avLst/>
          </a:prstGeom>
          <a:solidFill>
            <a:srgbClr val="E6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25880"/>
            <a:ext cx="64008" cy="44805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99032"/>
            <a:ext cx="4846320" cy="4343400"/>
          </a:xfrm>
          <a:prstGeom prst="rect">
            <a:avLst/>
          </a:prstGeom>
          <a:noFill/>
        </p:spPr>
        <p:txBody>
          <a:bodyPr wrap="square" lIns="45720" rIns="45720">
            <a:spAutoFit/>
          </a:bodyPr>
          <a:lstStyle/>
          <a:p>
            <a:pPr>
              <a:spcAft>
                <a:spcPts val="400"/>
              </a:spcAft>
            </a:pPr>
            <a:r>
              <a:rPr b="1" sz="1500">
                <a:solidFill>
                  <a:srgbClr val="1F3A5F"/>
                </a:solidFill>
                <a:latin typeface="Calibri"/>
              </a:rPr>
              <a:t>Normalización: max|H[k]| = 1</a:t>
            </a:r>
          </a:p>
          <a:p>
            <a:pPr>
              <a:spcAft>
                <a:spcPts val="400"/>
              </a:spcAft>
            </a:pPr>
            <a:r>
              <a:rPr b="0" sz="1500">
                <a:solidFill>
                  <a:srgbClr val="0E6E63"/>
                </a:solidFill>
                <a:latin typeface="Consolas"/>
              </a:rPr>
              <a:t>h ← h / max|FFT16(h)|</a:t>
            </a:r>
          </a:p>
          <a:p>
            <a:pPr>
              <a:spcAft>
                <a:spcPts val="400"/>
              </a:spcAft>
            </a:pPr>
          </a:p>
          <a:p>
            <a:pPr>
              <a:spcAft>
                <a:spcPts val="400"/>
              </a:spcAft>
            </a:pPr>
            <a:r>
              <a:rPr b="0" sz="1500">
                <a:solidFill>
                  <a:srgbClr val="222831"/>
                </a:solidFill>
                <a:latin typeface="Calibri"/>
              </a:rPr>
              <a:t>• El filtro </a:t>
            </a:r>
            <a:r>
              <a:rPr b="1" sz="1500">
                <a:solidFill>
                  <a:srgbClr val="1F3A5F"/>
                </a:solidFill>
                <a:latin typeface="Calibri"/>
              </a:rPr>
              <a:t>nunca amplifica</a:t>
            </a:r>
            <a:r>
              <a:rPr b="0" sz="1500">
                <a:solidFill>
                  <a:srgbClr val="222831"/>
                </a:solidFill>
                <a:latin typeface="Calibri"/>
              </a:rPr>
              <a:t> ninguna frecuencia → cotas de bits simples.</a:t>
            </a:r>
          </a:p>
          <a:p>
            <a:pPr>
              <a:spcAft>
                <a:spcPts val="400"/>
              </a:spcAft>
            </a:pPr>
            <a:r>
              <a:rPr b="0" sz="1500">
                <a:solidFill>
                  <a:srgbClr val="222831"/>
                </a:solidFill>
                <a:latin typeface="Calibri"/>
              </a:rPr>
              <a:t>• |H[k]| ≤ 1 → H cabe en </a:t>
            </a:r>
            <a:r>
              <a:rPr b="1" sz="1500">
                <a:solidFill>
                  <a:srgbClr val="1F3A5F"/>
                </a:solidFill>
                <a:latin typeface="Calibri"/>
              </a:rPr>
              <a:t>S(10,8)</a:t>
            </a:r>
            <a:r>
              <a:rPr b="0" sz="1500">
                <a:solidFill>
                  <a:srgbClr val="222831"/>
                </a:solidFill>
                <a:latin typeface="Calibri"/>
              </a:rPr>
              <a:t>, el mismo formato que los twiddles: </a:t>
            </a:r>
            <a:r>
              <a:rPr b="1" sz="1500">
                <a:solidFill>
                  <a:srgbClr val="1F3A5F"/>
                </a:solidFill>
                <a:latin typeface="Calibri"/>
              </a:rPr>
              <a:t>un solo formato</a:t>
            </a:r>
            <a:r>
              <a:rPr b="0" sz="1500">
                <a:solidFill>
                  <a:srgbClr val="222831"/>
                </a:solidFill>
                <a:latin typeface="Calibri"/>
              </a:rPr>
              <a:t> para las dos ROMs.</a:t>
            </a:r>
          </a:p>
          <a:p>
            <a:pPr>
              <a:spcAft>
                <a:spcPts val="400"/>
              </a:spcAft>
            </a:pPr>
            <a:r>
              <a:rPr b="0" sz="1500">
                <a:solidFill>
                  <a:srgbClr val="222831"/>
                </a:solidFill>
                <a:latin typeface="Calibri"/>
              </a:rPr>
              <a:t>• La ganancia absoluta no importa: es una escala constante.</a:t>
            </a:r>
          </a:p>
        </p:txBody>
      </p:sp>
      <p:sp>
        <p:nvSpPr>
          <p:cNvPr id="9" name="TextBox 8"/>
          <p:cNvSpPr txBox="1"/>
          <p:nvPr/>
        </p:nvSpPr>
        <p:spPr>
          <a:xfrm>
            <a:off x="6035040" y="1280160"/>
            <a:ext cx="5669280" cy="457200"/>
          </a:xfrm>
          <a:prstGeom prst="rect">
            <a:avLst/>
          </a:prstGeom>
          <a:noFill/>
        </p:spPr>
        <p:txBody>
          <a:bodyPr wrap="square" lIns="45720" rIns="45720">
            <a:spAutoFit/>
          </a:bodyPr>
          <a:lstStyle/>
          <a:p>
            <a:pPr>
              <a:spcAft>
                <a:spcPts val="600"/>
              </a:spcAft>
            </a:pPr>
            <a:r>
              <a:rPr b="1" sz="1600">
                <a:solidFill>
                  <a:srgbClr val="1F3A5F"/>
                </a:solidFill>
                <a:latin typeface="Calibri"/>
              </a:rPr>
              <a:t>RRC simétrico vs. asimétrico</a:t>
            </a:r>
            <a:r>
              <a:rPr b="0" sz="1600">
                <a:solidFill>
                  <a:srgbClr val="222831"/>
                </a:solidFill>
                <a:latin typeface="Calibri"/>
              </a:rPr>
              <a:t> (versión anterior)</a:t>
            </a:r>
          </a:p>
        </p:txBody>
      </p:sp>
      <p:graphicFrame>
        <p:nvGraphicFramePr>
          <p:cNvPr id="10" name="Table 9"/>
          <p:cNvGraphicFramePr>
            <a:graphicFrameLocks noGrp="1"/>
          </p:cNvGraphicFramePr>
          <p:nvPr/>
        </p:nvGraphicFramePr>
        <p:xfrm>
          <a:off x="6035040" y="1783080"/>
          <a:ext cx="5669280" cy="3008376"/>
        </p:xfrm>
        <a:graphic>
          <a:graphicData uri="http://schemas.openxmlformats.org/drawingml/2006/table">
            <a:tbl>
              <a:tblPr firstRow="1" bandRow="1">
                <a:tableStyleId>{5C22544A-7EE6-4342-B048-85BDC9FD1C3A}</a:tableStyleId>
              </a:tblPr>
              <a:tblGrid>
                <a:gridCol w="2194560"/>
                <a:gridCol w="1645920"/>
                <a:gridCol w="1828800"/>
              </a:tblGrid>
              <a:tr h="429768">
                <a:tc>
                  <a:txBody>
                    <a:bodyPr wrap="square"/>
                    <a:lstStyle/>
                    <a:p/>
                  </a:txBody>
                  <a:tcPr marL="73152" marR="73152" marT="27432" marB="27432" anchor="ctr">
                    <a:solidFill>
                      <a:srgbClr val="1F3A5F"/>
                    </a:solidFill>
                  </a:tcPr>
                </a:tc>
                <a:tc>
                  <a:txBody>
                    <a:bodyPr wrap="square"/>
                    <a:lstStyle/>
                    <a:p>
                      <a:r>
                        <a:rPr b="1" sz="1200">
                          <a:solidFill>
                            <a:srgbClr val="FFFFFF"/>
                          </a:solidFill>
                          <a:latin typeface="Calibri"/>
                        </a:rPr>
                        <a:t>Asimétrico</a:t>
                      </a:r>
                    </a:p>
                  </a:txBody>
                  <a:tcPr marL="73152" marR="73152" marT="27432" marB="27432" anchor="ctr">
                    <a:solidFill>
                      <a:srgbClr val="1F3A5F"/>
                    </a:solidFill>
                  </a:tcPr>
                </a:tc>
                <a:tc>
                  <a:txBody>
                    <a:bodyPr wrap="square"/>
                    <a:lstStyle/>
                    <a:p>
                      <a:r>
                        <a:rPr b="1" sz="1200">
                          <a:solidFill>
                            <a:srgbClr val="FFFFFF"/>
                          </a:solidFill>
                          <a:latin typeface="Calibri"/>
                        </a:rPr>
                        <a:t>Simétrico ✓</a:t>
                      </a:r>
                    </a:p>
                  </a:txBody>
                  <a:tcPr marL="73152" marR="73152" marT="27432" marB="27432" anchor="ctr">
                    <a:solidFill>
                      <a:srgbClr val="1F3A5F"/>
                    </a:solidFill>
                  </a:tcPr>
                </a:tc>
              </a:tr>
              <a:tr h="429768">
                <a:tc>
                  <a:txBody>
                    <a:bodyPr wrap="square"/>
                    <a:lstStyle/>
                    <a:p>
                      <a:r>
                        <a:rPr b="1" sz="1200">
                          <a:solidFill>
                            <a:srgbClr val="222831"/>
                          </a:solidFill>
                          <a:latin typeface="Calibri"/>
                        </a:rPr>
                        <a:t>Eje de tiempo</a:t>
                      </a:r>
                    </a:p>
                  </a:txBody>
                  <a:tcPr marL="73152" marR="73152" marT="27432" marB="27432" anchor="ctr">
                    <a:solidFill>
                      <a:srgbClr val="FFFFFF"/>
                    </a:solidFill>
                  </a:tcPr>
                </a:tc>
                <a:tc>
                  <a:txBody>
                    <a:bodyPr wrap="square"/>
                    <a:lstStyle/>
                    <a:p>
                      <a:r>
                        <a:rPr b="0" sz="1200">
                          <a:solidFill>
                            <a:srgbClr val="222831"/>
                          </a:solidFill>
                          <a:latin typeface="Calibri"/>
                        </a:rPr>
                        <a:t>t = (n − 4)·T/2</a:t>
                      </a:r>
                    </a:p>
                  </a:txBody>
                  <a:tcPr marL="73152" marR="73152" marT="27432" marB="27432" anchor="ctr">
                    <a:solidFill>
                      <a:srgbClr val="FFFFFF"/>
                    </a:solidFill>
                  </a:tcPr>
                </a:tc>
                <a:tc>
                  <a:txBody>
                    <a:bodyPr wrap="square"/>
                    <a:lstStyle/>
                    <a:p>
                      <a:r>
                        <a:rPr b="0" sz="1200">
                          <a:solidFill>
                            <a:srgbClr val="222831"/>
                          </a:solidFill>
                          <a:latin typeface="Calibri"/>
                        </a:rPr>
                        <a:t>t = (n − 3.5)·T/2</a:t>
                      </a:r>
                    </a:p>
                  </a:txBody>
                  <a:tcPr marL="73152" marR="73152" marT="27432" marB="27432" anchor="ctr">
                    <a:solidFill>
                      <a:srgbClr val="FFFFFF"/>
                    </a:solidFill>
                  </a:tcPr>
                </a:tc>
              </a:tr>
              <a:tr h="429768">
                <a:tc>
                  <a:txBody>
                    <a:bodyPr wrap="square"/>
                    <a:lstStyle/>
                    <a:p>
                      <a:r>
                        <a:rPr b="1" sz="1200">
                          <a:solidFill>
                            <a:srgbClr val="222831"/>
                          </a:solidFill>
                          <a:latin typeface="Calibri"/>
                        </a:rPr>
                        <a:t>ISI, RX con filtro adaptado</a:t>
                      </a:r>
                    </a:p>
                  </a:txBody>
                  <a:tcPr marL="73152" marR="73152" marT="27432" marB="27432" anchor="ctr">
                    <a:solidFill>
                      <a:srgbClr val="F3F5F8"/>
                    </a:solidFill>
                  </a:tcPr>
                </a:tc>
                <a:tc>
                  <a:txBody>
                    <a:bodyPr wrap="square"/>
                    <a:lstStyle/>
                    <a:p>
                      <a:r>
                        <a:rPr b="0" sz="1200">
                          <a:solidFill>
                            <a:srgbClr val="222831"/>
                          </a:solidFill>
                          <a:latin typeface="Calibri"/>
                        </a:rPr>
                        <a:t>−34.2 dB</a:t>
                      </a:r>
                    </a:p>
                  </a:txBody>
                  <a:tcPr marL="73152" marR="73152" marT="27432" marB="27432" anchor="ctr">
                    <a:solidFill>
                      <a:srgbClr val="F3F5F8"/>
                    </a:solidFill>
                  </a:tcPr>
                </a:tc>
                <a:tc>
                  <a:txBody>
                    <a:bodyPr wrap="square"/>
                    <a:lstStyle/>
                    <a:p>
                      <a:r>
                        <a:rPr b="0" sz="1200">
                          <a:solidFill>
                            <a:srgbClr val="222831"/>
                          </a:solidFill>
                          <a:latin typeface="Calibri"/>
                        </a:rPr>
                        <a:t>−36.9 dB</a:t>
                      </a:r>
                    </a:p>
                  </a:txBody>
                  <a:tcPr marL="73152" marR="73152" marT="27432" marB="27432" anchor="ctr">
                    <a:solidFill>
                      <a:srgbClr val="F3F5F8"/>
                    </a:solidFill>
                  </a:tcPr>
                </a:tc>
              </a:tr>
              <a:tr h="429768">
                <a:tc>
                  <a:txBody>
                    <a:bodyPr wrap="square"/>
                    <a:lstStyle/>
                    <a:p>
                      <a:r>
                        <a:rPr b="1" sz="1200">
                          <a:solidFill>
                            <a:srgbClr val="222831"/>
                          </a:solidFill>
                          <a:latin typeface="Calibri"/>
                        </a:rPr>
                        <a:t>ISI, RX con el mismo h</a:t>
                      </a:r>
                    </a:p>
                  </a:txBody>
                  <a:tcPr marL="73152" marR="73152" marT="27432" marB="27432" anchor="ctr">
                    <a:solidFill>
                      <a:srgbClr val="FFFFFF"/>
                    </a:solidFill>
                  </a:tcPr>
                </a:tc>
                <a:tc>
                  <a:txBody>
                    <a:bodyPr wrap="square"/>
                    <a:lstStyle/>
                    <a:p>
                      <a:r>
                        <a:rPr b="0" sz="1200">
                          <a:solidFill>
                            <a:srgbClr val="222831"/>
                          </a:solidFill>
                          <a:latin typeface="Calibri"/>
                        </a:rPr>
                        <a:t>−28.0 dB</a:t>
                      </a:r>
                    </a:p>
                  </a:txBody>
                  <a:tcPr marL="73152" marR="73152" marT="27432" marB="27432" anchor="ctr">
                    <a:solidFill>
                      <a:srgbClr val="FFFFFF"/>
                    </a:solidFill>
                  </a:tcPr>
                </a:tc>
                <a:tc>
                  <a:txBody>
                    <a:bodyPr wrap="square"/>
                    <a:lstStyle/>
                    <a:p>
                      <a:r>
                        <a:rPr b="0" sz="1200">
                          <a:solidFill>
                            <a:srgbClr val="222831"/>
                          </a:solidFill>
                          <a:latin typeface="Calibri"/>
                        </a:rPr>
                        <a:t>−36.9 dB</a:t>
                      </a:r>
                    </a:p>
                  </a:txBody>
                  <a:tcPr marL="73152" marR="73152" marT="27432" marB="27432" anchor="ctr">
                    <a:solidFill>
                      <a:srgbClr val="FFFFFF"/>
                    </a:solidFill>
                  </a:tcPr>
                </a:tc>
              </a:tr>
              <a:tr h="429768">
                <a:tc>
                  <a:txBody>
                    <a:bodyPr wrap="square"/>
                    <a:lstStyle/>
                    <a:p>
                      <a:r>
                        <a:rPr b="1" sz="1200">
                          <a:solidFill>
                            <a:srgbClr val="222831"/>
                          </a:solidFill>
                          <a:latin typeface="Calibri"/>
                        </a:rPr>
                        <a:t>Fase lineal</a:t>
                      </a:r>
                    </a:p>
                  </a:txBody>
                  <a:tcPr marL="73152" marR="73152" marT="27432" marB="27432" anchor="ctr">
                    <a:solidFill>
                      <a:srgbClr val="F3F5F8"/>
                    </a:solidFill>
                  </a:tcPr>
                </a:tc>
                <a:tc>
                  <a:txBody>
                    <a:bodyPr wrap="square"/>
                    <a:lstStyle/>
                    <a:p>
                      <a:r>
                        <a:rPr b="0" sz="1200">
                          <a:solidFill>
                            <a:srgbClr val="222831"/>
                          </a:solidFill>
                          <a:latin typeface="Calibri"/>
                        </a:rPr>
                        <a:t>no (h[0] sin pareja)</a:t>
                      </a:r>
                    </a:p>
                  </a:txBody>
                  <a:tcPr marL="73152" marR="73152" marT="27432" marB="27432" anchor="ctr">
                    <a:solidFill>
                      <a:srgbClr val="F3F5F8"/>
                    </a:solidFill>
                  </a:tcPr>
                </a:tc>
                <a:tc>
                  <a:txBody>
                    <a:bodyPr wrap="square"/>
                    <a:lstStyle/>
                    <a:p>
                      <a:r>
                        <a:rPr b="0" sz="1200">
                          <a:solidFill>
                            <a:srgbClr val="222831"/>
                          </a:solidFill>
                          <a:latin typeface="Calibri"/>
                        </a:rPr>
                        <a:t>sí, exacta</a:t>
                      </a:r>
                    </a:p>
                  </a:txBody>
                  <a:tcPr marL="73152" marR="73152" marT="27432" marB="27432" anchor="ctr">
                    <a:solidFill>
                      <a:srgbClr val="F3F5F8"/>
                    </a:solidFill>
                  </a:tcPr>
                </a:tc>
              </a:tr>
              <a:tr h="429768">
                <a:tc>
                  <a:txBody>
                    <a:bodyPr wrap="square"/>
                    <a:lstStyle/>
                    <a:p>
                      <a:r>
                        <a:rPr b="1" sz="1200">
                          <a:solidFill>
                            <a:srgbClr val="222831"/>
                          </a:solidFill>
                          <a:latin typeface="Calibri"/>
                        </a:rPr>
                        <a:t>FIR plegado (mult./comp.)</a:t>
                      </a:r>
                    </a:p>
                  </a:txBody>
                  <a:tcPr marL="73152" marR="73152" marT="27432" marB="27432" anchor="ctr">
                    <a:solidFill>
                      <a:srgbClr val="FFFFFF"/>
                    </a:solidFill>
                  </a:tcPr>
                </a:tc>
                <a:tc>
                  <a:txBody>
                    <a:bodyPr wrap="square"/>
                    <a:lstStyle/>
                    <a:p>
                      <a:r>
                        <a:rPr b="0" sz="1200">
                          <a:solidFill>
                            <a:srgbClr val="222831"/>
                          </a:solidFill>
                          <a:latin typeface="Calibri"/>
                        </a:rPr>
                        <a:t>5</a:t>
                      </a:r>
                    </a:p>
                  </a:txBody>
                  <a:tcPr marL="73152" marR="73152" marT="27432" marB="27432" anchor="ctr">
                    <a:solidFill>
                      <a:srgbClr val="FFFFFF"/>
                    </a:solidFill>
                  </a:tcPr>
                </a:tc>
                <a:tc>
                  <a:txBody>
                    <a:bodyPr wrap="square"/>
                    <a:lstStyle/>
                    <a:p>
                      <a:r>
                        <a:rPr b="0" sz="1200">
                          <a:solidFill>
                            <a:srgbClr val="222831"/>
                          </a:solidFill>
                          <a:latin typeface="Calibri"/>
                        </a:rPr>
                        <a:t>4</a:t>
                      </a:r>
                    </a:p>
                  </a:txBody>
                  <a:tcPr marL="73152" marR="73152" marT="27432" marB="27432" anchor="ctr">
                    <a:solidFill>
                      <a:srgbClr val="FFFFFF"/>
                    </a:solidFill>
                  </a:tcPr>
                </a:tc>
              </a:tr>
              <a:tr h="429768">
                <a:tc>
                  <a:txBody>
                    <a:bodyPr wrap="square"/>
                    <a:lstStyle/>
                    <a:p>
                      <a:r>
                        <a:rPr b="1" sz="1200">
                          <a:solidFill>
                            <a:srgbClr val="222831"/>
                          </a:solidFill>
                          <a:latin typeface="Calibri"/>
                        </a:rPr>
                        <a:t>Pico en una muestra</a:t>
                      </a:r>
                    </a:p>
                  </a:txBody>
                  <a:tcPr marL="73152" marR="73152" marT="27432" marB="27432" anchor="ctr">
                    <a:solidFill>
                      <a:srgbClr val="F3F5F8"/>
                    </a:solidFill>
                  </a:tcPr>
                </a:tc>
                <a:tc>
                  <a:txBody>
                    <a:bodyPr wrap="square"/>
                    <a:lstStyle/>
                    <a:p>
                      <a:r>
                        <a:rPr b="0" sz="1200">
                          <a:solidFill>
                            <a:srgbClr val="222831"/>
                          </a:solidFill>
                          <a:latin typeface="Calibri"/>
                        </a:rPr>
                        <a:t>sí (n = 4)</a:t>
                      </a:r>
                    </a:p>
                  </a:txBody>
                  <a:tcPr marL="73152" marR="73152" marT="27432" marB="27432" anchor="ctr">
                    <a:solidFill>
                      <a:srgbClr val="F3F5F8"/>
                    </a:solidFill>
                  </a:tcPr>
                </a:tc>
                <a:tc>
                  <a:txBody>
                    <a:bodyPr wrap="square"/>
                    <a:lstStyle/>
                    <a:p>
                      <a:r>
                        <a:rPr b="0" sz="1200">
                          <a:solidFill>
                            <a:srgbClr val="222831"/>
                          </a:solidFill>
                          <a:latin typeface="Calibri"/>
                        </a:rPr>
                        <a:t>no; en TX+RX sí (n = 7)</a:t>
                      </a:r>
                    </a:p>
                  </a:txBody>
                  <a:tcPr marL="73152" marR="73152" marT="27432" marB="27432" anchor="ctr">
                    <a:solidFill>
                      <a:srgbClr val="F3F5F8"/>
                    </a:solidFill>
                  </a:tcPr>
                </a:tc>
              </a:tr>
            </a:tbl>
          </a:graphicData>
        </a:graphic>
      </p:graphicFrame>
      <p:sp>
        <p:nvSpPr>
          <p:cNvPr id="11" name="TextBox 10"/>
          <p:cNvSpPr txBox="1"/>
          <p:nvPr/>
        </p:nvSpPr>
        <p:spPr>
          <a:xfrm>
            <a:off x="6035040" y="4937760"/>
            <a:ext cx="5669280" cy="1005840"/>
          </a:xfrm>
          <a:prstGeom prst="rect">
            <a:avLst/>
          </a:prstGeom>
          <a:noFill/>
        </p:spPr>
        <p:txBody>
          <a:bodyPr wrap="square" lIns="45720" rIns="45720">
            <a:spAutoFit/>
          </a:bodyPr>
          <a:lstStyle/>
          <a:p>
            <a:pPr marL="256032" indent="-219456">
              <a:spcAft>
                <a:spcPts val="600"/>
              </a:spcAft>
              <a:buFont typeface="Arial"/>
              <a:buChar char="•"/>
            </a:pPr>
            <a:r>
              <a:rPr b="0" sz="1300">
                <a:solidFill>
                  <a:srgbClr val="5F6B7A"/>
                </a:solidFill>
                <a:latin typeface="Calibri"/>
              </a:rPr>
              <a:t>Versión anterior guardada: rama </a:t>
            </a:r>
            <a:r>
              <a:rPr b="0" sz="1300">
                <a:solidFill>
                  <a:srgbClr val="0E6E63"/>
                </a:solidFill>
                <a:latin typeface="Consolas"/>
              </a:rPr>
              <a:t>rrc-asimetrico</a:t>
            </a:r>
            <a:r>
              <a:rPr b="0" sz="1300">
                <a:solidFill>
                  <a:srgbClr val="5F6B7A"/>
                </a:solidFill>
                <a:latin typeface="Calibri"/>
              </a:rPr>
              <a:t>, tag </a:t>
            </a:r>
            <a:r>
              <a:rPr b="0" sz="1300">
                <a:solidFill>
                  <a:srgbClr val="0E6E63"/>
                </a:solidFill>
                <a:latin typeface="Consolas"/>
              </a:rPr>
              <a:t>v0-rrc-asimetrico</a:t>
            </a:r>
            <a:r>
              <a:rPr b="0" sz="1300">
                <a:solidFill>
                  <a:srgbClr val="5F6B7A"/>
                </a:solidFill>
                <a:latin typeface="Calibri"/>
              </a:rPr>
              <a:t>.</a:t>
            </a:r>
          </a:p>
          <a:p>
            <a:pPr marL="256032" indent="-219456">
              <a:spcAft>
                <a:spcPts val="600"/>
              </a:spcAft>
              <a:buFont typeface="Arial"/>
              <a:buChar char="•"/>
            </a:pPr>
            <a:r>
              <a:rPr b="0" sz="1300">
                <a:solidFill>
                  <a:srgbClr val="5F6B7A"/>
                </a:solidFill>
                <a:latin typeface="Calibri"/>
              </a:rPr>
              <a:t>Seleccionable con </a:t>
            </a:r>
            <a:r>
              <a:rPr b="0" sz="1300">
                <a:solidFill>
                  <a:srgbClr val="0E6E63"/>
                </a:solidFill>
                <a:latin typeface="Consolas"/>
              </a:rPr>
              <a:t>RRC_SYMMETRIC = False</a:t>
            </a:r>
            <a:r>
              <a:rPr b="0" sz="1300">
                <a:solidFill>
                  <a:srgbClr val="5F6B7A"/>
                </a:solidFill>
                <a:latin typeface="Calibri"/>
              </a:rPr>
              <a:t> en </a:t>
            </a:r>
            <a:r>
              <a:rPr b="0" sz="1300">
                <a:solidFill>
                  <a:srgbClr val="0E6E63"/>
                </a:solidFill>
                <a:latin typeface="Consolas"/>
              </a:rPr>
              <a:t>config.py</a:t>
            </a:r>
            <a:r>
              <a:rPr b="0" sz="1300">
                <a:solidFill>
                  <a:srgbClr val="5F6B7A"/>
                </a:solidFill>
                <a:latin typeface="Calibri"/>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Código: signals.py — de bits a x[n]</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2 · El filtro RRC</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13</a:t>
            </a:r>
          </a:p>
        </p:txBody>
      </p:sp>
      <p:sp>
        <p:nvSpPr>
          <p:cNvPr id="6" name="Rectangle 5"/>
          <p:cNvSpPr/>
          <p:nvPr/>
        </p:nvSpPr>
        <p:spPr>
          <a:xfrm>
            <a:off x="548640" y="1280160"/>
            <a:ext cx="7589520" cy="4846320"/>
          </a:xfrm>
          <a:prstGeom prst="rect">
            <a:avLst/>
          </a:prstGeom>
          <a:solidFill>
            <a:srgbClr val="F3F5F8"/>
          </a:solidFill>
          <a:ln>
            <a:solidFill>
              <a:srgbClr val="D5DB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a:lstStyle/>
          <a:p>
            <a:pPr algn="l">
              <a:spcAft>
                <a:spcPts val="0"/>
              </a:spcAft>
            </a:pPr>
            <a:r>
              <a:rPr sz="1200">
                <a:solidFill>
                  <a:srgbClr val="222831"/>
                </a:solidFill>
                <a:latin typeface="Consolas"/>
              </a:rPr>
              <a:t>def rrcos(beta, os, n_taps, symmetric=True):</a:t>
            </a:r>
          </a:p>
          <a:p>
            <a:pPr algn="l">
              <a:spcAft>
                <a:spcPts val="0"/>
              </a:spcAft>
            </a:pPr>
            <a:r>
              <a:rPr sz="1200">
                <a:solidFill>
                  <a:srgbClr val="222831"/>
                </a:solidFill>
                <a:latin typeface="Consolas"/>
              </a:rPr>
              <a:t>    if symmetric:                         </a:t>
            </a:r>
            <a:r>
              <a:rPr sz="1200">
                <a:solidFill>
                  <a:srgbClr val="4E7D5B"/>
                </a:solidFill>
                <a:latin typeface="Consolas"/>
              </a:rPr>
              <a:t># t = (n - 3.5)/2  [en T]</a:t>
            </a:r>
          </a:p>
          <a:p>
            <a:pPr algn="l">
              <a:spcAft>
                <a:spcPts val="0"/>
              </a:spcAft>
            </a:pPr>
            <a:r>
              <a:rPr sz="1200">
                <a:solidFill>
                  <a:srgbClr val="222831"/>
                </a:solidFill>
                <a:latin typeface="Consolas"/>
              </a:rPr>
              <a:t>        t = (np.arange(n_taps) - (n_taps - 1) / 2) / os</a:t>
            </a:r>
          </a:p>
          <a:p>
            <a:pPr algn="l">
              <a:spcAft>
                <a:spcPts val="0"/>
              </a:spcAft>
            </a:pPr>
            <a:r>
              <a:rPr sz="1200">
                <a:solidFill>
                  <a:srgbClr val="222831"/>
                </a:solidFill>
                <a:latin typeface="Consolas"/>
              </a:rPr>
              <a:t>    else:                                 </a:t>
            </a:r>
            <a:r>
              <a:rPr sz="1200">
                <a:solidFill>
                  <a:srgbClr val="4E7D5B"/>
                </a:solidFill>
                <a:latin typeface="Consolas"/>
              </a:rPr>
              <a:t># version anterior</a:t>
            </a:r>
          </a:p>
          <a:p>
            <a:pPr algn="l">
              <a:spcAft>
                <a:spcPts val="0"/>
              </a:spcAft>
            </a:pPr>
            <a:r>
              <a:rPr sz="1200">
                <a:solidFill>
                  <a:srgbClr val="222831"/>
                </a:solidFill>
                <a:latin typeface="Consolas"/>
              </a:rPr>
              <a:t>        t = np.arange(-n_taps // 2, n_taps - n_taps // 2) / os</a:t>
            </a:r>
          </a:p>
          <a:p>
            <a:pPr algn="l">
              <a:spcAft>
                <a:spcPts val="0"/>
              </a:spcAft>
            </a:pPr>
            <a:r>
              <a:rPr sz="1200">
                <a:solidFill>
                  <a:srgbClr val="222831"/>
                </a:solidFill>
                <a:latin typeface="Consolas"/>
              </a:rPr>
              <a:t>    ...                                   </a:t>
            </a:r>
            <a:r>
              <a:rPr sz="1200">
                <a:solidFill>
                  <a:srgbClr val="4E7D5B"/>
                </a:solidFill>
                <a:latin typeface="Consolas"/>
              </a:rPr>
              <a:t># formula cerrada + casos limite</a:t>
            </a:r>
          </a:p>
          <a:p>
            <a:pPr algn="l">
              <a:spcAft>
                <a:spcPts val="0"/>
              </a:spcAft>
            </a:pPr>
          </a:p>
          <a:p>
            <a:pPr algn="l">
              <a:spcAft>
                <a:spcPts val="0"/>
              </a:spcAft>
            </a:pPr>
            <a:r>
              <a:rPr sz="1200">
                <a:solidFill>
                  <a:srgbClr val="222831"/>
                </a:solidFill>
                <a:latin typeface="Consolas"/>
              </a:rPr>
              <a:t>def normalize_taps(h, n_fft):</a:t>
            </a:r>
          </a:p>
          <a:p>
            <a:pPr algn="l">
              <a:spcAft>
                <a:spcPts val="0"/>
              </a:spcAft>
            </a:pPr>
            <a:r>
              <a:rPr sz="1200">
                <a:solidFill>
                  <a:srgbClr val="222831"/>
                </a:solidFill>
                <a:latin typeface="Consolas"/>
              </a:rPr>
              <a:t>    return h / np.max(np.abs(np.fft.fft(h, n_fft)))   </a:t>
            </a:r>
            <a:r>
              <a:rPr sz="1200">
                <a:solidFill>
                  <a:srgbClr val="4E7D5B"/>
                </a:solidFill>
                <a:latin typeface="Consolas"/>
              </a:rPr>
              <a:t># max|H[k]| = 1</a:t>
            </a:r>
          </a:p>
          <a:p>
            <a:pPr algn="l">
              <a:spcAft>
                <a:spcPts val="0"/>
              </a:spcAft>
            </a:pPr>
          </a:p>
          <a:p>
            <a:pPr algn="l">
              <a:spcAft>
                <a:spcPts val="0"/>
              </a:spcAft>
            </a:pPr>
            <a:r>
              <a:rPr sz="1200">
                <a:solidFill>
                  <a:srgbClr val="222831"/>
                </a:solidFill>
                <a:latin typeface="Consolas"/>
              </a:rPr>
              <a:t>def qpsk_symbols(n, rng):</a:t>
            </a:r>
          </a:p>
          <a:p>
            <a:pPr algn="l">
              <a:spcAft>
                <a:spcPts val="0"/>
              </a:spcAft>
            </a:pPr>
            <a:r>
              <a:rPr sz="1200">
                <a:solidFill>
                  <a:srgbClr val="222831"/>
                </a:solidFill>
                <a:latin typeface="Consolas"/>
              </a:rPr>
              <a:t>    re = 2 * rng.integers(0, 2, n) - 1    </a:t>
            </a:r>
            <a:r>
              <a:rPr sz="1200">
                <a:solidFill>
                  <a:srgbClr val="4E7D5B"/>
                </a:solidFill>
                <a:latin typeface="Consolas"/>
              </a:rPr>
              <a:t># bit -&gt; +-1</a:t>
            </a:r>
          </a:p>
          <a:p>
            <a:pPr algn="l">
              <a:spcAft>
                <a:spcPts val="0"/>
              </a:spcAft>
            </a:pPr>
            <a:r>
              <a:rPr sz="1200">
                <a:solidFill>
                  <a:srgbClr val="222831"/>
                </a:solidFill>
                <a:latin typeface="Consolas"/>
              </a:rPr>
              <a:t>    im = 2 * rng.integers(0, 2, n) - 1</a:t>
            </a:r>
          </a:p>
          <a:p>
            <a:pPr algn="l">
              <a:spcAft>
                <a:spcPts val="0"/>
              </a:spcAft>
            </a:pPr>
            <a:r>
              <a:rPr sz="1200">
                <a:solidFill>
                  <a:srgbClr val="222831"/>
                </a:solidFill>
                <a:latin typeface="Consolas"/>
              </a:rPr>
              <a:t>    return re + 1j * im                   </a:t>
            </a:r>
            <a:r>
              <a:rPr sz="1200">
                <a:solidFill>
                  <a:srgbClr val="4E7D5B"/>
                </a:solidFill>
                <a:latin typeface="Consolas"/>
              </a:rPr>
              <a:t># +-1 +- j</a:t>
            </a:r>
          </a:p>
          <a:p>
            <a:pPr algn="l">
              <a:spcAft>
                <a:spcPts val="0"/>
              </a:spcAft>
            </a:pPr>
          </a:p>
          <a:p>
            <a:pPr algn="l">
              <a:spcAft>
                <a:spcPts val="0"/>
              </a:spcAft>
            </a:pPr>
            <a:r>
              <a:rPr sz="1200">
                <a:solidFill>
                  <a:srgbClr val="222831"/>
                </a:solidFill>
                <a:latin typeface="Consolas"/>
              </a:rPr>
              <a:t>def upsample(sym, os):</a:t>
            </a:r>
          </a:p>
          <a:p>
            <a:pPr algn="l">
              <a:spcAft>
                <a:spcPts val="0"/>
              </a:spcAft>
            </a:pPr>
            <a:r>
              <a:rPr sz="1200">
                <a:solidFill>
                  <a:srgbClr val="222831"/>
                </a:solidFill>
                <a:latin typeface="Consolas"/>
              </a:rPr>
              <a:t>    x = np.zeros(len(sym) * os, dtype=complex)</a:t>
            </a:r>
          </a:p>
          <a:p>
            <a:pPr algn="l">
              <a:spcAft>
                <a:spcPts val="0"/>
              </a:spcAft>
            </a:pPr>
            <a:r>
              <a:rPr sz="1200">
                <a:solidFill>
                  <a:srgbClr val="222831"/>
                </a:solidFill>
                <a:latin typeface="Consolas"/>
              </a:rPr>
              <a:t>    x[::os] = sym                         </a:t>
            </a:r>
            <a:r>
              <a:rPr sz="1200">
                <a:solidFill>
                  <a:srgbClr val="4E7D5B"/>
                </a:solidFill>
                <a:latin typeface="Consolas"/>
              </a:rPr>
              <a:t># simbolo, 0, simbolo, 0, ...</a:t>
            </a:r>
          </a:p>
          <a:p>
            <a:pPr algn="l">
              <a:spcAft>
                <a:spcPts val="0"/>
              </a:spcAft>
            </a:pPr>
            <a:r>
              <a:rPr sz="1200">
                <a:solidFill>
                  <a:srgbClr val="222831"/>
                </a:solidFill>
                <a:latin typeface="Consolas"/>
              </a:rPr>
              <a:t>    return x</a:t>
            </a:r>
          </a:p>
        </p:txBody>
      </p:sp>
      <p:sp>
        <p:nvSpPr>
          <p:cNvPr id="7" name="TextBox 6"/>
          <p:cNvSpPr txBox="1"/>
          <p:nvPr/>
        </p:nvSpPr>
        <p:spPr>
          <a:xfrm>
            <a:off x="8366760" y="1325880"/>
            <a:ext cx="3383280" cy="4572000"/>
          </a:xfrm>
          <a:prstGeom prst="rect">
            <a:avLst/>
          </a:prstGeom>
          <a:noFill/>
        </p:spPr>
        <p:txBody>
          <a:bodyPr wrap="square" lIns="45720" rIns="45720">
            <a:spAutoFit/>
          </a:bodyPr>
          <a:lstStyle/>
          <a:p>
            <a:pPr marL="256032" indent="-219456">
              <a:spcAft>
                <a:spcPts val="600"/>
              </a:spcAft>
              <a:buFont typeface="Arial"/>
              <a:buChar char="•"/>
            </a:pPr>
            <a:r>
              <a:rPr b="1" sz="1500">
                <a:solidFill>
                  <a:srgbClr val="1F3A5F"/>
                </a:solidFill>
                <a:latin typeface="Calibri"/>
              </a:rPr>
              <a:t>rrcos</a:t>
            </a:r>
            <a:r>
              <a:rPr b="0" sz="1500">
                <a:solidFill>
                  <a:srgbClr val="222831"/>
                </a:solidFill>
                <a:latin typeface="Calibri"/>
              </a:rPr>
              <a:t>: eje de tiempo + fórmula del RRC.</a:t>
            </a:r>
          </a:p>
          <a:p>
            <a:pPr marL="256032" indent="-219456">
              <a:spcAft>
                <a:spcPts val="600"/>
              </a:spcAft>
              <a:buFont typeface="Arial"/>
              <a:buChar char="•"/>
            </a:pPr>
            <a:r>
              <a:rPr b="1" sz="1500">
                <a:solidFill>
                  <a:srgbClr val="1F3A5F"/>
                </a:solidFill>
                <a:latin typeface="Calibri"/>
              </a:rPr>
              <a:t>normalize_taps</a:t>
            </a:r>
            <a:r>
              <a:rPr b="0" sz="1500">
                <a:solidFill>
                  <a:srgbClr val="222831"/>
                </a:solidFill>
                <a:latin typeface="Calibri"/>
              </a:rPr>
              <a:t>: max|H[k]| = 1.</a:t>
            </a:r>
          </a:p>
          <a:p>
            <a:pPr marL="256032" indent="-219456">
              <a:spcAft>
                <a:spcPts val="600"/>
              </a:spcAft>
              <a:buFont typeface="Arial"/>
              <a:buChar char="•"/>
            </a:pPr>
            <a:r>
              <a:rPr b="1" sz="1500">
                <a:solidFill>
                  <a:srgbClr val="1F3A5F"/>
                </a:solidFill>
                <a:latin typeface="Calibri"/>
              </a:rPr>
              <a:t>qpsk_symbols</a:t>
            </a:r>
            <a:r>
              <a:rPr b="0" sz="1500">
                <a:solidFill>
                  <a:srgbClr val="222831"/>
                </a:solidFill>
                <a:latin typeface="Calibri"/>
              </a:rPr>
              <a:t>: bit → 2·bit − 1, independiente en I y Q.</a:t>
            </a:r>
          </a:p>
          <a:p>
            <a:pPr marL="256032" indent="-219456">
              <a:spcAft>
                <a:spcPts val="600"/>
              </a:spcAft>
              <a:buFont typeface="Arial"/>
              <a:buChar char="•"/>
            </a:pPr>
            <a:r>
              <a:rPr b="1" sz="1500">
                <a:solidFill>
                  <a:srgbClr val="1F3A5F"/>
                </a:solidFill>
                <a:latin typeface="Calibri"/>
              </a:rPr>
              <a:t>upsample</a:t>
            </a:r>
            <a:r>
              <a:rPr b="0" sz="1500">
                <a:solidFill>
                  <a:srgbClr val="222831"/>
                </a:solidFill>
                <a:latin typeface="Calibri"/>
              </a:rPr>
              <a:t>: expansor ↑2, un cero entre símbolos.</a:t>
            </a:r>
          </a:p>
          <a:p>
            <a:pPr marL="256032" indent="-219456">
              <a:spcAft>
                <a:spcPts val="600"/>
              </a:spcAft>
              <a:buFont typeface="Arial"/>
              <a:buChar char="•"/>
            </a:pPr>
            <a:r>
              <a:rPr b="0" sz="1500">
                <a:solidFill>
                  <a:srgbClr val="222831"/>
                </a:solidFill>
                <a:latin typeface="Calibri"/>
              </a:rPr>
              <a:t>Ejemplo: símbolos 1+j, −1+j → x = [1+j, 0, −1+j, 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822960" y="2103120"/>
            <a:ext cx="10515600" cy="914400"/>
          </a:xfrm>
          <a:prstGeom prst="rect">
            <a:avLst/>
          </a:prstGeom>
          <a:noFill/>
        </p:spPr>
        <p:txBody>
          <a:bodyPr wrap="square" lIns="45720" rIns="45720">
            <a:spAutoFit/>
          </a:bodyPr>
          <a:lstStyle/>
          <a:p>
            <a:pPr>
              <a:spcAft>
                <a:spcPts val="600"/>
              </a:spcAft>
            </a:pPr>
            <a:r>
              <a:rPr b="0" sz="5400">
                <a:solidFill>
                  <a:srgbClr val="1A9E8F"/>
                </a:solidFill>
                <a:latin typeface="Calibri"/>
              </a:rPr>
              <a:t>3</a:t>
            </a:r>
          </a:p>
        </p:txBody>
      </p:sp>
      <p:sp>
        <p:nvSpPr>
          <p:cNvPr id="3" name="TextBox 2"/>
          <p:cNvSpPr txBox="1"/>
          <p:nvPr/>
        </p:nvSpPr>
        <p:spPr>
          <a:xfrm>
            <a:off x="822960" y="3017520"/>
            <a:ext cx="10515600" cy="914400"/>
          </a:xfrm>
          <a:prstGeom prst="rect">
            <a:avLst/>
          </a:prstGeom>
          <a:noFill/>
        </p:spPr>
        <p:txBody>
          <a:bodyPr wrap="square" lIns="45720" rIns="45720">
            <a:spAutoFit/>
          </a:bodyPr>
          <a:lstStyle/>
          <a:p>
            <a:pPr>
              <a:spcAft>
                <a:spcPts val="600"/>
              </a:spcAft>
            </a:pPr>
            <a:r>
              <a:rPr b="0" sz="4000">
                <a:solidFill>
                  <a:srgbClr val="FFFFFF"/>
                </a:solidFill>
                <a:latin typeface="Calibri"/>
              </a:rPr>
              <a:t>Fundamento en frecuencia</a:t>
            </a:r>
          </a:p>
        </p:txBody>
      </p:sp>
      <p:sp>
        <p:nvSpPr>
          <p:cNvPr id="4" name="TextBox 3"/>
          <p:cNvSpPr txBox="1"/>
          <p:nvPr/>
        </p:nvSpPr>
        <p:spPr>
          <a:xfrm>
            <a:off x="822960" y="3931920"/>
            <a:ext cx="10515600" cy="914400"/>
          </a:xfrm>
          <a:prstGeom prst="rect">
            <a:avLst/>
          </a:prstGeom>
          <a:noFill/>
        </p:spPr>
        <p:txBody>
          <a:bodyPr wrap="square" lIns="45720" rIns="45720">
            <a:spAutoFit/>
          </a:bodyPr>
          <a:lstStyle/>
          <a:p>
            <a:pPr>
              <a:spcAft>
                <a:spcPts val="600"/>
              </a:spcAft>
            </a:pPr>
            <a:r>
              <a:rPr b="0" sz="2000">
                <a:solidFill>
                  <a:srgbClr val="C8D3E0"/>
                </a:solidFill>
                <a:latin typeface="Calibri"/>
              </a:rPr>
              <a:t>De la convolución al producto, y el método overlap-save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Convolución en el tiempo = producto en frecuencia</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3 · Fundamento en frecuencia</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15</a:t>
            </a:r>
          </a:p>
        </p:txBody>
      </p:sp>
      <p:sp>
        <p:nvSpPr>
          <p:cNvPr id="6" name="TextBox 5"/>
          <p:cNvSpPr txBox="1"/>
          <p:nvPr/>
        </p:nvSpPr>
        <p:spPr>
          <a:xfrm>
            <a:off x="548640" y="1280160"/>
            <a:ext cx="11155680" cy="2103120"/>
          </a:xfrm>
          <a:prstGeom prst="rect">
            <a:avLst/>
          </a:prstGeom>
          <a:noFill/>
        </p:spPr>
        <p:txBody>
          <a:bodyPr wrap="square" lIns="45720" rIns="45720">
            <a:spAutoFit/>
          </a:bodyPr>
          <a:lstStyle/>
          <a:p>
            <a:pPr marL="256032" indent="-219456">
              <a:spcAft>
                <a:spcPts val="600"/>
              </a:spcAft>
              <a:buFont typeface="Arial"/>
              <a:buChar char="•"/>
            </a:pPr>
            <a:r>
              <a:rPr b="0" sz="1600">
                <a:solidFill>
                  <a:srgbClr val="222831"/>
                </a:solidFill>
                <a:latin typeface="Calibri"/>
              </a:rPr>
              <a:t>FIR: </a:t>
            </a:r>
            <a:r>
              <a:rPr b="1" sz="1600">
                <a:solidFill>
                  <a:srgbClr val="1F3A5F"/>
                </a:solidFill>
                <a:latin typeface="Calibri"/>
              </a:rPr>
              <a:t>y[n] = Σₖ h[k] · x[n − k]</a:t>
            </a:r>
            <a:r>
              <a:rPr b="0" sz="1600">
                <a:solidFill>
                  <a:srgbClr val="222831"/>
                </a:solidFill>
                <a:latin typeface="Calibri"/>
              </a:rPr>
              <a:t>, k = 0..7 → 8 multiplicaciones por muestra y por componente.</a:t>
            </a:r>
          </a:p>
          <a:p>
            <a:pPr marL="256032" indent="-219456">
              <a:spcAft>
                <a:spcPts val="600"/>
              </a:spcAft>
              <a:buFont typeface="Arial"/>
              <a:buChar char="•"/>
            </a:pPr>
            <a:r>
              <a:rPr b="0" sz="1600">
                <a:solidFill>
                  <a:srgbClr val="222831"/>
                </a:solidFill>
                <a:latin typeface="Calibri"/>
              </a:rPr>
              <a:t>Teorema de convolución: </a:t>
            </a:r>
            <a:r>
              <a:rPr b="1" sz="1600">
                <a:solidFill>
                  <a:srgbClr val="1F3A5F"/>
                </a:solidFill>
                <a:latin typeface="Calibri"/>
              </a:rPr>
              <a:t>y = x ∗ h  ⇔  Y(f) = X(f) · H(f)</a:t>
            </a:r>
            <a:r>
              <a:rPr b="0" sz="1600">
                <a:solidFill>
                  <a:srgbClr val="222831"/>
                </a:solidFill>
                <a:latin typeface="Calibri"/>
              </a:rPr>
              <a:t>.</a:t>
            </a:r>
          </a:p>
          <a:p>
            <a:pPr marL="256032" indent="-219456">
              <a:spcAft>
                <a:spcPts val="600"/>
              </a:spcAft>
              <a:buFont typeface="Arial"/>
              <a:buChar char="•"/>
            </a:pPr>
            <a:r>
              <a:rPr b="0" sz="1600">
                <a:solidFill>
                  <a:srgbClr val="222831"/>
                </a:solidFill>
                <a:latin typeface="Calibri"/>
              </a:rPr>
              <a:t>Pero la DFT de N puntos asume señales </a:t>
            </a:r>
            <a:r>
              <a:rPr b="1" sz="1600">
                <a:solidFill>
                  <a:srgbClr val="1F3A5F"/>
                </a:solidFill>
                <a:latin typeface="Calibri"/>
              </a:rPr>
              <a:t>periódicas</a:t>
            </a:r>
            <a:r>
              <a:rPr b="0" sz="1600">
                <a:solidFill>
                  <a:srgbClr val="222831"/>
                </a:solidFill>
                <a:latin typeface="Calibri"/>
              </a:rPr>
              <a:t> → IFFT(FFT(x)·FFT(h)) es una convolución </a:t>
            </a:r>
            <a:r>
              <a:rPr b="1" sz="1600">
                <a:solidFill>
                  <a:srgbClr val="1F3A5F"/>
                </a:solidFill>
                <a:latin typeface="Calibri"/>
              </a:rPr>
              <a:t>circular</a:t>
            </a:r>
            <a:r>
              <a:rPr b="0" sz="1600">
                <a:solidFill>
                  <a:srgbClr val="222831"/>
                </a:solidFill>
                <a:latin typeface="Calibri"/>
              </a:rPr>
              <a:t>.</a:t>
            </a:r>
          </a:p>
          <a:p>
            <a:pPr marL="256032" indent="-219456">
              <a:spcAft>
                <a:spcPts val="600"/>
              </a:spcAft>
              <a:buFont typeface="Arial"/>
              <a:buChar char="•"/>
            </a:pPr>
            <a:r>
              <a:rPr b="0" sz="1600">
                <a:solidFill>
                  <a:srgbClr val="222831"/>
                </a:solidFill>
                <a:latin typeface="Calibri"/>
              </a:rPr>
              <a:t>Circular = lineal + </a:t>
            </a:r>
            <a:r>
              <a:rPr b="1" sz="1600">
                <a:solidFill>
                  <a:srgbClr val="1F3A5F"/>
                </a:solidFill>
                <a:latin typeface="Calibri"/>
              </a:rPr>
              <a:t>aliasing</a:t>
            </a:r>
            <a:r>
              <a:rPr b="0" sz="1600">
                <a:solidFill>
                  <a:srgbClr val="222831"/>
                </a:solidFill>
                <a:latin typeface="Calibri"/>
              </a:rPr>
              <a:t>: la cola (M − 1 = 7 muestras) se "envuelve" al principio del bloque.</a:t>
            </a:r>
          </a:p>
        </p:txBody>
      </p:sp>
      <p:pic>
        <p:nvPicPr>
          <p:cNvPr id="7" name="Picture 6" descr="circular_vs_lineal.png"/>
          <p:cNvPicPr>
            <a:picLocks noChangeAspect="1"/>
          </p:cNvPicPr>
          <p:nvPr/>
        </p:nvPicPr>
        <p:blipFill>
          <a:blip r:embed="rId3"/>
          <a:stretch>
            <a:fillRect/>
          </a:stretch>
        </p:blipFill>
        <p:spPr>
          <a:xfrm>
            <a:off x="1600200" y="3154680"/>
            <a:ext cx="8961120" cy="313639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H[k]: el filtro visto por la FFT</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3 · Fundamento en frecuencia</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16</a:t>
            </a:r>
          </a:p>
        </p:txBody>
      </p:sp>
      <p:pic>
        <p:nvPicPr>
          <p:cNvPr id="6" name="Picture 5" descr="H_bins.png"/>
          <p:cNvPicPr>
            <a:picLocks noChangeAspect="1"/>
          </p:cNvPicPr>
          <p:nvPr/>
        </p:nvPicPr>
        <p:blipFill>
          <a:blip r:embed="rId3"/>
          <a:stretch>
            <a:fillRect/>
          </a:stretch>
        </p:blipFill>
        <p:spPr>
          <a:xfrm>
            <a:off x="548640" y="1234440"/>
            <a:ext cx="7498079" cy="2590245"/>
          </a:xfrm>
          <a:prstGeom prst="rect">
            <a:avLst/>
          </a:prstGeom>
        </p:spPr>
      </p:pic>
      <p:sp>
        <p:nvSpPr>
          <p:cNvPr id="7" name="TextBox 6"/>
          <p:cNvSpPr txBox="1"/>
          <p:nvPr/>
        </p:nvSpPr>
        <p:spPr>
          <a:xfrm>
            <a:off x="8275320" y="1325880"/>
            <a:ext cx="3474720" cy="4754880"/>
          </a:xfrm>
          <a:prstGeom prst="rect">
            <a:avLst/>
          </a:prstGeom>
          <a:noFill/>
        </p:spPr>
        <p:txBody>
          <a:bodyPr wrap="square" lIns="45720" rIns="45720">
            <a:spAutoFit/>
          </a:bodyPr>
          <a:lstStyle/>
          <a:p>
            <a:pPr marL="256032" indent="-219456">
              <a:spcAft>
                <a:spcPts val="600"/>
              </a:spcAft>
              <a:buFont typeface="Arial"/>
              <a:buChar char="•"/>
            </a:pPr>
            <a:r>
              <a:rPr b="1" sz="1500">
                <a:solidFill>
                  <a:srgbClr val="1F3A5F"/>
                </a:solidFill>
                <a:latin typeface="Calibri"/>
              </a:rPr>
              <a:t>H[k] = FFT16(h, 8 ceros)</a:t>
            </a:r>
            <a:r>
              <a:rPr b="0" sz="1500">
                <a:solidFill>
                  <a:srgbClr val="222831"/>
                </a:solidFill>
                <a:latin typeface="Calibri"/>
              </a:rPr>
              <a:t>.</a:t>
            </a:r>
          </a:p>
          <a:p>
            <a:pPr marL="256032" indent="-219456">
              <a:spcAft>
                <a:spcPts val="600"/>
              </a:spcAft>
              <a:buFont typeface="Arial"/>
              <a:buChar char="•"/>
            </a:pPr>
            <a:r>
              <a:rPr b="0" sz="1500">
                <a:solidFill>
                  <a:srgbClr val="222831"/>
                </a:solidFill>
                <a:latin typeface="Calibri"/>
              </a:rPr>
              <a:t>Bin k ↔ f = k · fs/16 = k/(8T).</a:t>
            </a:r>
          </a:p>
          <a:p>
            <a:pPr marL="548640" indent="-219456">
              <a:spcAft>
                <a:spcPts val="600"/>
              </a:spcAft>
              <a:buFont typeface="Arial"/>
              <a:buChar char="–"/>
            </a:pPr>
            <a:r>
              <a:rPr b="0" sz="1300">
                <a:solidFill>
                  <a:srgbClr val="5F6B7A"/>
                </a:solidFill>
                <a:latin typeface="Calibri"/>
              </a:rPr>
              <a:t>k = 0..2: banda pasante</a:t>
            </a:r>
          </a:p>
          <a:p>
            <a:pPr marL="548640" indent="-219456">
              <a:spcAft>
                <a:spcPts val="600"/>
              </a:spcAft>
              <a:buFont typeface="Arial"/>
              <a:buChar char="–"/>
            </a:pPr>
            <a:r>
              <a:rPr b="0" sz="1300">
                <a:solidFill>
                  <a:srgbClr val="5F6B7A"/>
                </a:solidFill>
                <a:latin typeface="Calibri"/>
              </a:rPr>
              <a:t>k = 2..6: transición</a:t>
            </a:r>
          </a:p>
          <a:p>
            <a:pPr marL="548640" indent="-219456">
              <a:spcAft>
                <a:spcPts val="600"/>
              </a:spcAft>
              <a:buFont typeface="Arial"/>
              <a:buChar char="–"/>
            </a:pPr>
            <a:r>
              <a:rPr b="0" sz="1300">
                <a:solidFill>
                  <a:srgbClr val="5F6B7A"/>
                </a:solidFill>
                <a:latin typeface="Calibri"/>
              </a:rPr>
              <a:t>k = 7..9: rechazo</a:t>
            </a:r>
          </a:p>
          <a:p>
            <a:pPr marL="548640" indent="-219456">
              <a:spcAft>
                <a:spcPts val="600"/>
              </a:spcAft>
              <a:buFont typeface="Arial"/>
              <a:buChar char="–"/>
            </a:pPr>
            <a:r>
              <a:rPr b="0" sz="1300">
                <a:solidFill>
                  <a:srgbClr val="5F6B7A"/>
                </a:solidFill>
                <a:latin typeface="Calibri"/>
              </a:rPr>
              <a:t>k = 9..15: frecuencias negativas</a:t>
            </a:r>
          </a:p>
          <a:p>
            <a:pPr marL="256032" indent="-219456">
              <a:spcAft>
                <a:spcPts val="600"/>
              </a:spcAft>
              <a:buFont typeface="Arial"/>
              <a:buChar char="•"/>
            </a:pPr>
            <a:r>
              <a:rPr b="0" sz="1500">
                <a:solidFill>
                  <a:srgbClr val="222831"/>
                </a:solidFill>
                <a:latin typeface="Calibri"/>
              </a:rPr>
              <a:t>Se calcula </a:t>
            </a:r>
            <a:r>
              <a:rPr b="1" sz="1500">
                <a:solidFill>
                  <a:srgbClr val="1F3A5F"/>
                </a:solidFill>
                <a:latin typeface="Calibri"/>
              </a:rPr>
              <a:t>una vez</a:t>
            </a:r>
            <a:r>
              <a:rPr b="0" sz="1500">
                <a:solidFill>
                  <a:srgbClr val="222831"/>
                </a:solidFill>
                <a:latin typeface="Calibri"/>
              </a:rPr>
              <a:t> en Python y se guarda en una </a:t>
            </a:r>
            <a:r>
              <a:rPr b="1" sz="1500">
                <a:solidFill>
                  <a:srgbClr val="1F3A5F"/>
                </a:solidFill>
                <a:latin typeface="Calibri"/>
              </a:rPr>
              <a:t>ROM</a:t>
            </a:r>
            <a:r>
              <a:rPr b="0" sz="1500">
                <a:solidFill>
                  <a:srgbClr val="222831"/>
                </a:solidFill>
                <a:latin typeface="Calibri"/>
              </a:rPr>
              <a:t> (</a:t>
            </a:r>
            <a:r>
              <a:rPr b="0" sz="1500">
                <a:solidFill>
                  <a:srgbClr val="0E6E63"/>
                </a:solidFill>
                <a:latin typeface="Consolas"/>
              </a:rPr>
              <a:t>H.hex</a:t>
            </a:r>
            <a:r>
              <a:rPr b="0" sz="1500">
                <a:solidFill>
                  <a:srgbClr val="222831"/>
                </a:solidFill>
                <a:latin typeface="Calibri"/>
              </a:rPr>
              <a:t>).</a:t>
            </a:r>
          </a:p>
          <a:p>
            <a:pPr marL="256032" indent="-219456">
              <a:spcAft>
                <a:spcPts val="600"/>
              </a:spcAft>
              <a:buFont typeface="Arial"/>
              <a:buChar char="•"/>
            </a:pPr>
            <a:r>
              <a:rPr b="0" sz="1500">
                <a:solidFill>
                  <a:srgbClr val="222831"/>
                </a:solidFill>
                <a:latin typeface="Calibri"/>
              </a:rPr>
              <a:t>Se cuantiza </a:t>
            </a:r>
            <a:r>
              <a:rPr b="1" sz="1500">
                <a:solidFill>
                  <a:srgbClr val="1F3A5F"/>
                </a:solidFill>
                <a:latin typeface="Calibri"/>
              </a:rPr>
              <a:t>H ideal</a:t>
            </a:r>
            <a:r>
              <a:rPr b="0" sz="1500">
                <a:solidFill>
                  <a:srgbClr val="222831"/>
                </a:solidFill>
                <a:latin typeface="Calibri"/>
              </a:rPr>
              <a:t>, no FFT(h cuantizado) → una sola cuantización.</a:t>
            </a:r>
          </a:p>
        </p:txBody>
      </p:sp>
      <p:sp>
        <p:nvSpPr>
          <p:cNvPr id="8" name="Rectangle 7"/>
          <p:cNvSpPr/>
          <p:nvPr/>
        </p:nvSpPr>
        <p:spPr>
          <a:xfrm>
            <a:off x="548640" y="4389120"/>
            <a:ext cx="7498079" cy="164592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4389120"/>
            <a:ext cx="64008" cy="164592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4462272"/>
            <a:ext cx="7223759" cy="1508760"/>
          </a:xfrm>
          <a:prstGeom prst="rect">
            <a:avLst/>
          </a:prstGeom>
          <a:noFill/>
        </p:spPr>
        <p:txBody>
          <a:bodyPr wrap="square" lIns="45720" rIns="45720">
            <a:spAutoFit/>
          </a:bodyPr>
          <a:lstStyle/>
          <a:p>
            <a:pPr>
              <a:spcAft>
                <a:spcPts val="400"/>
              </a:spcAft>
            </a:pPr>
            <a:r>
              <a:rPr b="1" sz="1400">
                <a:solidFill>
                  <a:srgbClr val="1F3A5F"/>
                </a:solidFill>
                <a:latin typeface="Calibri"/>
              </a:rPr>
              <a:t>Filtrar = multiplicar bin a bin</a:t>
            </a:r>
          </a:p>
          <a:p>
            <a:pPr>
              <a:spcAft>
                <a:spcPts val="400"/>
              </a:spcAft>
            </a:pPr>
            <a:r>
              <a:rPr b="0" sz="1400">
                <a:solidFill>
                  <a:srgbClr val="222831"/>
                </a:solidFill>
                <a:latin typeface="Calibri"/>
              </a:rPr>
              <a:t>Y[k] = X[k] · H[k]: cada componente de frecuencia de la entrada se atenúa según |H[k]| y se rota según la fase de H[k]. Son 16 multiplicaciones complejas independientes → totalmente paralelizables.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Overlap-save, paso a paso</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3 · Fundamento en frecuencia</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17</a:t>
            </a:r>
          </a:p>
        </p:txBody>
      </p:sp>
      <p:sp>
        <p:nvSpPr>
          <p:cNvPr id="6" name="Rectangle 5"/>
          <p:cNvSpPr/>
          <p:nvPr/>
        </p:nvSpPr>
        <p:spPr>
          <a:xfrm>
            <a:off x="1463040" y="1371600"/>
            <a:ext cx="1417320" cy="502920"/>
          </a:xfrm>
          <a:prstGeom prst="rect">
            <a:avLst/>
          </a:prstGeom>
          <a:solidFill>
            <a:srgbClr val="F3F5F8"/>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222831"/>
                </a:solidFill>
                <a:latin typeface="Calibri"/>
              </a:rPr>
              <a:t>ceros</a:t>
            </a:r>
          </a:p>
        </p:txBody>
      </p:sp>
      <p:sp>
        <p:nvSpPr>
          <p:cNvPr id="7" name="Rectangle 6"/>
          <p:cNvSpPr/>
          <p:nvPr/>
        </p:nvSpPr>
        <p:spPr>
          <a:xfrm>
            <a:off x="2926080" y="1371600"/>
            <a:ext cx="1417320" cy="502920"/>
          </a:xfrm>
          <a:prstGeom prst="rect">
            <a:avLst/>
          </a:prstGeom>
          <a:solidFill>
            <a:srgbClr val="E6ECF4"/>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222831"/>
                </a:solidFill>
                <a:latin typeface="Calibri"/>
              </a:rPr>
              <a:t>A</a:t>
            </a:r>
          </a:p>
        </p:txBody>
      </p:sp>
      <p:sp>
        <p:nvSpPr>
          <p:cNvPr id="8" name="Rectangle 7"/>
          <p:cNvSpPr/>
          <p:nvPr/>
        </p:nvSpPr>
        <p:spPr>
          <a:xfrm>
            <a:off x="4389120" y="1371600"/>
            <a:ext cx="1417320" cy="502920"/>
          </a:xfrm>
          <a:prstGeom prst="rect">
            <a:avLst/>
          </a:prstGeom>
          <a:solidFill>
            <a:srgbClr val="E6ECF4"/>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222831"/>
                </a:solidFill>
                <a:latin typeface="Calibri"/>
              </a:rPr>
              <a:t>B</a:t>
            </a:r>
          </a:p>
        </p:txBody>
      </p:sp>
      <p:sp>
        <p:nvSpPr>
          <p:cNvPr id="9" name="Rectangle 8"/>
          <p:cNvSpPr/>
          <p:nvPr/>
        </p:nvSpPr>
        <p:spPr>
          <a:xfrm>
            <a:off x="5852160" y="1371600"/>
            <a:ext cx="1417320" cy="502920"/>
          </a:xfrm>
          <a:prstGeom prst="rect">
            <a:avLst/>
          </a:prstGeom>
          <a:solidFill>
            <a:srgbClr val="E6ECF4"/>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222831"/>
                </a:solidFill>
                <a:latin typeface="Calibri"/>
              </a:rPr>
              <a:t>C</a:t>
            </a:r>
          </a:p>
        </p:txBody>
      </p:sp>
      <p:sp>
        <p:nvSpPr>
          <p:cNvPr id="10" name="Rectangle 9"/>
          <p:cNvSpPr/>
          <p:nvPr/>
        </p:nvSpPr>
        <p:spPr>
          <a:xfrm>
            <a:off x="7315200" y="1371600"/>
            <a:ext cx="1417320" cy="502920"/>
          </a:xfrm>
          <a:prstGeom prst="rect">
            <a:avLst/>
          </a:prstGeom>
          <a:solidFill>
            <a:srgbClr val="E6ECF4"/>
          </a:solidFill>
          <a:ln w="15875">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222831"/>
                </a:solidFill>
                <a:latin typeface="Calibri"/>
              </a:rPr>
              <a:t>D</a:t>
            </a:r>
          </a:p>
        </p:txBody>
      </p:sp>
      <p:sp>
        <p:nvSpPr>
          <p:cNvPr id="11" name="TextBox 10"/>
          <p:cNvSpPr txBox="1"/>
          <p:nvPr/>
        </p:nvSpPr>
        <p:spPr>
          <a:xfrm>
            <a:off x="274320" y="1417320"/>
            <a:ext cx="1188720" cy="457200"/>
          </a:xfrm>
          <a:prstGeom prst="rect">
            <a:avLst/>
          </a:prstGeom>
          <a:noFill/>
        </p:spPr>
        <p:txBody>
          <a:bodyPr wrap="square" lIns="45720" rIns="45720">
            <a:spAutoFit/>
          </a:bodyPr>
          <a:lstStyle/>
          <a:p>
            <a:pPr>
              <a:spcAft>
                <a:spcPts val="600"/>
              </a:spcAft>
            </a:pPr>
            <a:r>
              <a:rPr b="0" sz="1500">
                <a:solidFill>
                  <a:srgbClr val="222831"/>
                </a:solidFill>
                <a:latin typeface="Calibri"/>
              </a:rPr>
              <a:t>x[n]:</a:t>
            </a:r>
          </a:p>
        </p:txBody>
      </p:sp>
      <p:sp>
        <p:nvSpPr>
          <p:cNvPr id="12" name="TextBox 11"/>
          <p:cNvSpPr txBox="1"/>
          <p:nvPr/>
        </p:nvSpPr>
        <p:spPr>
          <a:xfrm>
            <a:off x="8869680" y="1444752"/>
            <a:ext cx="3017520" cy="457200"/>
          </a:xfrm>
          <a:prstGeom prst="rect">
            <a:avLst/>
          </a:prstGeom>
          <a:noFill/>
        </p:spPr>
        <p:txBody>
          <a:bodyPr wrap="square" lIns="45720" rIns="45720">
            <a:spAutoFit/>
          </a:bodyPr>
          <a:lstStyle/>
          <a:p>
            <a:pPr>
              <a:spcAft>
                <a:spcPts val="600"/>
              </a:spcAft>
            </a:pPr>
            <a:r>
              <a:rPr b="0" sz="1300">
                <a:solidFill>
                  <a:srgbClr val="5F6B7A"/>
                </a:solidFill>
                <a:latin typeface="Calibri"/>
              </a:rPr>
              <a:t>tramos de L = 8 muestras</a:t>
            </a:r>
          </a:p>
        </p:txBody>
      </p:sp>
      <p:sp>
        <p:nvSpPr>
          <p:cNvPr id="13" name="Rectangle 12"/>
          <p:cNvSpPr/>
          <p:nvPr/>
        </p:nvSpPr>
        <p:spPr>
          <a:xfrm>
            <a:off x="1463040" y="2240280"/>
            <a:ext cx="1417320" cy="502920"/>
          </a:xfrm>
          <a:prstGeom prst="rect">
            <a:avLst/>
          </a:prstGeom>
          <a:solidFill>
            <a:srgbClr val="FCEEE0"/>
          </a:solidFill>
          <a:ln w="15875">
            <a:solidFill>
              <a:srgbClr val="E07A1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222831"/>
                </a:solidFill>
                <a:latin typeface="Calibri"/>
              </a:rPr>
              <a:t>ceros</a:t>
            </a:r>
          </a:p>
        </p:txBody>
      </p:sp>
      <p:sp>
        <p:nvSpPr>
          <p:cNvPr id="14" name="Rectangle 13"/>
          <p:cNvSpPr/>
          <p:nvPr/>
        </p:nvSpPr>
        <p:spPr>
          <a:xfrm>
            <a:off x="2926080" y="2240280"/>
            <a:ext cx="1417320" cy="502920"/>
          </a:xfrm>
          <a:prstGeom prst="rect">
            <a:avLst/>
          </a:prstGeom>
          <a:solidFill>
            <a:srgbClr val="E3F4F2"/>
          </a:solidFill>
          <a:ln w="15875">
            <a:solidFill>
              <a:srgbClr val="1A9E8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222831"/>
                </a:solidFill>
                <a:latin typeface="Calibri"/>
              </a:rPr>
              <a:t>A</a:t>
            </a:r>
          </a:p>
        </p:txBody>
      </p:sp>
      <p:sp>
        <p:nvSpPr>
          <p:cNvPr id="15" name="TextBox 14"/>
          <p:cNvSpPr txBox="1"/>
          <p:nvPr/>
        </p:nvSpPr>
        <p:spPr>
          <a:xfrm>
            <a:off x="274320" y="2286000"/>
            <a:ext cx="1188720" cy="457200"/>
          </a:xfrm>
          <a:prstGeom prst="rect">
            <a:avLst/>
          </a:prstGeom>
          <a:noFill/>
        </p:spPr>
        <p:txBody>
          <a:bodyPr wrap="square" lIns="45720" rIns="45720">
            <a:spAutoFit/>
          </a:bodyPr>
          <a:lstStyle/>
          <a:p>
            <a:pPr>
              <a:spcAft>
                <a:spcPts val="600"/>
              </a:spcAft>
            </a:pPr>
            <a:r>
              <a:rPr b="0" sz="1300">
                <a:solidFill>
                  <a:srgbClr val="5F6B7A"/>
                </a:solidFill>
                <a:latin typeface="Calibri"/>
              </a:rPr>
              <a:t>bloque 0</a:t>
            </a:r>
          </a:p>
        </p:txBody>
      </p:sp>
      <p:cxnSp>
        <p:nvCxnSpPr>
          <p:cNvPr id="16" name="Connector 15"/>
          <p:cNvCxnSpPr/>
          <p:nvPr/>
        </p:nvCxnSpPr>
        <p:spPr>
          <a:xfrm>
            <a:off x="4389120" y="2487168"/>
            <a:ext cx="292608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0" y="2194560"/>
            <a:ext cx="2103120" cy="5943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300">
                <a:solidFill>
                  <a:srgbClr val="FFFFFF"/>
                </a:solidFill>
                <a:latin typeface="Calibri"/>
              </a:rPr>
              <a:t>FFT → ×H → IFFT</a:t>
            </a:r>
          </a:p>
        </p:txBody>
      </p:sp>
      <p:cxnSp>
        <p:nvCxnSpPr>
          <p:cNvPr id="18" name="Connector 17"/>
          <p:cNvCxnSpPr/>
          <p:nvPr/>
        </p:nvCxnSpPr>
        <p:spPr>
          <a:xfrm>
            <a:off x="9418320" y="2487168"/>
            <a:ext cx="36576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9784080" y="2240280"/>
            <a:ext cx="868680" cy="502920"/>
          </a:xfrm>
          <a:prstGeom prst="rect">
            <a:avLst/>
          </a:prstGeom>
          <a:solidFill>
            <a:srgbClr val="F3F5F8"/>
          </a:solidFill>
          <a:ln w="15875">
            <a:solidFill>
              <a:srgbClr val="5F6B7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5F6B7A"/>
                </a:solidFill>
                <a:latin typeface="Calibri"/>
              </a:rPr>
              <a:t>✗</a:t>
            </a:r>
          </a:p>
        </p:txBody>
      </p:sp>
      <p:sp>
        <p:nvSpPr>
          <p:cNvPr id="20" name="Rectangle 19"/>
          <p:cNvSpPr/>
          <p:nvPr/>
        </p:nvSpPr>
        <p:spPr>
          <a:xfrm>
            <a:off x="10698480" y="2240280"/>
            <a:ext cx="1005840" cy="50292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A′</a:t>
            </a:r>
          </a:p>
        </p:txBody>
      </p:sp>
      <p:sp>
        <p:nvSpPr>
          <p:cNvPr id="21" name="Rectangle 20"/>
          <p:cNvSpPr/>
          <p:nvPr/>
        </p:nvSpPr>
        <p:spPr>
          <a:xfrm>
            <a:off x="2926080" y="3383280"/>
            <a:ext cx="1417320" cy="502920"/>
          </a:xfrm>
          <a:prstGeom prst="rect">
            <a:avLst/>
          </a:prstGeom>
          <a:solidFill>
            <a:srgbClr val="FCEEE0"/>
          </a:solidFill>
          <a:ln w="15875">
            <a:solidFill>
              <a:srgbClr val="E07A1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222831"/>
                </a:solidFill>
                <a:latin typeface="Calibri"/>
              </a:rPr>
              <a:t>A</a:t>
            </a:r>
          </a:p>
        </p:txBody>
      </p:sp>
      <p:sp>
        <p:nvSpPr>
          <p:cNvPr id="22" name="Rectangle 21"/>
          <p:cNvSpPr/>
          <p:nvPr/>
        </p:nvSpPr>
        <p:spPr>
          <a:xfrm>
            <a:off x="4389120" y="3383280"/>
            <a:ext cx="1417320" cy="502920"/>
          </a:xfrm>
          <a:prstGeom prst="rect">
            <a:avLst/>
          </a:prstGeom>
          <a:solidFill>
            <a:srgbClr val="E3F4F2"/>
          </a:solidFill>
          <a:ln w="15875">
            <a:solidFill>
              <a:srgbClr val="1A9E8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222831"/>
                </a:solidFill>
                <a:latin typeface="Calibri"/>
              </a:rPr>
              <a:t>B</a:t>
            </a:r>
          </a:p>
        </p:txBody>
      </p:sp>
      <p:sp>
        <p:nvSpPr>
          <p:cNvPr id="23" name="TextBox 22"/>
          <p:cNvSpPr txBox="1"/>
          <p:nvPr/>
        </p:nvSpPr>
        <p:spPr>
          <a:xfrm>
            <a:off x="274320" y="3429000"/>
            <a:ext cx="1188720" cy="457200"/>
          </a:xfrm>
          <a:prstGeom prst="rect">
            <a:avLst/>
          </a:prstGeom>
          <a:noFill/>
        </p:spPr>
        <p:txBody>
          <a:bodyPr wrap="square" lIns="45720" rIns="45720">
            <a:spAutoFit/>
          </a:bodyPr>
          <a:lstStyle/>
          <a:p>
            <a:pPr>
              <a:spcAft>
                <a:spcPts val="600"/>
              </a:spcAft>
            </a:pPr>
            <a:r>
              <a:rPr b="0" sz="1300">
                <a:solidFill>
                  <a:srgbClr val="5F6B7A"/>
                </a:solidFill>
                <a:latin typeface="Calibri"/>
              </a:rPr>
              <a:t>bloque 1</a:t>
            </a:r>
          </a:p>
        </p:txBody>
      </p:sp>
      <p:cxnSp>
        <p:nvCxnSpPr>
          <p:cNvPr id="24" name="Connector 23"/>
          <p:cNvCxnSpPr/>
          <p:nvPr/>
        </p:nvCxnSpPr>
        <p:spPr>
          <a:xfrm>
            <a:off x="5852160" y="3630168"/>
            <a:ext cx="146304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15200" y="3337560"/>
            <a:ext cx="2103120" cy="5943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300">
                <a:solidFill>
                  <a:srgbClr val="FFFFFF"/>
                </a:solidFill>
                <a:latin typeface="Calibri"/>
              </a:rPr>
              <a:t>FFT → ×H → IFFT</a:t>
            </a:r>
          </a:p>
        </p:txBody>
      </p:sp>
      <p:cxnSp>
        <p:nvCxnSpPr>
          <p:cNvPr id="26" name="Connector 25"/>
          <p:cNvCxnSpPr/>
          <p:nvPr/>
        </p:nvCxnSpPr>
        <p:spPr>
          <a:xfrm>
            <a:off x="9418320" y="3630168"/>
            <a:ext cx="36576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784080" y="3383280"/>
            <a:ext cx="868680" cy="502920"/>
          </a:xfrm>
          <a:prstGeom prst="rect">
            <a:avLst/>
          </a:prstGeom>
          <a:solidFill>
            <a:srgbClr val="F3F5F8"/>
          </a:solidFill>
          <a:ln w="15875">
            <a:solidFill>
              <a:srgbClr val="5F6B7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5F6B7A"/>
                </a:solidFill>
                <a:latin typeface="Calibri"/>
              </a:rPr>
              <a:t>✗</a:t>
            </a:r>
          </a:p>
        </p:txBody>
      </p:sp>
      <p:sp>
        <p:nvSpPr>
          <p:cNvPr id="28" name="Rectangle 27"/>
          <p:cNvSpPr/>
          <p:nvPr/>
        </p:nvSpPr>
        <p:spPr>
          <a:xfrm>
            <a:off x="10698480" y="3383280"/>
            <a:ext cx="1005840" cy="50292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B′</a:t>
            </a:r>
          </a:p>
        </p:txBody>
      </p:sp>
      <p:sp>
        <p:nvSpPr>
          <p:cNvPr id="29" name="Rectangle 28"/>
          <p:cNvSpPr/>
          <p:nvPr/>
        </p:nvSpPr>
        <p:spPr>
          <a:xfrm>
            <a:off x="4389120" y="4526280"/>
            <a:ext cx="1417320" cy="502920"/>
          </a:xfrm>
          <a:prstGeom prst="rect">
            <a:avLst/>
          </a:prstGeom>
          <a:solidFill>
            <a:srgbClr val="FCEEE0"/>
          </a:solidFill>
          <a:ln w="15875">
            <a:solidFill>
              <a:srgbClr val="E07A1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222831"/>
                </a:solidFill>
                <a:latin typeface="Calibri"/>
              </a:rPr>
              <a:t>B</a:t>
            </a:r>
          </a:p>
        </p:txBody>
      </p:sp>
      <p:sp>
        <p:nvSpPr>
          <p:cNvPr id="30" name="Rectangle 29"/>
          <p:cNvSpPr/>
          <p:nvPr/>
        </p:nvSpPr>
        <p:spPr>
          <a:xfrm>
            <a:off x="5852160" y="4526280"/>
            <a:ext cx="1417320" cy="502920"/>
          </a:xfrm>
          <a:prstGeom prst="rect">
            <a:avLst/>
          </a:prstGeom>
          <a:solidFill>
            <a:srgbClr val="E3F4F2"/>
          </a:solidFill>
          <a:ln w="15875">
            <a:solidFill>
              <a:srgbClr val="1A9E8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222831"/>
                </a:solidFill>
                <a:latin typeface="Calibri"/>
              </a:rPr>
              <a:t>C</a:t>
            </a:r>
          </a:p>
        </p:txBody>
      </p:sp>
      <p:sp>
        <p:nvSpPr>
          <p:cNvPr id="31" name="TextBox 30"/>
          <p:cNvSpPr txBox="1"/>
          <p:nvPr/>
        </p:nvSpPr>
        <p:spPr>
          <a:xfrm>
            <a:off x="274320" y="4572000"/>
            <a:ext cx="1188720" cy="457200"/>
          </a:xfrm>
          <a:prstGeom prst="rect">
            <a:avLst/>
          </a:prstGeom>
          <a:noFill/>
        </p:spPr>
        <p:txBody>
          <a:bodyPr wrap="square" lIns="45720" rIns="45720">
            <a:spAutoFit/>
          </a:bodyPr>
          <a:lstStyle/>
          <a:p>
            <a:pPr>
              <a:spcAft>
                <a:spcPts val="600"/>
              </a:spcAft>
            </a:pPr>
            <a:r>
              <a:rPr b="0" sz="1300">
                <a:solidFill>
                  <a:srgbClr val="5F6B7A"/>
                </a:solidFill>
                <a:latin typeface="Calibri"/>
              </a:rPr>
              <a:t>bloque 2</a:t>
            </a:r>
          </a:p>
        </p:txBody>
      </p:sp>
      <p:cxnSp>
        <p:nvCxnSpPr>
          <p:cNvPr id="32" name="Connector 31"/>
          <p:cNvCxnSpPr/>
          <p:nvPr/>
        </p:nvCxnSpPr>
        <p:spPr>
          <a:xfrm>
            <a:off x="7315200" y="4773168"/>
            <a:ext cx="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315200" y="4480560"/>
            <a:ext cx="2103120" cy="5943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300">
                <a:solidFill>
                  <a:srgbClr val="FFFFFF"/>
                </a:solidFill>
                <a:latin typeface="Calibri"/>
              </a:rPr>
              <a:t>FFT → ×H → IFFT</a:t>
            </a:r>
          </a:p>
        </p:txBody>
      </p:sp>
      <p:cxnSp>
        <p:nvCxnSpPr>
          <p:cNvPr id="34" name="Connector 33"/>
          <p:cNvCxnSpPr/>
          <p:nvPr/>
        </p:nvCxnSpPr>
        <p:spPr>
          <a:xfrm>
            <a:off x="9418320" y="4773168"/>
            <a:ext cx="36576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784080" y="4526280"/>
            <a:ext cx="868680" cy="502920"/>
          </a:xfrm>
          <a:prstGeom prst="rect">
            <a:avLst/>
          </a:prstGeom>
          <a:solidFill>
            <a:srgbClr val="F3F5F8"/>
          </a:solidFill>
          <a:ln w="15875">
            <a:solidFill>
              <a:srgbClr val="5F6B7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5F6B7A"/>
                </a:solidFill>
                <a:latin typeface="Calibri"/>
              </a:rPr>
              <a:t>✗</a:t>
            </a:r>
          </a:p>
        </p:txBody>
      </p:sp>
      <p:sp>
        <p:nvSpPr>
          <p:cNvPr id="36" name="Rectangle 35"/>
          <p:cNvSpPr/>
          <p:nvPr/>
        </p:nvSpPr>
        <p:spPr>
          <a:xfrm>
            <a:off x="10698480" y="4526280"/>
            <a:ext cx="1005840" cy="50292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500">
                <a:solidFill>
                  <a:srgbClr val="FFFFFF"/>
                </a:solidFill>
                <a:latin typeface="Calibri"/>
              </a:rPr>
              <a:t>C′</a:t>
            </a:r>
          </a:p>
        </p:txBody>
      </p:sp>
      <p:sp>
        <p:nvSpPr>
          <p:cNvPr id="37" name="TextBox 36"/>
          <p:cNvSpPr txBox="1"/>
          <p:nvPr/>
        </p:nvSpPr>
        <p:spPr>
          <a:xfrm>
            <a:off x="9646920" y="5623560"/>
            <a:ext cx="2286000" cy="457200"/>
          </a:xfrm>
          <a:prstGeom prst="rect">
            <a:avLst/>
          </a:prstGeom>
          <a:noFill/>
        </p:spPr>
        <p:txBody>
          <a:bodyPr wrap="square" lIns="45720" rIns="45720">
            <a:spAutoFit/>
          </a:bodyPr>
          <a:lstStyle/>
          <a:p>
            <a:pPr>
              <a:spcAft>
                <a:spcPts val="600"/>
              </a:spcAft>
            </a:pPr>
            <a:r>
              <a:rPr b="0" sz="1200">
                <a:solidFill>
                  <a:srgbClr val="5F6B7A"/>
                </a:solidFill>
                <a:latin typeface="Calibri"/>
              </a:rPr>
              <a:t>descarta | salida</a:t>
            </a:r>
          </a:p>
        </p:txBody>
      </p:sp>
      <p:sp>
        <p:nvSpPr>
          <p:cNvPr id="38" name="TextBox 37"/>
          <p:cNvSpPr txBox="1"/>
          <p:nvPr/>
        </p:nvSpPr>
        <p:spPr>
          <a:xfrm>
            <a:off x="548640" y="5715000"/>
            <a:ext cx="8686800" cy="548640"/>
          </a:xfrm>
          <a:prstGeom prst="rect">
            <a:avLst/>
          </a:prstGeom>
          <a:noFill/>
        </p:spPr>
        <p:txBody>
          <a:bodyPr wrap="square" lIns="45720" rIns="45720">
            <a:spAutoFit/>
          </a:bodyPr>
          <a:lstStyle/>
          <a:p>
            <a:pPr>
              <a:spcAft>
                <a:spcPts val="600"/>
              </a:spcAft>
            </a:pPr>
            <a:r>
              <a:rPr b="0" sz="1500">
                <a:solidFill>
                  <a:srgbClr val="222831"/>
                </a:solidFill>
                <a:latin typeface="Calibri"/>
              </a:rPr>
              <a:t>Por bloque: </a:t>
            </a:r>
            <a:r>
              <a:rPr b="1" sz="1500">
                <a:solidFill>
                  <a:srgbClr val="1F3A5F"/>
                </a:solidFill>
                <a:latin typeface="Calibri"/>
              </a:rPr>
              <a:t>entran 8 muestras nuevas, salen 8 filtradas</a:t>
            </a:r>
            <a:r>
              <a:rPr b="0" sz="1500">
                <a:solidFill>
                  <a:srgbClr val="222831"/>
                </a:solidFill>
                <a:latin typeface="Calibri"/>
              </a:rPr>
              <a:t>. Los 8 "viejos" aportan la memoria del filtro.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¿Por qué N = 16 y por qué overlap-save?</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3 · Fundamento en frecuencia</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18</a:t>
            </a:r>
          </a:p>
        </p:txBody>
      </p:sp>
      <p:sp>
        <p:nvSpPr>
          <p:cNvPr id="6" name="Rectangle 5"/>
          <p:cNvSpPr/>
          <p:nvPr/>
        </p:nvSpPr>
        <p:spPr>
          <a:xfrm>
            <a:off x="548640" y="1325880"/>
            <a:ext cx="5120640" cy="3017520"/>
          </a:xfrm>
          <a:prstGeom prst="rect">
            <a:avLst/>
          </a:prstGeom>
          <a:solidFill>
            <a:srgbClr val="E6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25880"/>
            <a:ext cx="64008" cy="30175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99032"/>
            <a:ext cx="4846320" cy="2880360"/>
          </a:xfrm>
          <a:prstGeom prst="rect">
            <a:avLst/>
          </a:prstGeom>
          <a:noFill/>
        </p:spPr>
        <p:txBody>
          <a:bodyPr wrap="square" lIns="45720" rIns="45720">
            <a:spAutoFit/>
          </a:bodyPr>
          <a:lstStyle/>
          <a:p>
            <a:pPr>
              <a:spcAft>
                <a:spcPts val="400"/>
              </a:spcAft>
            </a:pPr>
            <a:r>
              <a:rPr b="1" sz="1600">
                <a:solidFill>
                  <a:srgbClr val="1F3A5F"/>
                </a:solidFill>
                <a:latin typeface="Calibri"/>
              </a:rPr>
              <a:t>Derivación de N</a:t>
            </a:r>
          </a:p>
          <a:p>
            <a:pPr>
              <a:spcAft>
                <a:spcPts val="400"/>
              </a:spcAft>
            </a:pPr>
            <a:r>
              <a:rPr b="0" sz="1600">
                <a:solidFill>
                  <a:srgbClr val="222831"/>
                </a:solidFill>
                <a:latin typeface="Calibri"/>
              </a:rPr>
              <a:t>Historia necesaria:   N − L ≥ M − 1 = 7</a:t>
            </a:r>
          </a:p>
          <a:p>
            <a:pPr>
              <a:spcAft>
                <a:spcPts val="400"/>
              </a:spcAft>
            </a:pPr>
            <a:r>
              <a:rPr b="0" sz="1600">
                <a:solidFill>
                  <a:srgbClr val="222831"/>
                </a:solidFill>
                <a:latin typeface="Calibri"/>
              </a:rPr>
              <a:t>Superposición 50 %:   L = N/2</a:t>
            </a:r>
          </a:p>
          <a:p>
            <a:pPr>
              <a:spcAft>
                <a:spcPts val="400"/>
              </a:spcAft>
            </a:pPr>
            <a:r>
              <a:rPr b="0" sz="1600">
                <a:solidFill>
                  <a:srgbClr val="222831"/>
                </a:solidFill>
                <a:latin typeface="Calibri"/>
              </a:rPr>
              <a:t>→  N/2 ≥ 7  →  N ≥ 14</a:t>
            </a:r>
          </a:p>
          <a:p>
            <a:pPr>
              <a:spcAft>
                <a:spcPts val="400"/>
              </a:spcAft>
            </a:pPr>
            <a:r>
              <a:rPr b="0" sz="1600">
                <a:solidFill>
                  <a:srgbClr val="222831"/>
                </a:solidFill>
                <a:latin typeface="Calibri"/>
              </a:rPr>
              <a:t>Radix-2 → potencia de 2:  </a:t>
            </a:r>
            <a:r>
              <a:rPr b="1" sz="1600">
                <a:solidFill>
                  <a:srgbClr val="1F3A5F"/>
                </a:solidFill>
                <a:latin typeface="Calibri"/>
              </a:rPr>
              <a:t>N = 16, L = 8</a:t>
            </a:r>
          </a:p>
          <a:p>
            <a:pPr>
              <a:spcAft>
                <a:spcPts val="400"/>
              </a:spcAft>
            </a:pPr>
          </a:p>
          <a:p>
            <a:pPr>
              <a:spcAft>
                <a:spcPts val="400"/>
              </a:spcAft>
            </a:pPr>
            <a:r>
              <a:rPr b="0" sz="1600">
                <a:solidFill>
                  <a:srgbClr val="222831"/>
                </a:solidFill>
                <a:latin typeface="Calibri"/>
              </a:rPr>
              <a:t>N = 32 también funciona, pero duplica el hardware sin beneficio para 8 taps.</a:t>
            </a:r>
          </a:p>
        </p:txBody>
      </p:sp>
      <p:graphicFrame>
        <p:nvGraphicFramePr>
          <p:cNvPr id="9" name="Table 8"/>
          <p:cNvGraphicFramePr>
            <a:graphicFrameLocks noGrp="1"/>
          </p:cNvGraphicFramePr>
          <p:nvPr/>
        </p:nvGraphicFramePr>
        <p:xfrm>
          <a:off x="6035040" y="1325880"/>
          <a:ext cx="5669280" cy="2194560"/>
        </p:xfrm>
        <a:graphic>
          <a:graphicData uri="http://schemas.openxmlformats.org/drawingml/2006/table">
            <a:tbl>
              <a:tblPr firstRow="1" bandRow="1">
                <a:tableStyleId>{5C22544A-7EE6-4342-B048-85BDC9FD1C3A}</a:tableStyleId>
              </a:tblPr>
              <a:tblGrid>
                <a:gridCol w="1645920"/>
                <a:gridCol w="1828800"/>
                <a:gridCol w="2194560"/>
              </a:tblGrid>
              <a:tr h="548640">
                <a:tc>
                  <a:txBody>
                    <a:bodyPr wrap="square"/>
                    <a:lstStyle/>
                    <a:p/>
                  </a:txBody>
                  <a:tcPr marL="73152" marR="73152" marT="27432" marB="27432" anchor="ctr">
                    <a:solidFill>
                      <a:srgbClr val="1F3A5F"/>
                    </a:solidFill>
                  </a:tcPr>
                </a:tc>
                <a:tc>
                  <a:txBody>
                    <a:bodyPr wrap="square"/>
                    <a:lstStyle/>
                    <a:p>
                      <a:r>
                        <a:rPr b="1" sz="1300">
                          <a:solidFill>
                            <a:srgbClr val="FFFFFF"/>
                          </a:solidFill>
                          <a:latin typeface="Calibri"/>
                        </a:rPr>
                        <a:t>Overlap-save ✓</a:t>
                      </a:r>
                    </a:p>
                  </a:txBody>
                  <a:tcPr marL="73152" marR="73152" marT="27432" marB="27432" anchor="ctr">
                    <a:solidFill>
                      <a:srgbClr val="1F3A5F"/>
                    </a:solidFill>
                  </a:tcPr>
                </a:tc>
                <a:tc>
                  <a:txBody>
                    <a:bodyPr wrap="square"/>
                    <a:lstStyle/>
                    <a:p>
                      <a:r>
                        <a:rPr b="1" sz="1300">
                          <a:solidFill>
                            <a:srgbClr val="FFFFFF"/>
                          </a:solidFill>
                          <a:latin typeface="Calibri"/>
                        </a:rPr>
                        <a:t>Overlap-add</a:t>
                      </a:r>
                    </a:p>
                  </a:txBody>
                  <a:tcPr marL="73152" marR="73152" marT="27432" marB="27432" anchor="ctr">
                    <a:solidFill>
                      <a:srgbClr val="1F3A5F"/>
                    </a:solidFill>
                  </a:tcPr>
                </a:tc>
              </a:tr>
              <a:tr h="548640">
                <a:tc>
                  <a:txBody>
                    <a:bodyPr wrap="square"/>
                    <a:lstStyle/>
                    <a:p>
                      <a:r>
                        <a:rPr b="1" sz="1300">
                          <a:solidFill>
                            <a:srgbClr val="222831"/>
                          </a:solidFill>
                          <a:latin typeface="Calibri"/>
                        </a:rPr>
                        <a:t>Qué se solapa</a:t>
                      </a:r>
                    </a:p>
                  </a:txBody>
                  <a:tcPr marL="73152" marR="73152" marT="27432" marB="27432" anchor="ctr">
                    <a:solidFill>
                      <a:srgbClr val="FFFFFF"/>
                    </a:solidFill>
                  </a:tcPr>
                </a:tc>
                <a:tc>
                  <a:txBody>
                    <a:bodyPr wrap="square"/>
                    <a:lstStyle/>
                    <a:p>
                      <a:r>
                        <a:rPr b="0" sz="1300">
                          <a:solidFill>
                            <a:srgbClr val="222831"/>
                          </a:solidFill>
                          <a:latin typeface="Calibri"/>
                        </a:rPr>
                        <a:t>las entradas</a:t>
                      </a:r>
                    </a:p>
                  </a:txBody>
                  <a:tcPr marL="73152" marR="73152" marT="27432" marB="27432" anchor="ctr">
                    <a:solidFill>
                      <a:srgbClr val="FFFFFF"/>
                    </a:solidFill>
                  </a:tcPr>
                </a:tc>
                <a:tc>
                  <a:txBody>
                    <a:bodyPr wrap="square"/>
                    <a:lstStyle/>
                    <a:p>
                      <a:r>
                        <a:rPr b="0" sz="1300">
                          <a:solidFill>
                            <a:srgbClr val="222831"/>
                          </a:solidFill>
                          <a:latin typeface="Calibri"/>
                        </a:rPr>
                        <a:t>las salidas</a:t>
                      </a:r>
                    </a:p>
                  </a:txBody>
                  <a:tcPr marL="73152" marR="73152" marT="27432" marB="27432" anchor="ctr">
                    <a:solidFill>
                      <a:srgbClr val="FFFFFF"/>
                    </a:solidFill>
                  </a:tcPr>
                </a:tc>
              </a:tr>
              <a:tr h="548640">
                <a:tc>
                  <a:txBody>
                    <a:bodyPr wrap="square"/>
                    <a:lstStyle/>
                    <a:p>
                      <a:r>
                        <a:rPr b="1" sz="1300">
                          <a:solidFill>
                            <a:srgbClr val="222831"/>
                          </a:solidFill>
                          <a:latin typeface="Calibri"/>
                        </a:rPr>
                        <a:t>Operación extra</a:t>
                      </a:r>
                    </a:p>
                  </a:txBody>
                  <a:tcPr marL="73152" marR="73152" marT="27432" marB="27432" anchor="ctr">
                    <a:solidFill>
                      <a:srgbClr val="F3F5F8"/>
                    </a:solidFill>
                  </a:tcPr>
                </a:tc>
                <a:tc>
                  <a:txBody>
                    <a:bodyPr wrap="square"/>
                    <a:lstStyle/>
                    <a:p>
                      <a:r>
                        <a:rPr b="0" sz="1300">
                          <a:solidFill>
                            <a:srgbClr val="222831"/>
                          </a:solidFill>
                          <a:latin typeface="Calibri"/>
                        </a:rPr>
                        <a:t>descartar (gratis)</a:t>
                      </a:r>
                    </a:p>
                  </a:txBody>
                  <a:tcPr marL="73152" marR="73152" marT="27432" marB="27432" anchor="ctr">
                    <a:solidFill>
                      <a:srgbClr val="F3F5F8"/>
                    </a:solidFill>
                  </a:tcPr>
                </a:tc>
                <a:tc>
                  <a:txBody>
                    <a:bodyPr wrap="square"/>
                    <a:lstStyle/>
                    <a:p>
                      <a:r>
                        <a:rPr b="0" sz="1300">
                          <a:solidFill>
                            <a:srgbClr val="222831"/>
                          </a:solidFill>
                          <a:latin typeface="Calibri"/>
                        </a:rPr>
                        <a:t>sumar colas (sumadores + buffer)</a:t>
                      </a:r>
                    </a:p>
                  </a:txBody>
                  <a:tcPr marL="73152" marR="73152" marT="27432" marB="27432" anchor="ctr">
                    <a:solidFill>
                      <a:srgbClr val="F3F5F8"/>
                    </a:solidFill>
                  </a:tcPr>
                </a:tc>
              </a:tr>
              <a:tr h="548640">
                <a:tc>
                  <a:txBody>
                    <a:bodyPr wrap="square"/>
                    <a:lstStyle/>
                    <a:p>
                      <a:r>
                        <a:rPr b="1" sz="1300">
                          <a:solidFill>
                            <a:srgbClr val="222831"/>
                          </a:solidFill>
                          <a:latin typeface="Calibri"/>
                        </a:rPr>
                        <a:t>Bloque de entrada</a:t>
                      </a:r>
                    </a:p>
                  </a:txBody>
                  <a:tcPr marL="73152" marR="73152" marT="27432" marB="27432" anchor="ctr">
                    <a:solidFill>
                      <a:srgbClr val="FFFFFF"/>
                    </a:solidFill>
                  </a:tcPr>
                </a:tc>
                <a:tc>
                  <a:txBody>
                    <a:bodyPr wrap="square"/>
                    <a:lstStyle/>
                    <a:p>
                      <a:r>
                        <a:rPr b="0" sz="1300">
                          <a:solidFill>
                            <a:srgbClr val="222831"/>
                          </a:solidFill>
                          <a:latin typeface="Calibri"/>
                        </a:rPr>
                        <a:t>8 viejas + 8 nuevas</a:t>
                      </a:r>
                    </a:p>
                  </a:txBody>
                  <a:tcPr marL="73152" marR="73152" marT="27432" marB="27432" anchor="ctr">
                    <a:solidFill>
                      <a:srgbClr val="FFFFFF"/>
                    </a:solidFill>
                  </a:tcPr>
                </a:tc>
                <a:tc>
                  <a:txBody>
                    <a:bodyPr wrap="square"/>
                    <a:lstStyle/>
                    <a:p>
                      <a:r>
                        <a:rPr b="0" sz="1300">
                          <a:solidFill>
                            <a:srgbClr val="222831"/>
                          </a:solidFill>
                          <a:latin typeface="Calibri"/>
                        </a:rPr>
                        <a:t>8 nuevas + 8 ceros</a:t>
                      </a:r>
                    </a:p>
                  </a:txBody>
                  <a:tcPr marL="73152" marR="73152" marT="27432" marB="27432" anchor="ctr">
                    <a:solidFill>
                      <a:srgbClr val="FFFFFF"/>
                    </a:solidFill>
                  </a:tcPr>
                </a:tc>
              </a:tr>
            </a:tbl>
          </a:graphicData>
        </a:graphic>
      </p:graphicFrame>
      <p:sp>
        <p:nvSpPr>
          <p:cNvPr id="10" name="Rectangle 9"/>
          <p:cNvSpPr/>
          <p:nvPr/>
        </p:nvSpPr>
        <p:spPr>
          <a:xfrm>
            <a:off x="6035040" y="3794760"/>
            <a:ext cx="5669280" cy="146304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3794760"/>
            <a:ext cx="64008" cy="146304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9631" y="3867912"/>
            <a:ext cx="5394960" cy="1325880"/>
          </a:xfrm>
          <a:prstGeom prst="rect">
            <a:avLst/>
          </a:prstGeom>
          <a:noFill/>
        </p:spPr>
        <p:txBody>
          <a:bodyPr wrap="square" lIns="45720" rIns="45720">
            <a:spAutoFit/>
          </a:bodyPr>
          <a:lstStyle/>
          <a:p>
            <a:pPr>
              <a:spcAft>
                <a:spcPts val="400"/>
              </a:spcAft>
            </a:pPr>
            <a:r>
              <a:rPr b="1" sz="1500">
                <a:solidFill>
                  <a:srgbClr val="1F3A5F"/>
                </a:solidFill>
                <a:latin typeface="Calibri"/>
              </a:rPr>
              <a:t>Alineación de la salida</a:t>
            </a:r>
          </a:p>
          <a:p>
            <a:pPr>
              <a:spcAft>
                <a:spcPts val="400"/>
              </a:spcAft>
            </a:pPr>
            <a:r>
              <a:rPr b="0" sz="1500">
                <a:solidFill>
                  <a:srgbClr val="222831"/>
                </a:solidFill>
                <a:latin typeface="Calibri"/>
              </a:rPr>
              <a:t>y_OLS[n] = np.convolve(x, h)[n] </a:t>
            </a:r>
            <a:r>
              <a:rPr b="1" sz="1500">
                <a:solidFill>
                  <a:srgbClr val="1F3A5F"/>
                </a:solidFill>
                <a:latin typeface="Calibri"/>
              </a:rPr>
              <a:t>muestra a muestra</a:t>
            </a:r>
            <a:r>
              <a:rPr b="0" sz="1500">
                <a:solidFill>
                  <a:srgbClr val="222831"/>
                </a:solidFill>
                <a:latin typeface="Calibri"/>
              </a:rPr>
              <a:t> → la comparación con el FIR en tiempo es directa.</a:t>
            </a:r>
          </a:p>
        </p:txBody>
      </p:sp>
      <p:sp>
        <p:nvSpPr>
          <p:cNvPr id="13" name="TextBox 12"/>
          <p:cNvSpPr txBox="1"/>
          <p:nvPr/>
        </p:nvSpPr>
        <p:spPr>
          <a:xfrm>
            <a:off x="548640" y="4663440"/>
            <a:ext cx="5120640" cy="1280160"/>
          </a:xfrm>
          <a:prstGeom prst="rect">
            <a:avLst/>
          </a:prstGeom>
          <a:noFill/>
        </p:spPr>
        <p:txBody>
          <a:bodyPr wrap="square" lIns="45720" rIns="45720">
            <a:spAutoFit/>
          </a:bodyPr>
          <a:lstStyle/>
          <a:p>
            <a:pPr marL="256032" indent="-219456">
              <a:spcAft>
                <a:spcPts val="600"/>
              </a:spcAft>
              <a:buFont typeface="Arial"/>
              <a:buChar char="•"/>
            </a:pPr>
            <a:r>
              <a:rPr b="0" sz="1400">
                <a:solidFill>
                  <a:srgbClr val="5F6B7A"/>
                </a:solidFill>
                <a:latin typeface="Calibri"/>
              </a:rPr>
              <a:t>Latencia algorítmica: 1 bloque (esperar 8 muestras) + pipeline del hardware.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Código: ols_float() — el algoritmo entero en 10 líneas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3 · Fundamento en frecuencia</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19</a:t>
            </a:r>
          </a:p>
        </p:txBody>
      </p:sp>
      <p:sp>
        <p:nvSpPr>
          <p:cNvPr id="6" name="Rectangle 5"/>
          <p:cNvSpPr/>
          <p:nvPr/>
        </p:nvSpPr>
        <p:spPr>
          <a:xfrm>
            <a:off x="548640" y="1280160"/>
            <a:ext cx="7863840" cy="3291840"/>
          </a:xfrm>
          <a:prstGeom prst="rect">
            <a:avLst/>
          </a:prstGeom>
          <a:solidFill>
            <a:srgbClr val="F3F5F8"/>
          </a:solidFill>
          <a:ln>
            <a:solidFill>
              <a:srgbClr val="D5DB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a:lstStyle/>
          <a:p>
            <a:pPr algn="l">
              <a:spcAft>
                <a:spcPts val="0"/>
              </a:spcAft>
            </a:pPr>
            <a:r>
              <a:rPr sz="1200">
                <a:solidFill>
                  <a:srgbClr val="222831"/>
                </a:solidFill>
                <a:latin typeface="Consolas"/>
              </a:rPr>
              <a:t>def ols_float(x, h):</a:t>
            </a:r>
          </a:p>
          <a:p>
            <a:pPr algn="l">
              <a:spcAft>
                <a:spcPts val="0"/>
              </a:spcAft>
            </a:pPr>
            <a:r>
              <a:rPr sz="1200">
                <a:solidFill>
                  <a:srgbClr val="222831"/>
                </a:solidFill>
                <a:latin typeface="Consolas"/>
              </a:rPr>
              <a:t>    H = np.fft.fft(h, C.N_FFT)                   </a:t>
            </a:r>
            <a:r>
              <a:rPr sz="1200">
                <a:solidFill>
                  <a:srgbClr val="4E7D5B"/>
                </a:solidFill>
                <a:latin typeface="Consolas"/>
              </a:rPr>
              <a:t># H[k]: 16 bins</a:t>
            </a:r>
          </a:p>
          <a:p>
            <a:pPr algn="l">
              <a:spcAft>
                <a:spcPts val="0"/>
              </a:spcAft>
            </a:pPr>
            <a:r>
              <a:rPr sz="1200">
                <a:solidFill>
                  <a:srgbClr val="222831"/>
                </a:solidFill>
                <a:latin typeface="Consolas"/>
              </a:rPr>
              <a:t>    nb = _frames(len(x))                         </a:t>
            </a:r>
            <a:r>
              <a:rPr sz="1200">
                <a:solidFill>
                  <a:srgbClr val="4E7D5B"/>
                </a:solidFill>
                <a:latin typeface="Consolas"/>
              </a:rPr>
              <a:t># cantidad de bloques</a:t>
            </a:r>
          </a:p>
          <a:p>
            <a:pPr algn="l">
              <a:spcAft>
                <a:spcPts val="0"/>
              </a:spcAft>
            </a:pPr>
            <a:r>
              <a:rPr sz="1200">
                <a:solidFill>
                  <a:srgbClr val="222831"/>
                </a:solidFill>
                <a:latin typeface="Consolas"/>
              </a:rPr>
              <a:t>    xp = np.concatenate([np.zeros(C.HOP, complex), x,          </a:t>
            </a:r>
            <a:r>
              <a:rPr sz="1200">
                <a:solidFill>
                  <a:srgbClr val="4E7D5B"/>
                </a:solidFill>
                <a:latin typeface="Consolas"/>
              </a:rPr>
              <a:t># 8 ceros: no</a:t>
            </a:r>
          </a:p>
          <a:p>
            <a:pPr algn="l">
              <a:spcAft>
                <a:spcPts val="0"/>
              </a:spcAft>
            </a:pPr>
            <a:r>
              <a:rPr sz="1200">
                <a:solidFill>
                  <a:srgbClr val="222831"/>
                </a:solidFill>
                <a:latin typeface="Consolas"/>
              </a:rPr>
              <a:t>                         np.zeros(nb * C.HOP - len(x), complex)])  </a:t>
            </a:r>
            <a:r>
              <a:rPr sz="1200">
                <a:solidFill>
                  <a:srgbClr val="4E7D5B"/>
                </a:solidFill>
                <a:latin typeface="Consolas"/>
              </a:rPr>
              <a:t># hay previo</a:t>
            </a:r>
          </a:p>
          <a:p>
            <a:pPr algn="l">
              <a:spcAft>
                <a:spcPts val="0"/>
              </a:spcAft>
            </a:pPr>
            <a:r>
              <a:rPr sz="1200">
                <a:solidFill>
                  <a:srgbClr val="222831"/>
                </a:solidFill>
                <a:latin typeface="Consolas"/>
              </a:rPr>
              <a:t>    y = np.zeros(nb * C.HOP, complex)</a:t>
            </a:r>
          </a:p>
          <a:p>
            <a:pPr algn="l">
              <a:spcAft>
                <a:spcPts val="0"/>
              </a:spcAft>
            </a:pPr>
            <a:r>
              <a:rPr sz="1200">
                <a:solidFill>
                  <a:srgbClr val="222831"/>
                </a:solidFill>
                <a:latin typeface="Consolas"/>
              </a:rPr>
              <a:t>    for b in range(nb):</a:t>
            </a:r>
          </a:p>
          <a:p>
            <a:pPr algn="l">
              <a:spcAft>
                <a:spcPts val="0"/>
              </a:spcAft>
            </a:pPr>
            <a:r>
              <a:rPr sz="1200">
                <a:solidFill>
                  <a:srgbClr val="222831"/>
                </a:solidFill>
                <a:latin typeface="Consolas"/>
              </a:rPr>
              <a:t>        buf = xp[b * C.HOP: b * C.HOP + C.N_FFT]  </a:t>
            </a:r>
            <a:r>
              <a:rPr sz="1200">
                <a:solidFill>
                  <a:srgbClr val="4E7D5B"/>
                </a:solidFill>
                <a:latin typeface="Consolas"/>
              </a:rPr>
              <a:t># 8 viejas + 8 nuevas</a:t>
            </a:r>
          </a:p>
          <a:p>
            <a:pPr algn="l">
              <a:spcAft>
                <a:spcPts val="0"/>
              </a:spcAft>
            </a:pPr>
            <a:r>
              <a:rPr sz="1200">
                <a:solidFill>
                  <a:srgbClr val="222831"/>
                </a:solidFill>
                <a:latin typeface="Consolas"/>
              </a:rPr>
              <a:t>        y_circ = np.fft.ifft(np.fft.fft(buf) * H) </a:t>
            </a:r>
            <a:r>
              <a:rPr sz="1200">
                <a:solidFill>
                  <a:srgbClr val="4E7D5B"/>
                </a:solidFill>
                <a:latin typeface="Consolas"/>
              </a:rPr>
              <a:t># FFT -&gt; xH -&gt; IFFT</a:t>
            </a:r>
          </a:p>
          <a:p>
            <a:pPr algn="l">
              <a:spcAft>
                <a:spcPts val="0"/>
              </a:spcAft>
            </a:pPr>
            <a:r>
              <a:rPr sz="1200">
                <a:solidFill>
                  <a:srgbClr val="222831"/>
                </a:solidFill>
                <a:latin typeface="Consolas"/>
              </a:rPr>
              <a:t>        y[b * C.HOP:(b + 1) * C.HOP] = y_circ[C.HOP:]   </a:t>
            </a:r>
            <a:r>
              <a:rPr sz="1200">
                <a:solidFill>
                  <a:srgbClr val="4E7D5B"/>
                </a:solidFill>
                <a:latin typeface="Consolas"/>
              </a:rPr>
              <a:t># descarta 1ra mitad</a:t>
            </a:r>
          </a:p>
          <a:p>
            <a:pPr algn="l">
              <a:spcAft>
                <a:spcPts val="0"/>
              </a:spcAft>
            </a:pPr>
            <a:r>
              <a:rPr sz="1200">
                <a:solidFill>
                  <a:srgbClr val="222831"/>
                </a:solidFill>
                <a:latin typeface="Consolas"/>
              </a:rPr>
              <a:t>    return y[:len(x)]</a:t>
            </a:r>
          </a:p>
        </p:txBody>
      </p:sp>
      <p:sp>
        <p:nvSpPr>
          <p:cNvPr id="7" name="Rectangle 6"/>
          <p:cNvSpPr/>
          <p:nvPr/>
        </p:nvSpPr>
        <p:spPr>
          <a:xfrm>
            <a:off x="8686800" y="1280160"/>
            <a:ext cx="3017520" cy="329184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0" y="1280160"/>
            <a:ext cx="64008" cy="329184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51392" y="1353312"/>
            <a:ext cx="2743200" cy="3154680"/>
          </a:xfrm>
          <a:prstGeom prst="rect">
            <a:avLst/>
          </a:prstGeom>
          <a:noFill/>
        </p:spPr>
        <p:txBody>
          <a:bodyPr wrap="square" lIns="45720" rIns="45720">
            <a:spAutoFit/>
          </a:bodyPr>
          <a:lstStyle/>
          <a:p>
            <a:pPr>
              <a:spcAft>
                <a:spcPts val="400"/>
              </a:spcAft>
            </a:pPr>
            <a:r>
              <a:rPr b="1" sz="1500">
                <a:solidFill>
                  <a:srgbClr val="1F3A5F"/>
                </a:solidFill>
                <a:latin typeface="Calibri"/>
              </a:rPr>
              <a:t>Verificado</a:t>
            </a:r>
          </a:p>
          <a:p>
            <a:pPr>
              <a:spcAft>
                <a:spcPts val="400"/>
              </a:spcAft>
            </a:pPr>
            <a:r>
              <a:rPr b="0" sz="1500">
                <a:solidFill>
                  <a:srgbClr val="0E6E63"/>
                </a:solidFill>
                <a:latin typeface="Consolas"/>
              </a:rPr>
              <a:t>ols_float(x, h)</a:t>
            </a:r>
            <a:r>
              <a:rPr b="0" sz="1500">
                <a:solidFill>
                  <a:srgbClr val="222831"/>
                </a:solidFill>
                <a:latin typeface="Calibri"/>
              </a:rPr>
              <a:t> vs </a:t>
            </a:r>
            <a:r>
              <a:rPr b="0" sz="1500">
                <a:solidFill>
                  <a:srgbClr val="0E6E63"/>
                </a:solidFill>
                <a:latin typeface="Consolas"/>
              </a:rPr>
              <a:t>np.convolve(x, h)</a:t>
            </a:r>
            <a:r>
              <a:rPr b="0" sz="1500">
                <a:solidFill>
                  <a:srgbClr val="222831"/>
                </a:solidFill>
                <a:latin typeface="Calibri"/>
              </a:rPr>
              <a:t>:</a:t>
            </a:r>
          </a:p>
          <a:p>
            <a:pPr>
              <a:spcAft>
                <a:spcPts val="400"/>
              </a:spcAft>
            </a:pPr>
          </a:p>
          <a:p>
            <a:pPr>
              <a:spcAft>
                <a:spcPts val="400"/>
              </a:spcAft>
            </a:pPr>
            <a:r>
              <a:rPr b="1" sz="1500">
                <a:solidFill>
                  <a:srgbClr val="1F3A5F"/>
                </a:solidFill>
                <a:latin typeface="Calibri"/>
              </a:rPr>
              <a:t>error máx ≈ 1e-16</a:t>
            </a:r>
          </a:p>
          <a:p>
            <a:pPr>
              <a:spcAft>
                <a:spcPts val="400"/>
              </a:spcAft>
            </a:pPr>
          </a:p>
          <a:p>
            <a:pPr>
              <a:spcAft>
                <a:spcPts val="400"/>
              </a:spcAft>
            </a:pPr>
            <a:r>
              <a:rPr b="0" sz="1500">
                <a:solidFill>
                  <a:srgbClr val="222831"/>
                </a:solidFill>
                <a:latin typeface="Calibri"/>
              </a:rPr>
              <a:t>→ el algoritmo es exacto. Recién ahora tiene sentido cuantizar.</a:t>
            </a:r>
          </a:p>
        </p:txBody>
      </p:sp>
      <p:sp>
        <p:nvSpPr>
          <p:cNvPr id="10" name="TextBox 9"/>
          <p:cNvSpPr txBox="1"/>
          <p:nvPr/>
        </p:nvSpPr>
        <p:spPr>
          <a:xfrm>
            <a:off x="548640" y="4846320"/>
            <a:ext cx="11155680" cy="822960"/>
          </a:xfrm>
          <a:prstGeom prst="rect">
            <a:avLst/>
          </a:prstGeom>
          <a:noFill/>
        </p:spPr>
        <p:txBody>
          <a:bodyPr wrap="square" lIns="45720" rIns="45720">
            <a:spAutoFit/>
          </a:bodyPr>
          <a:lstStyle/>
          <a:p>
            <a:pPr>
              <a:spcAft>
                <a:spcPts val="600"/>
              </a:spcAft>
            </a:pPr>
            <a:r>
              <a:rPr b="0" sz="1400">
                <a:solidFill>
                  <a:srgbClr val="0E6E63"/>
                </a:solidFill>
                <a:latin typeface="Consolas"/>
              </a:rPr>
              <a:t>C.HOP</a:t>
            </a:r>
            <a:r>
              <a:rPr b="0" sz="1400">
                <a:solidFill>
                  <a:srgbClr val="5F6B7A"/>
                </a:solidFill>
                <a:latin typeface="Calibri"/>
              </a:rPr>
              <a:t> = 8 (L) y </a:t>
            </a:r>
            <a:r>
              <a:rPr b="0" sz="1400">
                <a:solidFill>
                  <a:srgbClr val="0E6E63"/>
                </a:solidFill>
                <a:latin typeface="Consolas"/>
              </a:rPr>
              <a:t>C.N_FFT</a:t>
            </a:r>
            <a:r>
              <a:rPr b="0" sz="1400">
                <a:solidFill>
                  <a:srgbClr val="5F6B7A"/>
                </a:solidFill>
                <a:latin typeface="Calibri"/>
              </a:rPr>
              <a:t> = 16 (N) salen de </a:t>
            </a:r>
            <a:r>
              <a:rPr b="0" sz="1400">
                <a:solidFill>
                  <a:srgbClr val="0E6E63"/>
                </a:solidFill>
                <a:latin typeface="Consolas"/>
              </a:rPr>
              <a:t>config.py</a:t>
            </a:r>
            <a:r>
              <a:rPr b="0" sz="1400">
                <a:solidFill>
                  <a:srgbClr val="5F6B7A"/>
                </a:solidFill>
                <a:latin typeface="Calibri"/>
              </a:rPr>
              <a:t>. La versión en punto fijo (</a:t>
            </a:r>
            <a:r>
              <a:rPr b="0" sz="1400">
                <a:solidFill>
                  <a:srgbClr val="0E6E63"/>
                </a:solidFill>
                <a:latin typeface="Consolas"/>
              </a:rPr>
              <a:t>FreqFilterFxp.run</a:t>
            </a:r>
            <a:r>
              <a:rPr b="0" sz="1400">
                <a:solidFill>
                  <a:srgbClr val="5F6B7A"/>
                </a:solidFill>
                <a:latin typeface="Calibri"/>
              </a:rPr>
              <a:t>) arma los mismos bloques, pero los procesa </a:t>
            </a:r>
            <a:r>
              <a:rPr b="1" sz="1400">
                <a:solidFill>
                  <a:srgbClr val="5F6B7A"/>
                </a:solidFill>
                <a:latin typeface="Calibri"/>
              </a:rPr>
              <a:t>todos a la vez</a:t>
            </a:r>
            <a:r>
              <a:rPr b="0" sz="1400">
                <a:solidFill>
                  <a:srgbClr val="5F6B7A"/>
                </a:solidFill>
                <a:latin typeface="Calibri"/>
              </a:rPr>
              <a:t> como una matriz (bloques × 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822960" y="2103120"/>
            <a:ext cx="10515600" cy="914400"/>
          </a:xfrm>
          <a:prstGeom prst="rect">
            <a:avLst/>
          </a:prstGeom>
          <a:noFill/>
        </p:spPr>
        <p:txBody>
          <a:bodyPr wrap="square" lIns="45720" rIns="45720">
            <a:spAutoFit/>
          </a:bodyPr>
          <a:lstStyle/>
          <a:p>
            <a:pPr>
              <a:spcAft>
                <a:spcPts val="600"/>
              </a:spcAft>
            </a:pPr>
            <a:r>
              <a:rPr b="0" sz="5400">
                <a:solidFill>
                  <a:srgbClr val="1A9E8F"/>
                </a:solidFill>
                <a:latin typeface="Calibri"/>
              </a:rPr>
              <a:t>4</a:t>
            </a:r>
          </a:p>
        </p:txBody>
      </p:sp>
      <p:sp>
        <p:nvSpPr>
          <p:cNvPr id="3" name="TextBox 2"/>
          <p:cNvSpPr txBox="1"/>
          <p:nvPr/>
        </p:nvSpPr>
        <p:spPr>
          <a:xfrm>
            <a:off x="822960" y="3017520"/>
            <a:ext cx="10515600" cy="914400"/>
          </a:xfrm>
          <a:prstGeom prst="rect">
            <a:avLst/>
          </a:prstGeom>
          <a:noFill/>
        </p:spPr>
        <p:txBody>
          <a:bodyPr wrap="square" lIns="45720" rIns="45720">
            <a:spAutoFit/>
          </a:bodyPr>
          <a:lstStyle/>
          <a:p>
            <a:pPr>
              <a:spcAft>
                <a:spcPts val="600"/>
              </a:spcAft>
            </a:pPr>
            <a:r>
              <a:rPr b="0" sz="4000">
                <a:solidFill>
                  <a:srgbClr val="FFFFFF"/>
                </a:solidFill>
                <a:latin typeface="Calibri"/>
              </a:rPr>
              <a:t>La FFT</a:t>
            </a:r>
          </a:p>
        </p:txBody>
      </p:sp>
      <p:sp>
        <p:nvSpPr>
          <p:cNvPr id="4" name="TextBox 3"/>
          <p:cNvSpPr txBox="1"/>
          <p:nvPr/>
        </p:nvSpPr>
        <p:spPr>
          <a:xfrm>
            <a:off x="822960" y="3931920"/>
            <a:ext cx="10515600" cy="914400"/>
          </a:xfrm>
          <a:prstGeom prst="rect">
            <a:avLst/>
          </a:prstGeom>
          <a:noFill/>
        </p:spPr>
        <p:txBody>
          <a:bodyPr wrap="square" lIns="45720" rIns="45720">
            <a:spAutoFit/>
          </a:bodyPr>
          <a:lstStyle/>
          <a:p>
            <a:pPr>
              <a:spcAft>
                <a:spcPts val="600"/>
              </a:spcAft>
            </a:pPr>
            <a:r>
              <a:rPr b="0" sz="2000">
                <a:solidFill>
                  <a:srgbClr val="C8D3E0"/>
                </a:solidFill>
                <a:latin typeface="Calibri"/>
              </a:rPr>
              <a:t>De la DFT a la mariposa, y cómo se arma la FFT de 16 puntos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De la DFT a la FFT: la mariposa</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4 · La FFT</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21</a:t>
            </a:r>
          </a:p>
        </p:txBody>
      </p:sp>
      <p:sp>
        <p:nvSpPr>
          <p:cNvPr id="6" name="TextBox 5"/>
          <p:cNvSpPr txBox="1"/>
          <p:nvPr/>
        </p:nvSpPr>
        <p:spPr>
          <a:xfrm>
            <a:off x="548640" y="1280160"/>
            <a:ext cx="6126480" cy="4754880"/>
          </a:xfrm>
          <a:prstGeom prst="rect">
            <a:avLst/>
          </a:prstGeom>
          <a:noFill/>
        </p:spPr>
        <p:txBody>
          <a:bodyPr wrap="square" lIns="45720" rIns="45720">
            <a:spAutoFit/>
          </a:bodyPr>
          <a:lstStyle/>
          <a:p>
            <a:pPr marL="256032" indent="-219456">
              <a:spcAft>
                <a:spcPts val="600"/>
              </a:spcAft>
              <a:buFont typeface="Arial"/>
              <a:buChar char="•"/>
            </a:pPr>
            <a:r>
              <a:rPr b="0" sz="1600">
                <a:solidFill>
                  <a:srgbClr val="222831"/>
                </a:solidFill>
                <a:latin typeface="Calibri"/>
              </a:rPr>
              <a:t>DFT: </a:t>
            </a:r>
            <a:r>
              <a:rPr b="1" sz="1600">
                <a:solidFill>
                  <a:srgbClr val="1F3A5F"/>
                </a:solidFill>
                <a:latin typeface="Calibri"/>
              </a:rPr>
              <a:t>X[k] = Σₙ x[n] · Wⁿᵏ</a:t>
            </a:r>
            <a:r>
              <a:rPr b="0" sz="1600">
                <a:solidFill>
                  <a:srgbClr val="222831"/>
                </a:solidFill>
                <a:latin typeface="Calibri"/>
              </a:rPr>
              <a:t>,  W = e^(−j2π/N) → N² = </a:t>
            </a:r>
            <a:r>
              <a:rPr b="1" sz="1600">
                <a:solidFill>
                  <a:srgbClr val="1F3A5F"/>
                </a:solidFill>
                <a:latin typeface="Calibri"/>
              </a:rPr>
              <a:t>256</a:t>
            </a:r>
            <a:r>
              <a:rPr b="0" sz="1600">
                <a:solidFill>
                  <a:srgbClr val="222831"/>
                </a:solidFill>
                <a:latin typeface="Calibri"/>
              </a:rPr>
              <a:t> mult. complejas.</a:t>
            </a:r>
          </a:p>
          <a:p>
            <a:pPr marL="256032" indent="-219456">
              <a:spcAft>
                <a:spcPts val="600"/>
              </a:spcAft>
              <a:buFont typeface="Arial"/>
              <a:buChar char="•"/>
            </a:pPr>
            <a:r>
              <a:rPr b="0" sz="1600">
                <a:solidFill>
                  <a:srgbClr val="222831"/>
                </a:solidFill>
                <a:latin typeface="Calibri"/>
              </a:rPr>
              <a:t>Decimación en tiempo: separar muestras </a:t>
            </a:r>
            <a:r>
              <a:rPr b="1" sz="1600">
                <a:solidFill>
                  <a:srgbClr val="1F3A5F"/>
                </a:solidFill>
                <a:latin typeface="Calibri"/>
              </a:rPr>
              <a:t>pares</a:t>
            </a:r>
            <a:r>
              <a:rPr b="0" sz="1600">
                <a:solidFill>
                  <a:srgbClr val="222831"/>
                </a:solidFill>
                <a:latin typeface="Calibri"/>
              </a:rPr>
              <a:t> (E) e </a:t>
            </a:r>
            <a:r>
              <a:rPr b="1" sz="1600">
                <a:solidFill>
                  <a:srgbClr val="1F3A5F"/>
                </a:solidFill>
                <a:latin typeface="Calibri"/>
              </a:rPr>
              <a:t>impares</a:t>
            </a:r>
            <a:r>
              <a:rPr b="0" sz="1600">
                <a:solidFill>
                  <a:srgbClr val="222831"/>
                </a:solidFill>
                <a:latin typeface="Calibri"/>
              </a:rPr>
              <a:t> (O):</a:t>
            </a:r>
          </a:p>
          <a:p>
            <a:pPr marL="548640" indent="-219456">
              <a:spcAft>
                <a:spcPts val="600"/>
              </a:spcAft>
              <a:buFont typeface="Arial"/>
              <a:buChar char="–"/>
            </a:pPr>
            <a:r>
              <a:rPr b="0" sz="1400">
                <a:solidFill>
                  <a:srgbClr val="5F6B7A"/>
                </a:solidFill>
                <a:latin typeface="Calibri"/>
              </a:rPr>
              <a:t>X[k] = E[k] + Wᵏ · O[k]</a:t>
            </a:r>
          </a:p>
          <a:p>
            <a:pPr marL="548640" indent="-219456">
              <a:spcAft>
                <a:spcPts val="600"/>
              </a:spcAft>
              <a:buFont typeface="Arial"/>
              <a:buChar char="–"/>
            </a:pPr>
            <a:r>
              <a:rPr b="0" sz="1400">
                <a:solidFill>
                  <a:srgbClr val="5F6B7A"/>
                </a:solidFill>
                <a:latin typeface="Calibri"/>
              </a:rPr>
              <a:t>X[k + N/2] = E[k] − Wᵏ · O[k]</a:t>
            </a:r>
          </a:p>
          <a:p>
            <a:pPr marL="256032" indent="-219456">
              <a:spcAft>
                <a:spcPts val="600"/>
              </a:spcAft>
              <a:buFont typeface="Arial"/>
              <a:buChar char="•"/>
            </a:pPr>
            <a:r>
              <a:rPr b="0" sz="1600">
                <a:solidFill>
                  <a:srgbClr val="222831"/>
                </a:solidFill>
                <a:latin typeface="Calibri"/>
              </a:rPr>
              <a:t>E y O son DFTs de N/2 → se repite: 16 → 8 → 4 → 2.</a:t>
            </a:r>
          </a:p>
          <a:p>
            <a:pPr marL="256032" indent="-219456">
              <a:spcAft>
                <a:spcPts val="600"/>
              </a:spcAft>
              <a:buFont typeface="Arial"/>
              <a:buChar char="•"/>
            </a:pPr>
            <a:r>
              <a:rPr b="1" sz="1600">
                <a:solidFill>
                  <a:srgbClr val="1F3A5F"/>
                </a:solidFill>
                <a:latin typeface="Calibri"/>
              </a:rPr>
              <a:t>log₂16 = 4 etapas × 8 mariposas = 32 mariposas.</a:t>
            </a:r>
          </a:p>
          <a:p>
            <a:pPr marL="256032" indent="-219456">
              <a:spcAft>
                <a:spcPts val="600"/>
              </a:spcAft>
              <a:buFont typeface="Arial"/>
              <a:buChar char="•"/>
            </a:pPr>
            <a:r>
              <a:rPr b="0" sz="1600">
                <a:solidFill>
                  <a:srgbClr val="222831"/>
                </a:solidFill>
                <a:latin typeface="Calibri"/>
              </a:rPr>
              <a:t>Los </a:t>
            </a:r>
            <a:r>
              <a:rPr b="1" sz="1600">
                <a:solidFill>
                  <a:srgbClr val="1F3A5F"/>
                </a:solidFill>
                <a:latin typeface="Calibri"/>
              </a:rPr>
              <a:t>twiddles</a:t>
            </a:r>
            <a:r>
              <a:rPr b="0" sz="1600">
                <a:solidFill>
                  <a:srgbClr val="222831"/>
                </a:solidFill>
                <a:latin typeface="Calibri"/>
              </a:rPr>
              <a:t> Wᵏ son constantes (senos y cosenos) → ROM.</a:t>
            </a:r>
          </a:p>
        </p:txBody>
      </p:sp>
      <p:sp>
        <p:nvSpPr>
          <p:cNvPr id="7" name="Rounded Rectangle 6"/>
          <p:cNvSpPr/>
          <p:nvPr/>
        </p:nvSpPr>
        <p:spPr>
          <a:xfrm>
            <a:off x="7132320" y="1737360"/>
            <a:ext cx="731520" cy="54864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800">
                <a:solidFill>
                  <a:srgbClr val="FFFFFF"/>
                </a:solidFill>
                <a:latin typeface="Calibri"/>
              </a:rPr>
              <a:t>a</a:t>
            </a:r>
          </a:p>
        </p:txBody>
      </p:sp>
      <p:sp>
        <p:nvSpPr>
          <p:cNvPr id="8" name="Rounded Rectangle 7"/>
          <p:cNvSpPr/>
          <p:nvPr/>
        </p:nvSpPr>
        <p:spPr>
          <a:xfrm>
            <a:off x="7132320" y="3749039"/>
            <a:ext cx="731520" cy="54864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800">
                <a:solidFill>
                  <a:srgbClr val="FFFFFF"/>
                </a:solidFill>
                <a:latin typeface="Calibri"/>
              </a:rPr>
              <a:t>b</a:t>
            </a:r>
          </a:p>
        </p:txBody>
      </p:sp>
      <p:sp>
        <p:nvSpPr>
          <p:cNvPr id="9" name="Oval 8"/>
          <p:cNvSpPr/>
          <p:nvPr/>
        </p:nvSpPr>
        <p:spPr>
          <a:xfrm>
            <a:off x="8412480" y="3703320"/>
            <a:ext cx="822960" cy="640080"/>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600">
                <a:solidFill>
                  <a:srgbClr val="FFFFFF"/>
                </a:solidFill>
                <a:latin typeface="Calibri"/>
              </a:rPr>
              <a:t>× W</a:t>
            </a:r>
          </a:p>
        </p:txBody>
      </p:sp>
      <p:sp>
        <p:nvSpPr>
          <p:cNvPr id="10" name="Oval 9"/>
          <p:cNvSpPr/>
          <p:nvPr/>
        </p:nvSpPr>
        <p:spPr>
          <a:xfrm>
            <a:off x="9784080" y="1691639"/>
            <a:ext cx="640080" cy="640080"/>
          </a:xfrm>
          <a:prstGeom prst="ellipse">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a:t>
            </a:r>
          </a:p>
        </p:txBody>
      </p:sp>
      <p:sp>
        <p:nvSpPr>
          <p:cNvPr id="11" name="Oval 10"/>
          <p:cNvSpPr/>
          <p:nvPr/>
        </p:nvSpPr>
        <p:spPr>
          <a:xfrm>
            <a:off x="9784080" y="3703320"/>
            <a:ext cx="640080" cy="640080"/>
          </a:xfrm>
          <a:prstGeom prst="ellipse">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a:t>
            </a:r>
          </a:p>
        </p:txBody>
      </p:sp>
      <p:cxnSp>
        <p:nvCxnSpPr>
          <p:cNvPr id="12" name="Connector 11"/>
          <p:cNvCxnSpPr/>
          <p:nvPr/>
        </p:nvCxnSpPr>
        <p:spPr>
          <a:xfrm>
            <a:off x="7863840" y="2011679"/>
            <a:ext cx="192024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863840" y="4023360"/>
            <a:ext cx="54864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235440" y="4023360"/>
            <a:ext cx="54864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863840" y="2011679"/>
            <a:ext cx="1938527" cy="1874521"/>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235440" y="2194560"/>
            <a:ext cx="594360" cy="182880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424160" y="2011679"/>
            <a:ext cx="36576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424160" y="4023360"/>
            <a:ext cx="365760"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744200" y="1783080"/>
            <a:ext cx="1463040" cy="548640"/>
          </a:xfrm>
          <a:prstGeom prst="rect">
            <a:avLst/>
          </a:prstGeom>
          <a:noFill/>
        </p:spPr>
        <p:txBody>
          <a:bodyPr wrap="square" lIns="45720" rIns="45720">
            <a:spAutoFit/>
          </a:bodyPr>
          <a:lstStyle/>
          <a:p>
            <a:pPr>
              <a:spcAft>
                <a:spcPts val="600"/>
              </a:spcAft>
            </a:pPr>
            <a:r>
              <a:rPr b="0" sz="1600">
                <a:solidFill>
                  <a:srgbClr val="222831"/>
                </a:solidFill>
                <a:latin typeface="Calibri"/>
              </a:rPr>
              <a:t>a + W·b</a:t>
            </a:r>
          </a:p>
        </p:txBody>
      </p:sp>
      <p:sp>
        <p:nvSpPr>
          <p:cNvPr id="20" name="TextBox 19"/>
          <p:cNvSpPr txBox="1"/>
          <p:nvPr/>
        </p:nvSpPr>
        <p:spPr>
          <a:xfrm>
            <a:off x="10744200" y="3794760"/>
            <a:ext cx="1463040" cy="548640"/>
          </a:xfrm>
          <a:prstGeom prst="rect">
            <a:avLst/>
          </a:prstGeom>
          <a:noFill/>
        </p:spPr>
        <p:txBody>
          <a:bodyPr wrap="square" lIns="45720" rIns="45720">
            <a:spAutoFit/>
          </a:bodyPr>
          <a:lstStyle/>
          <a:p>
            <a:pPr>
              <a:spcAft>
                <a:spcPts val="600"/>
              </a:spcAft>
            </a:pPr>
            <a:r>
              <a:rPr b="0" sz="1600">
                <a:solidFill>
                  <a:srgbClr val="222831"/>
                </a:solidFill>
                <a:latin typeface="Calibri"/>
              </a:rPr>
              <a:t>a − W·b</a:t>
            </a:r>
          </a:p>
        </p:txBody>
      </p:sp>
      <p:sp>
        <p:nvSpPr>
          <p:cNvPr id="21" name="Rectangle 20"/>
          <p:cNvSpPr/>
          <p:nvPr/>
        </p:nvSpPr>
        <p:spPr>
          <a:xfrm>
            <a:off x="7132320" y="4800600"/>
            <a:ext cx="4572000" cy="123444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800600"/>
            <a:ext cx="64008" cy="123444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96912" y="4873752"/>
            <a:ext cx="4297680" cy="1097280"/>
          </a:xfrm>
          <a:prstGeom prst="rect">
            <a:avLst/>
          </a:prstGeom>
          <a:noFill/>
        </p:spPr>
        <p:txBody>
          <a:bodyPr wrap="square" lIns="45720" rIns="45720">
            <a:spAutoFit/>
          </a:bodyPr>
          <a:lstStyle/>
          <a:p>
            <a:pPr>
              <a:spcAft>
                <a:spcPts val="400"/>
              </a:spcAft>
            </a:pPr>
            <a:r>
              <a:rPr b="1" sz="1400">
                <a:solidFill>
                  <a:srgbClr val="1F3A5F"/>
                </a:solidFill>
                <a:latin typeface="Calibri"/>
              </a:rPr>
              <a:t>Costo de una mariposa</a:t>
            </a:r>
          </a:p>
          <a:p>
            <a:pPr>
              <a:spcAft>
                <a:spcPts val="400"/>
              </a:spcAft>
            </a:pPr>
            <a:r>
              <a:rPr b="0" sz="1400">
                <a:solidFill>
                  <a:srgbClr val="222831"/>
                </a:solidFill>
                <a:latin typeface="Calibri"/>
              </a:rPr>
              <a:t>1 multiplicación compleja (W·b, se usa 2 veces) + 2 sumas complejas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La FFT de 16 puntos: 4 etapas en paralelo</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4 · La FFT</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22</a:t>
            </a:r>
          </a:p>
        </p:txBody>
      </p:sp>
      <p:pic>
        <p:nvPicPr>
          <p:cNvPr id="6" name="Picture 5" descr="fft16_flujo.png"/>
          <p:cNvPicPr>
            <a:picLocks noChangeAspect="1"/>
          </p:cNvPicPr>
          <p:nvPr/>
        </p:nvPicPr>
        <p:blipFill>
          <a:blip r:embed="rId3"/>
          <a:stretch>
            <a:fillRect/>
          </a:stretch>
        </p:blipFill>
        <p:spPr>
          <a:xfrm>
            <a:off x="274320" y="1143000"/>
            <a:ext cx="8969375" cy="5166360"/>
          </a:xfrm>
          <a:prstGeom prst="rect">
            <a:avLst/>
          </a:prstGeom>
        </p:spPr>
      </p:pic>
      <p:sp>
        <p:nvSpPr>
          <p:cNvPr id="7" name="TextBox 6"/>
          <p:cNvSpPr txBox="1"/>
          <p:nvPr/>
        </p:nvSpPr>
        <p:spPr>
          <a:xfrm>
            <a:off x="9144000" y="1280160"/>
            <a:ext cx="2743200" cy="4937760"/>
          </a:xfrm>
          <a:prstGeom prst="rect">
            <a:avLst/>
          </a:prstGeom>
          <a:noFill/>
        </p:spPr>
        <p:txBody>
          <a:bodyPr wrap="square" lIns="45720" rIns="45720">
            <a:spAutoFit/>
          </a:bodyPr>
          <a:lstStyle/>
          <a:p>
            <a:pPr marL="256032" indent="-219456">
              <a:spcAft>
                <a:spcPts val="400"/>
              </a:spcAft>
              <a:buFont typeface="Arial"/>
              <a:buChar char="•"/>
            </a:pPr>
            <a:r>
              <a:rPr b="0" sz="1400">
                <a:solidFill>
                  <a:srgbClr val="222831"/>
                </a:solidFill>
                <a:latin typeface="Calibri"/>
              </a:rPr>
              <a:t>Entrada en </a:t>
            </a:r>
            <a:r>
              <a:rPr b="1" sz="1400">
                <a:solidFill>
                  <a:srgbClr val="1F3A5F"/>
                </a:solidFill>
                <a:latin typeface="Calibri"/>
              </a:rPr>
              <a:t>orden bit-reverso</a:t>
            </a:r>
            <a:r>
              <a:rPr b="0" sz="1400">
                <a:solidFill>
                  <a:srgbClr val="222831"/>
                </a:solidFill>
                <a:latin typeface="Calibri"/>
              </a:rPr>
              <a:t> (cableado, gratis).</a:t>
            </a:r>
          </a:p>
          <a:p>
            <a:pPr marL="256032" indent="-219456">
              <a:spcAft>
                <a:spcPts val="400"/>
              </a:spcAft>
              <a:buFont typeface="Arial"/>
              <a:buChar char="•"/>
            </a:pPr>
            <a:r>
              <a:rPr b="0" sz="1400">
                <a:solidFill>
                  <a:srgbClr val="222831"/>
                </a:solidFill>
                <a:latin typeface="Calibri"/>
              </a:rPr>
              <a:t>Twiddles por etapa:</a:t>
            </a:r>
          </a:p>
          <a:p>
            <a:pPr marL="548640" indent="-219456">
              <a:spcAft>
                <a:spcPts val="400"/>
              </a:spcAft>
              <a:buFont typeface="Arial"/>
              <a:buChar char="–"/>
            </a:pPr>
            <a:r>
              <a:rPr b="0" sz="1200">
                <a:solidFill>
                  <a:srgbClr val="5F6B7A"/>
                </a:solidFill>
                <a:latin typeface="Calibri"/>
              </a:rPr>
              <a:t>E1: W⁰</a:t>
            </a:r>
          </a:p>
          <a:p>
            <a:pPr marL="548640" indent="-219456">
              <a:spcAft>
                <a:spcPts val="400"/>
              </a:spcAft>
              <a:buFont typeface="Arial"/>
              <a:buChar char="–"/>
            </a:pPr>
            <a:r>
              <a:rPr b="0" sz="1200">
                <a:solidFill>
                  <a:srgbClr val="5F6B7A"/>
                </a:solidFill>
                <a:latin typeface="Calibri"/>
              </a:rPr>
              <a:t>E2: W⁰, W⁴</a:t>
            </a:r>
          </a:p>
          <a:p>
            <a:pPr marL="548640" indent="-219456">
              <a:spcAft>
                <a:spcPts val="400"/>
              </a:spcAft>
              <a:buFont typeface="Arial"/>
              <a:buChar char="–"/>
            </a:pPr>
            <a:r>
              <a:rPr b="0" sz="1200">
                <a:solidFill>
                  <a:srgbClr val="5F6B7A"/>
                </a:solidFill>
                <a:latin typeface="Calibri"/>
              </a:rPr>
              <a:t>E3: W⁰ W² W⁴ W⁶</a:t>
            </a:r>
          </a:p>
          <a:p>
            <a:pPr marL="548640" indent="-219456">
              <a:spcAft>
                <a:spcPts val="400"/>
              </a:spcAft>
              <a:buFont typeface="Arial"/>
              <a:buChar char="–"/>
            </a:pPr>
            <a:r>
              <a:rPr b="0" sz="1200">
                <a:solidFill>
                  <a:srgbClr val="5F6B7A"/>
                </a:solidFill>
                <a:latin typeface="Calibri"/>
              </a:rPr>
              <a:t>E4: W⁰ … W⁷</a:t>
            </a:r>
          </a:p>
          <a:p>
            <a:pPr marL="256032" indent="-219456">
              <a:spcAft>
                <a:spcPts val="400"/>
              </a:spcAft>
              <a:buFont typeface="Arial"/>
              <a:buChar char="•"/>
            </a:pPr>
            <a:r>
              <a:rPr b="1" sz="1400">
                <a:solidFill>
                  <a:srgbClr val="1F3A5F"/>
                </a:solidFill>
                <a:latin typeface="Calibri"/>
              </a:rPr>
              <a:t>W⁰ = 1, W⁴ = −j: sin multiplicador.</a:t>
            </a:r>
          </a:p>
          <a:p>
            <a:pPr marL="256032" indent="-219456">
              <a:spcAft>
                <a:spcPts val="400"/>
              </a:spcAft>
              <a:buFont typeface="Arial"/>
              <a:buChar char="•"/>
            </a:pPr>
            <a:r>
              <a:rPr b="0" sz="1400">
                <a:solidFill>
                  <a:srgbClr val="222831"/>
                </a:solidFill>
                <a:latin typeface="Calibri"/>
              </a:rPr>
              <a:t>Mult. reales: E1 0 · E2 0 · E3 8 · E4 24 → </a:t>
            </a:r>
            <a:r>
              <a:rPr b="1" sz="1400">
                <a:solidFill>
                  <a:srgbClr val="1F3A5F"/>
                </a:solidFill>
                <a:latin typeface="Calibri"/>
              </a:rPr>
              <a:t>≈ 32</a:t>
            </a:r>
            <a:r>
              <a:rPr b="0" sz="1400">
                <a:solidFill>
                  <a:srgbClr val="222831"/>
                </a:solidFill>
                <a:latin typeface="Calibri"/>
              </a:rPr>
              <a:t>.</a:t>
            </a:r>
          </a:p>
          <a:p>
            <a:pPr marL="256032" indent="-219456">
              <a:spcAft>
                <a:spcPts val="400"/>
              </a:spcAft>
              <a:buFont typeface="Arial"/>
              <a:buChar char="•"/>
            </a:pPr>
            <a:r>
              <a:rPr b="0" sz="1400">
                <a:solidFill>
                  <a:srgbClr val="222831"/>
                </a:solidFill>
                <a:latin typeface="Calibri"/>
              </a:rPr>
              <a:t>Todas en paralelo → </a:t>
            </a:r>
            <a:r>
              <a:rPr b="1" sz="1400">
                <a:solidFill>
                  <a:srgbClr val="1F3A5F"/>
                </a:solidFill>
                <a:latin typeface="Calibri"/>
              </a:rPr>
              <a:t>1 bloque por ciclo</a:t>
            </a:r>
            <a:r>
              <a:rPr b="0" sz="1400">
                <a:solidFill>
                  <a:srgbClr val="222831"/>
                </a:solidFill>
                <a:latin typeface="Calibri"/>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IFFT: la misma mariposa, con dos cambios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4 · La FFT</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23</a:t>
            </a:r>
          </a:p>
        </p:txBody>
      </p:sp>
      <p:sp>
        <p:nvSpPr>
          <p:cNvPr id="6" name="TextBox 5"/>
          <p:cNvSpPr txBox="1"/>
          <p:nvPr/>
        </p:nvSpPr>
        <p:spPr>
          <a:xfrm>
            <a:off x="548640" y="1280160"/>
            <a:ext cx="6583680" cy="4846320"/>
          </a:xfrm>
          <a:prstGeom prst="rect">
            <a:avLst/>
          </a:prstGeom>
          <a:noFill/>
        </p:spPr>
        <p:txBody>
          <a:bodyPr wrap="square" lIns="45720" rIns="45720">
            <a:spAutoFit/>
          </a:bodyPr>
          <a:lstStyle/>
          <a:p>
            <a:pPr marL="256032" indent="-219456">
              <a:spcAft>
                <a:spcPts val="600"/>
              </a:spcAft>
              <a:buFont typeface="Arial"/>
              <a:buChar char="•"/>
            </a:pPr>
            <a:r>
              <a:rPr b="0" sz="1600">
                <a:solidFill>
                  <a:srgbClr val="222831"/>
                </a:solidFill>
                <a:latin typeface="Calibri"/>
              </a:rPr>
              <a:t>IDFT: </a:t>
            </a:r>
            <a:r>
              <a:rPr b="1" sz="1600">
                <a:solidFill>
                  <a:srgbClr val="1F3A5F"/>
                </a:solidFill>
                <a:latin typeface="Calibri"/>
              </a:rPr>
              <a:t>x[n] = (1/N) Σₖ X[k] · W⁻ⁿᵏ</a:t>
            </a:r>
          </a:p>
          <a:p>
            <a:pPr marL="256032" indent="-219456">
              <a:spcAft>
                <a:spcPts val="600"/>
              </a:spcAft>
              <a:buFont typeface="Arial"/>
              <a:buChar char="•"/>
            </a:pPr>
            <a:r>
              <a:rPr b="1" sz="1600">
                <a:solidFill>
                  <a:srgbClr val="1F3A5F"/>
                </a:solidFill>
                <a:latin typeface="Calibri"/>
              </a:rPr>
              <a:t>Cambio 1: twiddles conjugados</a:t>
            </a:r>
            <a:r>
              <a:rPr b="0" sz="1600">
                <a:solidFill>
                  <a:srgbClr val="222831"/>
                </a:solidFill>
                <a:latin typeface="Calibri"/>
              </a:rPr>
              <a:t> W⁻ᵏ → misma ROM, se niega la parte imaginaria.</a:t>
            </a:r>
          </a:p>
          <a:p>
            <a:pPr marL="256032" indent="-219456">
              <a:spcAft>
                <a:spcPts val="600"/>
              </a:spcAft>
              <a:buFont typeface="Arial"/>
              <a:buChar char="•"/>
            </a:pPr>
            <a:r>
              <a:rPr b="1" sz="1600">
                <a:solidFill>
                  <a:srgbClr val="1F3A5F"/>
                </a:solidFill>
                <a:latin typeface="Calibri"/>
              </a:rPr>
              <a:t>Cambio 2: el 1/16 se reparte como ÷2 en cada etapa:</a:t>
            </a:r>
          </a:p>
          <a:p>
            <a:pPr marL="548640" indent="-219456">
              <a:spcAft>
                <a:spcPts val="600"/>
              </a:spcAft>
              <a:buFont typeface="Arial"/>
              <a:buChar char="–"/>
            </a:pPr>
            <a:r>
              <a:rPr b="0" sz="1400">
                <a:solidFill>
                  <a:srgbClr val="5F6B7A"/>
                </a:solidFill>
                <a:latin typeface="Calibri"/>
              </a:rPr>
              <a:t>÷2 = mover el punto binario → costo 0 en hardware</a:t>
            </a:r>
          </a:p>
          <a:p>
            <a:pPr marL="548640" indent="-219456">
              <a:spcAft>
                <a:spcPts val="600"/>
              </a:spcAft>
              <a:buFont typeface="Arial"/>
              <a:buChar char="–"/>
            </a:pPr>
            <a:r>
              <a:rPr b="0" sz="1400">
                <a:solidFill>
                  <a:srgbClr val="5F6B7A"/>
                </a:solidFill>
                <a:latin typeface="Calibri"/>
              </a:rPr>
              <a:t>|a ± W·b| / 2 ≤ max(|a|, |b|) → el ancho no crece: S(14,8) en las 4 etapas</a:t>
            </a:r>
          </a:p>
          <a:p>
            <a:pPr marL="548640" indent="-219456">
              <a:spcAft>
                <a:spcPts val="600"/>
              </a:spcAft>
              <a:buFont typeface="Arial"/>
              <a:buChar char="–"/>
            </a:pPr>
            <a:r>
              <a:rPr b="0" sz="1400">
                <a:solidFill>
                  <a:srgbClr val="5F6B7A"/>
                </a:solidFill>
                <a:latin typeface="Calibri"/>
              </a:rPr>
              <a:t>con ÷16 al final, la IFFT crecería 4 bits más para después descartarlos</a:t>
            </a:r>
          </a:p>
          <a:p>
            <a:pPr marL="256032" indent="-219456">
              <a:spcAft>
                <a:spcPts val="600"/>
              </a:spcAft>
              <a:buFont typeface="Arial"/>
              <a:buChar char="•"/>
            </a:pPr>
            <a:r>
              <a:rPr b="0" sz="1600">
                <a:solidFill>
                  <a:srgbClr val="222831"/>
                </a:solidFill>
                <a:latin typeface="Calibri"/>
              </a:rPr>
              <a:t>Alternativa: IFFT(X) = swap(FFT(swap(X)))/N, intercambiando re ↔ im → reusar el </a:t>
            </a:r>
            <a:r>
              <a:rPr b="1" sz="1600">
                <a:solidFill>
                  <a:srgbClr val="1F3A5F"/>
                </a:solidFill>
                <a:latin typeface="Calibri"/>
              </a:rPr>
              <a:t>mismo módulo</a:t>
            </a:r>
            <a:r>
              <a:rPr b="0" sz="1600">
                <a:solidFill>
                  <a:srgbClr val="222831"/>
                </a:solidFill>
                <a:latin typeface="Calibri"/>
              </a:rPr>
              <a:t> FFT.</a:t>
            </a:r>
          </a:p>
        </p:txBody>
      </p:sp>
      <p:graphicFrame>
        <p:nvGraphicFramePr>
          <p:cNvPr id="7" name="Table 6"/>
          <p:cNvGraphicFramePr>
            <a:graphicFrameLocks noGrp="1"/>
          </p:cNvGraphicFramePr>
          <p:nvPr/>
        </p:nvGraphicFramePr>
        <p:xfrm>
          <a:off x="7498079" y="1371600"/>
          <a:ext cx="4206240" cy="3017520"/>
        </p:xfrm>
        <a:graphic>
          <a:graphicData uri="http://schemas.openxmlformats.org/drawingml/2006/table">
            <a:tbl>
              <a:tblPr firstRow="1" bandRow="1">
                <a:tableStyleId>{5C22544A-7EE6-4342-B048-85BDC9FD1C3A}</a:tableStyleId>
              </a:tblPr>
              <a:tblGrid>
                <a:gridCol w="1371600"/>
                <a:gridCol w="1188720"/>
                <a:gridCol w="1645920"/>
              </a:tblGrid>
              <a:tr h="502920">
                <a:tc>
                  <a:txBody>
                    <a:bodyPr wrap="square"/>
                    <a:lstStyle/>
                    <a:p/>
                  </a:txBody>
                  <a:tcPr marL="73152" marR="73152" marT="27432" marB="27432" anchor="ctr">
                    <a:solidFill>
                      <a:srgbClr val="1F3A5F"/>
                    </a:solidFill>
                  </a:tcPr>
                </a:tc>
                <a:tc>
                  <a:txBody>
                    <a:bodyPr wrap="square"/>
                    <a:lstStyle/>
                    <a:p>
                      <a:r>
                        <a:rPr b="1" sz="1300">
                          <a:solidFill>
                            <a:srgbClr val="FFFFFF"/>
                          </a:solidFill>
                          <a:latin typeface="Calibri"/>
                        </a:rPr>
                        <a:t>FFT</a:t>
                      </a:r>
                    </a:p>
                  </a:txBody>
                  <a:tcPr marL="73152" marR="73152" marT="27432" marB="27432" anchor="ctr">
                    <a:solidFill>
                      <a:srgbClr val="1F3A5F"/>
                    </a:solidFill>
                  </a:tcPr>
                </a:tc>
                <a:tc>
                  <a:txBody>
                    <a:bodyPr wrap="square"/>
                    <a:lstStyle/>
                    <a:p>
                      <a:r>
                        <a:rPr b="1" sz="1300">
                          <a:solidFill>
                            <a:srgbClr val="FFFFFF"/>
                          </a:solidFill>
                          <a:latin typeface="Calibri"/>
                        </a:rPr>
                        <a:t>IFFT</a:t>
                      </a:r>
                    </a:p>
                  </a:txBody>
                  <a:tcPr marL="73152" marR="73152" marT="27432" marB="27432" anchor="ctr">
                    <a:solidFill>
                      <a:srgbClr val="1F3A5F"/>
                    </a:solidFill>
                  </a:tcPr>
                </a:tc>
              </a:tr>
              <a:tr h="502920">
                <a:tc>
                  <a:txBody>
                    <a:bodyPr wrap="square"/>
                    <a:lstStyle/>
                    <a:p>
                      <a:r>
                        <a:rPr b="1" sz="1300">
                          <a:solidFill>
                            <a:srgbClr val="222831"/>
                          </a:solidFill>
                          <a:latin typeface="Calibri"/>
                        </a:rPr>
                        <a:t>Twiddle</a:t>
                      </a:r>
                    </a:p>
                  </a:txBody>
                  <a:tcPr marL="73152" marR="73152" marT="27432" marB="27432" anchor="ctr">
                    <a:solidFill>
                      <a:srgbClr val="FFFFFF"/>
                    </a:solidFill>
                  </a:tcPr>
                </a:tc>
                <a:tc>
                  <a:txBody>
                    <a:bodyPr wrap="square"/>
                    <a:lstStyle/>
                    <a:p>
                      <a:r>
                        <a:rPr b="0" sz="1300">
                          <a:solidFill>
                            <a:srgbClr val="222831"/>
                          </a:solidFill>
                          <a:latin typeface="Calibri"/>
                        </a:rPr>
                        <a:t>Wᵏ</a:t>
                      </a:r>
                    </a:p>
                  </a:txBody>
                  <a:tcPr marL="73152" marR="73152" marT="27432" marB="27432" anchor="ctr">
                    <a:solidFill>
                      <a:srgbClr val="FFFFFF"/>
                    </a:solidFill>
                  </a:tcPr>
                </a:tc>
                <a:tc>
                  <a:txBody>
                    <a:bodyPr wrap="square"/>
                    <a:lstStyle/>
                    <a:p>
                      <a:r>
                        <a:rPr b="0" sz="1300">
                          <a:solidFill>
                            <a:srgbClr val="222831"/>
                          </a:solidFill>
                          <a:latin typeface="Calibri"/>
                        </a:rPr>
                        <a:t>W⁻ᵏ (conj.)</a:t>
                      </a:r>
                    </a:p>
                  </a:txBody>
                  <a:tcPr marL="73152" marR="73152" marT="27432" marB="27432" anchor="ctr">
                    <a:solidFill>
                      <a:srgbClr val="FFFFFF"/>
                    </a:solidFill>
                  </a:tcPr>
                </a:tc>
              </a:tr>
              <a:tr h="502920">
                <a:tc>
                  <a:txBody>
                    <a:bodyPr wrap="square"/>
                    <a:lstStyle/>
                    <a:p>
                      <a:r>
                        <a:rPr b="1" sz="1300">
                          <a:solidFill>
                            <a:srgbClr val="222831"/>
                          </a:solidFill>
                          <a:latin typeface="Calibri"/>
                        </a:rPr>
                        <a:t>Escala por etapa</a:t>
                      </a:r>
                    </a:p>
                  </a:txBody>
                  <a:tcPr marL="73152" marR="73152" marT="27432" marB="27432" anchor="ctr">
                    <a:solidFill>
                      <a:srgbClr val="F3F5F8"/>
                    </a:solidFill>
                  </a:tcPr>
                </a:tc>
                <a:tc>
                  <a:txBody>
                    <a:bodyPr wrap="square"/>
                    <a:lstStyle/>
                    <a:p>
                      <a:r>
                        <a:rPr b="0" sz="1300">
                          <a:solidFill>
                            <a:srgbClr val="222831"/>
                          </a:solidFill>
                          <a:latin typeface="Calibri"/>
                        </a:rPr>
                        <a:t>ninguna</a:t>
                      </a:r>
                    </a:p>
                  </a:txBody>
                  <a:tcPr marL="73152" marR="73152" marT="27432" marB="27432" anchor="ctr">
                    <a:solidFill>
                      <a:srgbClr val="F3F5F8"/>
                    </a:solidFill>
                  </a:tcPr>
                </a:tc>
                <a:tc>
                  <a:txBody>
                    <a:bodyPr wrap="square"/>
                    <a:lstStyle/>
                    <a:p>
                      <a:r>
                        <a:rPr b="0" sz="1300">
                          <a:solidFill>
                            <a:srgbClr val="222831"/>
                          </a:solidFill>
                          <a:latin typeface="Calibri"/>
                        </a:rPr>
                        <a:t>÷2</a:t>
                      </a:r>
                    </a:p>
                  </a:txBody>
                  <a:tcPr marL="73152" marR="73152" marT="27432" marB="27432" anchor="ctr">
                    <a:solidFill>
                      <a:srgbClr val="F3F5F8"/>
                    </a:solidFill>
                  </a:tcPr>
                </a:tc>
              </a:tr>
              <a:tr h="502920">
                <a:tc>
                  <a:txBody>
                    <a:bodyPr wrap="square"/>
                    <a:lstStyle/>
                    <a:p>
                      <a:r>
                        <a:rPr b="1" sz="1300">
                          <a:solidFill>
                            <a:srgbClr val="222831"/>
                          </a:solidFill>
                          <a:latin typeface="Calibri"/>
                        </a:rPr>
                        <a:t>Ancho</a:t>
                      </a:r>
                    </a:p>
                  </a:txBody>
                  <a:tcPr marL="73152" marR="73152" marT="27432" marB="27432" anchor="ctr">
                    <a:solidFill>
                      <a:srgbClr val="FFFFFF"/>
                    </a:solidFill>
                  </a:tcPr>
                </a:tc>
                <a:tc>
                  <a:txBody>
                    <a:bodyPr wrap="square"/>
                    <a:lstStyle/>
                    <a:p>
                      <a:r>
                        <a:rPr b="0" sz="1300">
                          <a:solidFill>
                            <a:srgbClr val="222831"/>
                          </a:solidFill>
                          <a:latin typeface="Calibri"/>
                        </a:rPr>
                        <a:t>+1 bit/etapa</a:t>
                      </a:r>
                    </a:p>
                  </a:txBody>
                  <a:tcPr marL="73152" marR="73152" marT="27432" marB="27432" anchor="ctr">
                    <a:solidFill>
                      <a:srgbClr val="FFFFFF"/>
                    </a:solidFill>
                  </a:tcPr>
                </a:tc>
                <a:tc>
                  <a:txBody>
                    <a:bodyPr wrap="square"/>
                    <a:lstStyle/>
                    <a:p>
                      <a:r>
                        <a:rPr b="0" sz="1300">
                          <a:solidFill>
                            <a:srgbClr val="222831"/>
                          </a:solidFill>
                          <a:latin typeface="Calibri"/>
                        </a:rPr>
                        <a:t>constante</a:t>
                      </a:r>
                    </a:p>
                  </a:txBody>
                  <a:tcPr marL="73152" marR="73152" marT="27432" marB="27432" anchor="ctr">
                    <a:solidFill>
                      <a:srgbClr val="FFFFFF"/>
                    </a:solidFill>
                  </a:tcPr>
                </a:tc>
              </a:tr>
              <a:tr h="502920">
                <a:tc>
                  <a:txBody>
                    <a:bodyPr wrap="square"/>
                    <a:lstStyle/>
                    <a:p>
                      <a:r>
                        <a:rPr b="1" sz="1300">
                          <a:solidFill>
                            <a:srgbClr val="222831"/>
                          </a:solidFill>
                          <a:latin typeface="Calibri"/>
                        </a:rPr>
                        <a:t>Formato salida</a:t>
                      </a:r>
                    </a:p>
                  </a:txBody>
                  <a:tcPr marL="73152" marR="73152" marT="27432" marB="27432" anchor="ctr">
                    <a:solidFill>
                      <a:srgbClr val="F3F5F8"/>
                    </a:solidFill>
                  </a:tcPr>
                </a:tc>
                <a:tc>
                  <a:txBody>
                    <a:bodyPr wrap="square"/>
                    <a:lstStyle/>
                    <a:p>
                      <a:r>
                        <a:rPr b="0" sz="1300">
                          <a:solidFill>
                            <a:srgbClr val="222831"/>
                          </a:solidFill>
                          <a:latin typeface="Calibri"/>
                        </a:rPr>
                        <a:t>S(14,8)</a:t>
                      </a:r>
                    </a:p>
                  </a:txBody>
                  <a:tcPr marL="73152" marR="73152" marT="27432" marB="27432" anchor="ctr">
                    <a:solidFill>
                      <a:srgbClr val="F3F5F8"/>
                    </a:solidFill>
                  </a:tcPr>
                </a:tc>
                <a:tc>
                  <a:txBody>
                    <a:bodyPr wrap="square"/>
                    <a:lstStyle/>
                    <a:p>
                      <a:r>
                        <a:rPr b="0" sz="1300">
                          <a:solidFill>
                            <a:srgbClr val="222831"/>
                          </a:solidFill>
                          <a:latin typeface="Calibri"/>
                        </a:rPr>
                        <a:t>S(14,8)</a:t>
                      </a:r>
                    </a:p>
                  </a:txBody>
                  <a:tcPr marL="73152" marR="73152" marT="27432" marB="27432" anchor="ctr">
                    <a:solidFill>
                      <a:srgbClr val="F3F5F8"/>
                    </a:solidFill>
                  </a:tcPr>
                </a:tc>
              </a:tr>
              <a:tr h="502920">
                <a:tc>
                  <a:txBody>
                    <a:bodyPr wrap="square"/>
                    <a:lstStyle/>
                    <a:p>
                      <a:r>
                        <a:rPr b="1" sz="1300">
                          <a:solidFill>
                            <a:srgbClr val="222831"/>
                          </a:solidFill>
                          <a:latin typeface="Calibri"/>
                        </a:rPr>
                        <a:t>En el código</a:t>
                      </a:r>
                    </a:p>
                  </a:txBody>
                  <a:tcPr marL="73152" marR="73152" marT="27432" marB="27432" anchor="ctr">
                    <a:solidFill>
                      <a:srgbClr val="FFFFFF"/>
                    </a:solidFill>
                  </a:tcPr>
                </a:tc>
                <a:tc>
                  <a:txBody>
                    <a:bodyPr wrap="square"/>
                    <a:lstStyle/>
                    <a:p>
                      <a:r>
                        <a:rPr b="0" sz="1300">
                          <a:solidFill>
                            <a:srgbClr val="222831"/>
                          </a:solidFill>
                          <a:latin typeface="Calibri"/>
                        </a:rPr>
                        <a:t>scale=False</a:t>
                      </a:r>
                    </a:p>
                  </a:txBody>
                  <a:tcPr marL="73152" marR="73152" marT="27432" marB="27432" anchor="ctr">
                    <a:solidFill>
                      <a:srgbClr val="FFFFFF"/>
                    </a:solidFill>
                  </a:tcPr>
                </a:tc>
                <a:tc>
                  <a:txBody>
                    <a:bodyPr wrap="square"/>
                    <a:lstStyle/>
                    <a:p>
                      <a:r>
                        <a:rPr b="0" sz="1300">
                          <a:solidFill>
                            <a:srgbClr val="222831"/>
                          </a:solidFill>
                          <a:latin typeface="Calibri"/>
                        </a:rPr>
                        <a:t>inverse=True, scale=True</a:t>
                      </a:r>
                    </a:p>
                  </a:txBody>
                  <a:tcPr marL="73152" marR="73152" marT="27432" marB="27432"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Código: fft_fxp() — una etapa de mariposas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4 · La FFT</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24</a:t>
            </a:r>
          </a:p>
        </p:txBody>
      </p:sp>
      <p:sp>
        <p:nvSpPr>
          <p:cNvPr id="6" name="Rectangle 5"/>
          <p:cNvSpPr/>
          <p:nvPr/>
        </p:nvSpPr>
        <p:spPr>
          <a:xfrm>
            <a:off x="548640" y="1280160"/>
            <a:ext cx="8138160" cy="4754880"/>
          </a:xfrm>
          <a:prstGeom prst="rect">
            <a:avLst/>
          </a:prstGeom>
          <a:solidFill>
            <a:srgbClr val="F3F5F8"/>
          </a:solidFill>
          <a:ln>
            <a:solidFill>
              <a:srgbClr val="D5DB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a:lstStyle/>
          <a:p>
            <a:pPr algn="l">
              <a:spcAft>
                <a:spcPts val="0"/>
              </a:spcAft>
            </a:pPr>
            <a:r>
              <a:rPr sz="1200">
                <a:solidFill>
                  <a:srgbClr val="222831"/>
                </a:solidFill>
                <a:latin typeface="Consolas"/>
              </a:rPr>
              <a:t>for s, fmt_s in enumerate(stage_fmts):         </a:t>
            </a:r>
            <a:r>
              <a:rPr sz="1200">
                <a:solidFill>
                  <a:srgbClr val="4E7D5B"/>
                </a:solidFill>
                <a:latin typeface="Consolas"/>
              </a:rPr>
              <a:t># una iteracion = una etapa</a:t>
            </a:r>
          </a:p>
          <a:p>
            <a:pPr algn="l">
              <a:spcAft>
                <a:spcPts val="0"/>
              </a:spcAft>
            </a:pPr>
            <a:r>
              <a:rPr sz="1200">
                <a:solidFill>
                  <a:srgbClr val="222831"/>
                </a:solidFill>
                <a:latin typeface="Consolas"/>
              </a:rPr>
              <a:t>    ia, ib, iw = butterfly_indices(n, m)       </a:t>
            </a:r>
            <a:r>
              <a:rPr sz="1200">
                <a:solidFill>
                  <a:srgbClr val="4E7D5B"/>
                </a:solidFill>
                <a:latin typeface="Consolas"/>
              </a:rPr>
              <a:t># pares (a, b) y twiddle de c/u</a:t>
            </a:r>
          </a:p>
          <a:p>
            <a:pPr algn="l">
              <a:spcAft>
                <a:spcPts val="0"/>
              </a:spcAft>
            </a:pPr>
            <a:r>
              <a:rPr sz="1200">
                <a:solidFill>
                  <a:srgbClr val="222831"/>
                </a:solidFill>
                <a:latin typeface="Consolas"/>
              </a:rPr>
              <a:t>    wr, wi = tw_re[iw], tw_im_used[iw]         </a:t>
            </a:r>
            <a:r>
              <a:rPr sz="1200">
                <a:solidFill>
                  <a:srgbClr val="4E7D5B"/>
                </a:solidFill>
                <a:latin typeface="Consolas"/>
              </a:rPr>
              <a:t># tw_im negado en la IFFT (conj.)</a:t>
            </a:r>
          </a:p>
          <a:p>
            <a:pPr algn="l">
              <a:spcAft>
                <a:spcPts val="0"/>
              </a:spcAft>
            </a:pPr>
            <a:r>
              <a:rPr sz="1200">
                <a:solidFill>
                  <a:srgbClr val="222831"/>
                </a:solidFill>
                <a:latin typeface="Consolas"/>
              </a:rPr>
              <a:t>    br, bi = a_re[..., ib], a_im[..., ib]      </a:t>
            </a:r>
            <a:r>
              <a:rPr sz="1200">
                <a:solidFill>
                  <a:srgbClr val="4E7D5B"/>
                </a:solidFill>
                <a:latin typeface="Consolas"/>
              </a:rPr>
              <a:t># ... = todos los bloques</a:t>
            </a:r>
          </a:p>
          <a:p>
            <a:pPr algn="l">
              <a:spcAft>
                <a:spcPts val="0"/>
              </a:spcAft>
            </a:pPr>
            <a:r>
              <a:rPr sz="1200">
                <a:solidFill>
                  <a:srgbClr val="222831"/>
                </a:solidFill>
                <a:latin typeface="Consolas"/>
              </a:rPr>
              <a:t>    ar, ai = a_re[..., ia], a_im[..., ia]</a:t>
            </a:r>
          </a:p>
          <a:p>
            <a:pPr algn="l">
              <a:spcAft>
                <a:spcPts val="0"/>
              </a:spcAft>
            </a:pPr>
            <a:r>
              <a:rPr sz="1200">
                <a:solidFill>
                  <a:srgbClr val="222831"/>
                </a:solidFill>
                <a:latin typeface="Consolas"/>
              </a:rPr>
              <a:t>    t_re = br * wr - bi * wi                   </a:t>
            </a:r>
            <a:r>
              <a:rPr sz="1200">
                <a:solidFill>
                  <a:srgbClr val="4E7D5B"/>
                </a:solidFill>
                <a:latin typeface="Consolas"/>
              </a:rPr>
              <a:t># t = W*b: fxpmath calcula</a:t>
            </a:r>
          </a:p>
          <a:p>
            <a:pPr algn="l">
              <a:spcAft>
                <a:spcPts val="0"/>
              </a:spcAft>
            </a:pPr>
            <a:r>
              <a:rPr sz="1200">
                <a:solidFill>
                  <a:srgbClr val="222831"/>
                </a:solidFill>
                <a:latin typeface="Consolas"/>
              </a:rPr>
              <a:t>    t_im = br * wi + bi * wr                   </a:t>
            </a:r>
            <a:r>
              <a:rPr sz="1200">
                <a:solidFill>
                  <a:srgbClr val="4E7D5B"/>
                </a:solidFill>
                <a:latin typeface="Consolas"/>
              </a:rPr>
              <a:t>#   a ancho completo</a:t>
            </a:r>
          </a:p>
          <a:p>
            <a:pPr algn="l">
              <a:spcAft>
                <a:spcPts val="0"/>
              </a:spcAft>
            </a:pPr>
            <a:r>
              <a:rPr sz="1200">
                <a:solidFill>
                  <a:srgbClr val="222831"/>
                </a:solidFill>
                <a:latin typeface="Consolas"/>
              </a:rPr>
              <a:t>    s_re, s_im = ar + t_re, ai + t_im          </a:t>
            </a:r>
            <a:r>
              <a:rPr sz="1200">
                <a:solidFill>
                  <a:srgbClr val="4E7D5B"/>
                </a:solidFill>
                <a:latin typeface="Consolas"/>
              </a:rPr>
              <a:t># a + W*b (alinea los puntos solo)</a:t>
            </a:r>
          </a:p>
          <a:p>
            <a:pPr algn="l">
              <a:spcAft>
                <a:spcPts val="0"/>
              </a:spcAft>
            </a:pPr>
            <a:r>
              <a:rPr sz="1200">
                <a:solidFill>
                  <a:srgbClr val="222831"/>
                </a:solidFill>
                <a:latin typeface="Consolas"/>
              </a:rPr>
              <a:t>    d_re, d_im = ar - t_re, ai - t_im          </a:t>
            </a:r>
            <a:r>
              <a:rPr sz="1200">
                <a:solidFill>
                  <a:srgbClr val="4E7D5B"/>
                </a:solidFill>
                <a:latin typeface="Consolas"/>
              </a:rPr>
              <a:t># a - W*b</a:t>
            </a:r>
          </a:p>
          <a:p>
            <a:pPr algn="l">
              <a:spcAft>
                <a:spcPts val="0"/>
              </a:spcAft>
            </a:pPr>
            <a:r>
              <a:rPr sz="1200">
                <a:solidFill>
                  <a:srgbClr val="222831"/>
                </a:solidFill>
                <a:latin typeface="Consolas"/>
              </a:rPr>
              <a:t>    if scale:                                  </a:t>
            </a:r>
            <a:r>
              <a:rPr sz="1200">
                <a:solidFill>
                  <a:srgbClr val="4E7D5B"/>
                </a:solidFill>
                <a:latin typeface="Consolas"/>
              </a:rPr>
              <a:t># /2 exacto: * Fxp(0.5)</a:t>
            </a:r>
          </a:p>
          <a:p>
            <a:pPr algn="l">
              <a:spcAft>
                <a:spcPts val="0"/>
              </a:spcAft>
            </a:pPr>
            <a:r>
              <a:rPr sz="1200">
                <a:solidFill>
                  <a:srgbClr val="222831"/>
                </a:solidFill>
                <a:latin typeface="Consolas"/>
              </a:rPr>
              <a:t>        s_re, s_im, d_re, d_im = (v * HALF for v in (s_re, s_im, d_re, d_im))</a:t>
            </a:r>
          </a:p>
          <a:p>
            <a:pPr algn="l">
              <a:spcAft>
                <a:spcPts val="0"/>
              </a:spcAft>
            </a:pPr>
            <a:r>
              <a:rPr sz="1200">
                <a:solidFill>
                  <a:srgbClr val="222831"/>
                </a:solidFill>
                <a:latin typeface="Consolas"/>
              </a:rPr>
              <a:t>    out_re[..., ia] = requant(s_re, fmt_s, **kw)   </a:t>
            </a:r>
            <a:r>
              <a:rPr sz="1200">
                <a:solidFill>
                  <a:srgbClr val="4E7D5B"/>
                </a:solidFill>
                <a:latin typeface="Consolas"/>
              </a:rPr>
              <a:t># unico redondeo</a:t>
            </a:r>
          </a:p>
          <a:p>
            <a:pPr algn="l">
              <a:spcAft>
                <a:spcPts val="0"/>
              </a:spcAft>
            </a:pPr>
            <a:r>
              <a:rPr sz="1200">
                <a:solidFill>
                  <a:srgbClr val="222831"/>
                </a:solidFill>
                <a:latin typeface="Consolas"/>
              </a:rPr>
              <a:t>    out_im[..., ia] = requant(s_im, fmt_s, **kw)</a:t>
            </a:r>
          </a:p>
          <a:p>
            <a:pPr algn="l">
              <a:spcAft>
                <a:spcPts val="0"/>
              </a:spcAft>
            </a:pPr>
            <a:r>
              <a:rPr sz="1200">
                <a:solidFill>
                  <a:srgbClr val="222831"/>
                </a:solidFill>
                <a:latin typeface="Consolas"/>
              </a:rPr>
              <a:t>    out_re[..., ib] = requant(d_re, fmt_s, **kw)</a:t>
            </a:r>
          </a:p>
          <a:p>
            <a:pPr algn="l">
              <a:spcAft>
                <a:spcPts val="0"/>
              </a:spcAft>
            </a:pPr>
            <a:r>
              <a:rPr sz="1200">
                <a:solidFill>
                  <a:srgbClr val="222831"/>
                </a:solidFill>
                <a:latin typeface="Consolas"/>
              </a:rPr>
              <a:t>    out_im[..., ib] = requant(d_im, fmt_s, **kw)</a:t>
            </a:r>
          </a:p>
          <a:p>
            <a:pPr algn="l">
              <a:spcAft>
                <a:spcPts val="0"/>
              </a:spcAft>
            </a:pPr>
            <a:r>
              <a:rPr sz="1200">
                <a:solidFill>
                  <a:srgbClr val="222831"/>
                </a:solidFill>
                <a:latin typeface="Consolas"/>
              </a:rPr>
              <a:t>    a_re, a_im = out_re, out_im                </a:t>
            </a:r>
            <a:r>
              <a:rPr sz="1200">
                <a:solidFill>
                  <a:srgbClr val="4E7D5B"/>
                </a:solidFill>
                <a:latin typeface="Consolas"/>
              </a:rPr>
              <a:t># pasa a la etapa siguiente</a:t>
            </a:r>
          </a:p>
        </p:txBody>
      </p:sp>
      <p:sp>
        <p:nvSpPr>
          <p:cNvPr id="7" name="TextBox 6"/>
          <p:cNvSpPr txBox="1"/>
          <p:nvPr/>
        </p:nvSpPr>
        <p:spPr>
          <a:xfrm>
            <a:off x="8961120" y="1325880"/>
            <a:ext cx="2834640" cy="4754880"/>
          </a:xfrm>
          <a:prstGeom prst="rect">
            <a:avLst/>
          </a:prstGeom>
          <a:noFill/>
        </p:spPr>
        <p:txBody>
          <a:bodyPr wrap="square" lIns="45720" rIns="45720">
            <a:spAutoFit/>
          </a:bodyPr>
          <a:lstStyle/>
          <a:p>
            <a:pPr marL="256032" indent="-219456">
              <a:spcAft>
                <a:spcPts val="600"/>
              </a:spcAft>
              <a:buFont typeface="Arial"/>
              <a:buChar char="•"/>
            </a:pPr>
            <a:r>
              <a:rPr b="0" sz="1400">
                <a:solidFill>
                  <a:srgbClr val="222831"/>
                </a:solidFill>
                <a:latin typeface="Calibri"/>
              </a:rPr>
              <a:t>8 mariposas por etapa, </a:t>
            </a:r>
            <a:r>
              <a:rPr b="1" sz="1400">
                <a:solidFill>
                  <a:srgbClr val="1F3A5F"/>
                </a:solidFill>
                <a:latin typeface="Calibri"/>
              </a:rPr>
              <a:t>vectorizadas</a:t>
            </a:r>
            <a:r>
              <a:rPr b="0" sz="1400">
                <a:solidFill>
                  <a:srgbClr val="222831"/>
                </a:solidFill>
                <a:latin typeface="Calibri"/>
              </a:rPr>
              <a:t> = en paralelo, como en el RTL.</a:t>
            </a:r>
          </a:p>
          <a:p>
            <a:pPr marL="256032" indent="-219456">
              <a:spcAft>
                <a:spcPts val="600"/>
              </a:spcAft>
              <a:buFont typeface="Arial"/>
              <a:buChar char="•"/>
            </a:pPr>
            <a:r>
              <a:rPr b="0" sz="1400">
                <a:solidFill>
                  <a:srgbClr val="222831"/>
                </a:solidFill>
                <a:latin typeface="Calibri"/>
              </a:rPr>
              <a:t>Productos y sumas </a:t>
            </a:r>
            <a:r>
              <a:rPr b="1" sz="1400">
                <a:solidFill>
                  <a:srgbClr val="1F3A5F"/>
                </a:solidFill>
                <a:latin typeface="Calibri"/>
              </a:rPr>
              <a:t>exactos</a:t>
            </a:r>
            <a:r>
              <a:rPr b="0" sz="1400">
                <a:solidFill>
                  <a:srgbClr val="222831"/>
                </a:solidFill>
                <a:latin typeface="Calibri"/>
              </a:rPr>
              <a:t>: fxpmath agranda la palabra y </a:t>
            </a:r>
            <a:r>
              <a:rPr b="1" sz="1400">
                <a:solidFill>
                  <a:srgbClr val="1F3A5F"/>
                </a:solidFill>
                <a:latin typeface="Calibri"/>
              </a:rPr>
              <a:t>alinea los puntos solo</a:t>
            </a:r>
            <a:r>
              <a:rPr b="0" sz="1400">
                <a:solidFill>
                  <a:srgbClr val="222831"/>
                </a:solidFill>
                <a:latin typeface="Calibri"/>
              </a:rPr>
              <a:t>.</a:t>
            </a:r>
          </a:p>
          <a:p>
            <a:pPr marL="256032" indent="-219456">
              <a:spcAft>
                <a:spcPts val="600"/>
              </a:spcAft>
              <a:buFont typeface="Arial"/>
              <a:buChar char="•"/>
            </a:pPr>
            <a:r>
              <a:rPr b="1" sz="1400">
                <a:solidFill>
                  <a:srgbClr val="1F3A5F"/>
                </a:solidFill>
                <a:latin typeface="Calibri"/>
              </a:rPr>
              <a:t>Un solo redondeo</a:t>
            </a:r>
            <a:r>
              <a:rPr b="0" sz="1400">
                <a:solidFill>
                  <a:srgbClr val="222831"/>
                </a:solidFill>
                <a:latin typeface="Calibri"/>
              </a:rPr>
              <a:t> por salida: </a:t>
            </a:r>
            <a:r>
              <a:rPr b="0" sz="1400">
                <a:solidFill>
                  <a:srgbClr val="0E6E63"/>
                </a:solidFill>
                <a:latin typeface="Consolas"/>
              </a:rPr>
              <a:t>requant</a:t>
            </a:r>
            <a:r>
              <a:rPr b="0" sz="1400">
                <a:solidFill>
                  <a:srgbClr val="222831"/>
                </a:solidFill>
                <a:latin typeface="Calibri"/>
              </a:rPr>
              <a:t>.</a:t>
            </a:r>
          </a:p>
          <a:p>
            <a:pPr marL="256032" indent="-219456">
              <a:spcAft>
                <a:spcPts val="600"/>
              </a:spcAft>
              <a:buFont typeface="Arial"/>
              <a:buChar char="•"/>
            </a:pPr>
            <a:r>
              <a:rPr b="0" sz="1400">
                <a:solidFill>
                  <a:srgbClr val="222831"/>
                </a:solidFill>
                <a:latin typeface="Calibri"/>
              </a:rPr>
              <a:t>Cada etapa se guarda → </a:t>
            </a:r>
            <a:r>
              <a:rPr b="0" sz="1400">
                <a:solidFill>
                  <a:srgbClr val="0E6E63"/>
                </a:solidFill>
                <a:latin typeface="Consolas"/>
              </a:rPr>
              <a:t>fft_st1..4.hex</a:t>
            </a:r>
            <a:r>
              <a:rPr b="0" sz="1400">
                <a:solidFill>
                  <a:srgbClr val="222831"/>
                </a:solidFill>
                <a:latin typeface="Calibri"/>
              </a:rPr>
              <a:t>.</a:t>
            </a:r>
          </a:p>
          <a:p>
            <a:pPr marL="256032" indent="-219456">
              <a:spcAft>
                <a:spcPts val="600"/>
              </a:spcAft>
              <a:buFont typeface="Arial"/>
              <a:buChar char="•"/>
            </a:pPr>
            <a:r>
              <a:rPr b="0" sz="1400">
                <a:solidFill>
                  <a:srgbClr val="222831"/>
                </a:solidFill>
                <a:latin typeface="Calibri"/>
              </a:rPr>
              <a:t>La IFFT es la misma función con </a:t>
            </a:r>
            <a:r>
              <a:rPr b="0" sz="1400">
                <a:solidFill>
                  <a:srgbClr val="0E6E63"/>
                </a:solidFill>
                <a:latin typeface="Consolas"/>
              </a:rPr>
              <a:t>inverse=True, scale=True</a:t>
            </a:r>
            <a:r>
              <a:rPr b="0" sz="1400">
                <a:solidFill>
                  <a:srgbClr val="222831"/>
                </a:solidFill>
                <a:latin typeface="Calibri"/>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822960" y="2103120"/>
            <a:ext cx="10515600" cy="914400"/>
          </a:xfrm>
          <a:prstGeom prst="rect">
            <a:avLst/>
          </a:prstGeom>
          <a:noFill/>
        </p:spPr>
        <p:txBody>
          <a:bodyPr wrap="square" lIns="45720" rIns="45720">
            <a:spAutoFit/>
          </a:bodyPr>
          <a:lstStyle/>
          <a:p>
            <a:pPr>
              <a:spcAft>
                <a:spcPts val="600"/>
              </a:spcAft>
            </a:pPr>
            <a:r>
              <a:rPr b="0" sz="5400">
                <a:solidFill>
                  <a:srgbClr val="1A9E8F"/>
                </a:solidFill>
                <a:latin typeface="Calibri"/>
              </a:rPr>
              <a:t>5</a:t>
            </a:r>
          </a:p>
        </p:txBody>
      </p:sp>
      <p:sp>
        <p:nvSpPr>
          <p:cNvPr id="3" name="TextBox 2"/>
          <p:cNvSpPr txBox="1"/>
          <p:nvPr/>
        </p:nvSpPr>
        <p:spPr>
          <a:xfrm>
            <a:off x="822960" y="3017520"/>
            <a:ext cx="10515600" cy="914400"/>
          </a:xfrm>
          <a:prstGeom prst="rect">
            <a:avLst/>
          </a:prstGeom>
          <a:noFill/>
        </p:spPr>
        <p:txBody>
          <a:bodyPr wrap="square" lIns="45720" rIns="45720">
            <a:spAutoFit/>
          </a:bodyPr>
          <a:lstStyle/>
          <a:p>
            <a:pPr>
              <a:spcAft>
                <a:spcPts val="600"/>
              </a:spcAft>
            </a:pPr>
            <a:r>
              <a:rPr b="0" sz="4000">
                <a:solidFill>
                  <a:srgbClr val="FFFFFF"/>
                </a:solidFill>
                <a:latin typeface="Calibri"/>
              </a:rPr>
              <a:t>Punto fijo</a:t>
            </a:r>
          </a:p>
        </p:txBody>
      </p:sp>
      <p:sp>
        <p:nvSpPr>
          <p:cNvPr id="4" name="TextBox 3"/>
          <p:cNvSpPr txBox="1"/>
          <p:nvPr/>
        </p:nvSpPr>
        <p:spPr>
          <a:xfrm>
            <a:off x="822960" y="3931920"/>
            <a:ext cx="10515600" cy="914400"/>
          </a:xfrm>
          <a:prstGeom prst="rect">
            <a:avLst/>
          </a:prstGeom>
          <a:noFill/>
        </p:spPr>
        <p:txBody>
          <a:bodyPr wrap="square" lIns="45720" rIns="45720">
            <a:spAutoFit/>
          </a:bodyPr>
          <a:lstStyle/>
          <a:p>
            <a:pPr>
              <a:spcAft>
                <a:spcPts val="600"/>
              </a:spcAft>
            </a:pPr>
            <a:r>
              <a:rPr b="0" sz="2000">
                <a:solidFill>
                  <a:srgbClr val="C8D3E0"/>
                </a:solidFill>
                <a:latin typeface="Calibri"/>
              </a:rPr>
              <a:t>Notación, reglas de cuantización y de dónde sale cada ancho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Notación S(NB, NBF)</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5 · Punto fijo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26</a:t>
            </a:r>
          </a:p>
        </p:txBody>
      </p:sp>
      <p:sp>
        <p:nvSpPr>
          <p:cNvPr id="6" name="TextBox 5"/>
          <p:cNvSpPr txBox="1"/>
          <p:nvPr/>
        </p:nvSpPr>
        <p:spPr>
          <a:xfrm>
            <a:off x="548640" y="1280160"/>
            <a:ext cx="5669280" cy="2377440"/>
          </a:xfrm>
          <a:prstGeom prst="rect">
            <a:avLst/>
          </a:prstGeom>
          <a:noFill/>
        </p:spPr>
        <p:txBody>
          <a:bodyPr wrap="square" lIns="45720" rIns="45720">
            <a:spAutoFit/>
          </a:bodyPr>
          <a:lstStyle/>
          <a:p>
            <a:pPr marL="256032" indent="-219456">
              <a:spcAft>
                <a:spcPts val="600"/>
              </a:spcAft>
              <a:buFont typeface="Arial"/>
              <a:buChar char="•"/>
            </a:pPr>
            <a:r>
              <a:rPr b="1" sz="1600">
                <a:solidFill>
                  <a:srgbClr val="1F3A5F"/>
                </a:solidFill>
                <a:latin typeface="Calibri"/>
              </a:rPr>
              <a:t>NB</a:t>
            </a:r>
            <a:r>
              <a:rPr b="0" sz="1600">
                <a:solidFill>
                  <a:srgbClr val="222831"/>
                </a:solidFill>
                <a:latin typeface="Calibri"/>
              </a:rPr>
              <a:t> = bits totales (complemento a 2, incluye el signo)</a:t>
            </a:r>
          </a:p>
          <a:p>
            <a:pPr marL="256032" indent="-219456">
              <a:spcAft>
                <a:spcPts val="600"/>
              </a:spcAft>
              <a:buFont typeface="Arial"/>
              <a:buChar char="•"/>
            </a:pPr>
            <a:r>
              <a:rPr b="1" sz="1600">
                <a:solidFill>
                  <a:srgbClr val="1F3A5F"/>
                </a:solidFill>
                <a:latin typeface="Calibri"/>
              </a:rPr>
              <a:t>NBF</a:t>
            </a:r>
            <a:r>
              <a:rPr b="0" sz="1600">
                <a:solidFill>
                  <a:srgbClr val="222831"/>
                </a:solidFill>
                <a:latin typeface="Calibri"/>
              </a:rPr>
              <a:t> = bits fraccionales;  </a:t>
            </a:r>
            <a:r>
              <a:rPr b="1" sz="1600">
                <a:solidFill>
                  <a:srgbClr val="1F3A5F"/>
                </a:solidFill>
                <a:latin typeface="Calibri"/>
              </a:rPr>
              <a:t>NBI = NB − NBF − 1</a:t>
            </a:r>
            <a:r>
              <a:rPr b="0" sz="1600">
                <a:solidFill>
                  <a:srgbClr val="222831"/>
                </a:solidFill>
                <a:latin typeface="Calibri"/>
              </a:rPr>
              <a:t> enteros</a:t>
            </a:r>
          </a:p>
          <a:p>
            <a:pPr marL="256032" indent="-219456">
              <a:spcAft>
                <a:spcPts val="600"/>
              </a:spcAft>
              <a:buFont typeface="Arial"/>
              <a:buChar char="•"/>
            </a:pPr>
            <a:r>
              <a:rPr b="0" sz="1600">
                <a:solidFill>
                  <a:srgbClr val="222831"/>
                </a:solidFill>
                <a:latin typeface="Calibri"/>
              </a:rPr>
              <a:t>Valor real = entero / 2^NBF</a:t>
            </a:r>
          </a:p>
          <a:p>
            <a:pPr marL="256032" indent="-219456">
              <a:spcAft>
                <a:spcPts val="600"/>
              </a:spcAft>
              <a:buFont typeface="Arial"/>
              <a:buChar char="•"/>
            </a:pPr>
            <a:r>
              <a:rPr b="0" sz="1600">
                <a:solidFill>
                  <a:srgbClr val="222831"/>
                </a:solidFill>
                <a:latin typeface="Calibri"/>
              </a:rPr>
              <a:t>Rango: [ −2^NBI , 2^NBI − 2^−NBF ];  resolución (LSB) = 2^−NBF</a:t>
            </a:r>
          </a:p>
        </p:txBody>
      </p:sp>
      <p:sp>
        <p:nvSpPr>
          <p:cNvPr id="7" name="Rectangle 6"/>
          <p:cNvSpPr/>
          <p:nvPr/>
        </p:nvSpPr>
        <p:spPr>
          <a:xfrm>
            <a:off x="6583680" y="1325880"/>
            <a:ext cx="5120640" cy="2240280"/>
          </a:xfrm>
          <a:prstGeom prst="rect">
            <a:avLst/>
          </a:prstGeom>
          <a:solidFill>
            <a:srgbClr val="E6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0" y="1325880"/>
            <a:ext cx="64008" cy="22402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48272" y="1399032"/>
            <a:ext cx="4846320" cy="2103120"/>
          </a:xfrm>
          <a:prstGeom prst="rect">
            <a:avLst/>
          </a:prstGeom>
          <a:noFill/>
        </p:spPr>
        <p:txBody>
          <a:bodyPr wrap="square" lIns="45720" rIns="45720">
            <a:spAutoFit/>
          </a:bodyPr>
          <a:lstStyle/>
          <a:p>
            <a:pPr>
              <a:spcAft>
                <a:spcPts val="400"/>
              </a:spcAft>
            </a:pPr>
            <a:r>
              <a:rPr b="1" sz="1500">
                <a:solidFill>
                  <a:srgbClr val="1F3A5F"/>
                </a:solidFill>
                <a:latin typeface="Calibri"/>
              </a:rPr>
              <a:t>Ejemplo: +1 y −1 en S(8,6)</a:t>
            </a:r>
          </a:p>
          <a:p>
            <a:pPr>
              <a:spcAft>
                <a:spcPts val="400"/>
              </a:spcAft>
            </a:pPr>
            <a:r>
              <a:rPr b="0" sz="1500">
                <a:solidFill>
                  <a:srgbClr val="222831"/>
                </a:solidFill>
                <a:latin typeface="Calibri"/>
              </a:rPr>
              <a:t>+1.0 → 1 · 2⁶ = </a:t>
            </a:r>
            <a:r>
              <a:rPr b="1" sz="1500">
                <a:solidFill>
                  <a:srgbClr val="1F3A5F"/>
                </a:solidFill>
                <a:latin typeface="Calibri"/>
              </a:rPr>
              <a:t>64</a:t>
            </a:r>
            <a:r>
              <a:rPr b="0" sz="1500">
                <a:solidFill>
                  <a:srgbClr val="222831"/>
                </a:solidFill>
                <a:latin typeface="Calibri"/>
              </a:rPr>
              <a:t> = 0x40</a:t>
            </a:r>
          </a:p>
          <a:p>
            <a:pPr>
              <a:spcAft>
                <a:spcPts val="400"/>
              </a:spcAft>
            </a:pPr>
            <a:r>
              <a:rPr b="0" sz="1500">
                <a:solidFill>
                  <a:srgbClr val="222831"/>
                </a:solidFill>
                <a:latin typeface="Calibri"/>
              </a:rPr>
              <a:t>−1.0 → −64 = </a:t>
            </a:r>
            <a:r>
              <a:rPr b="1" sz="1500">
                <a:solidFill>
                  <a:srgbClr val="1F3A5F"/>
                </a:solidFill>
                <a:latin typeface="Calibri"/>
              </a:rPr>
              <a:t>0xC0</a:t>
            </a:r>
            <a:r>
              <a:rPr b="0" sz="1500">
                <a:solidFill>
                  <a:srgbClr val="222831"/>
                </a:solidFill>
                <a:latin typeface="Calibri"/>
              </a:rPr>
              <a:t> (complemento a 2, 8 bits)</a:t>
            </a:r>
          </a:p>
          <a:p>
            <a:pPr>
              <a:spcAft>
                <a:spcPts val="400"/>
              </a:spcAft>
            </a:pPr>
            <a:r>
              <a:rPr b="0" sz="1500">
                <a:solidFill>
                  <a:srgbClr val="222831"/>
                </a:solidFill>
                <a:latin typeface="Calibri"/>
              </a:rPr>
              <a:t>Símbolo 1 + j en </a:t>
            </a:r>
            <a:r>
              <a:rPr b="0" sz="1500">
                <a:solidFill>
                  <a:srgbClr val="0E6E63"/>
                </a:solidFill>
                <a:latin typeface="Consolas"/>
              </a:rPr>
              <a:t>x_in.hex</a:t>
            </a:r>
            <a:r>
              <a:rPr b="0" sz="1500">
                <a:solidFill>
                  <a:srgbClr val="222831"/>
                </a:solidFill>
                <a:latin typeface="Calibri"/>
              </a:rPr>
              <a:t> (empaquetado {im, re}): </a:t>
            </a:r>
            <a:r>
              <a:rPr b="1" sz="1500">
                <a:solidFill>
                  <a:srgbClr val="1F3A5F"/>
                </a:solidFill>
                <a:latin typeface="Calibri"/>
              </a:rPr>
              <a:t>4040</a:t>
            </a:r>
          </a:p>
        </p:txBody>
      </p:sp>
      <p:graphicFrame>
        <p:nvGraphicFramePr>
          <p:cNvPr id="10" name="Table 9"/>
          <p:cNvGraphicFramePr>
            <a:graphicFrameLocks noGrp="1"/>
          </p:cNvGraphicFramePr>
          <p:nvPr/>
        </p:nvGraphicFramePr>
        <p:xfrm>
          <a:off x="548640" y="3794760"/>
          <a:ext cx="11155680" cy="2103120"/>
        </p:xfrm>
        <a:graphic>
          <a:graphicData uri="http://schemas.openxmlformats.org/drawingml/2006/table">
            <a:tbl>
              <a:tblPr firstRow="1" bandRow="1">
                <a:tableStyleId>{5C22544A-7EE6-4342-B048-85BDC9FD1C3A}</a:tableStyleId>
              </a:tblPr>
              <a:tblGrid>
                <a:gridCol w="2011680"/>
                <a:gridCol w="822960"/>
                <a:gridCol w="3108960"/>
                <a:gridCol w="1188720"/>
                <a:gridCol w="4023360"/>
              </a:tblGrid>
              <a:tr h="420624">
                <a:tc>
                  <a:txBody>
                    <a:bodyPr wrap="square"/>
                    <a:lstStyle/>
                    <a:p>
                      <a:r>
                        <a:rPr b="1" sz="1300">
                          <a:solidFill>
                            <a:srgbClr val="FFFFFF"/>
                          </a:solidFill>
                          <a:latin typeface="Calibri"/>
                        </a:rPr>
                        <a:t>Formato</a:t>
                      </a:r>
                    </a:p>
                  </a:txBody>
                  <a:tcPr marL="73152" marR="73152" marT="27432" marB="27432" anchor="ctr">
                    <a:solidFill>
                      <a:srgbClr val="1F3A5F"/>
                    </a:solidFill>
                  </a:tcPr>
                </a:tc>
                <a:tc>
                  <a:txBody>
                    <a:bodyPr wrap="square"/>
                    <a:lstStyle/>
                    <a:p>
                      <a:r>
                        <a:rPr b="1" sz="1300">
                          <a:solidFill>
                            <a:srgbClr val="FFFFFF"/>
                          </a:solidFill>
                          <a:latin typeface="Calibri"/>
                        </a:rPr>
                        <a:t>NBI</a:t>
                      </a:r>
                    </a:p>
                  </a:txBody>
                  <a:tcPr marL="73152" marR="73152" marT="27432" marB="27432" anchor="ctr">
                    <a:solidFill>
                      <a:srgbClr val="1F3A5F"/>
                    </a:solidFill>
                  </a:tcPr>
                </a:tc>
                <a:tc>
                  <a:txBody>
                    <a:bodyPr wrap="square"/>
                    <a:lstStyle/>
                    <a:p>
                      <a:r>
                        <a:rPr b="1" sz="1300">
                          <a:solidFill>
                            <a:srgbClr val="FFFFFF"/>
                          </a:solidFill>
                          <a:latin typeface="Calibri"/>
                        </a:rPr>
                        <a:t>Rango</a:t>
                      </a:r>
                    </a:p>
                  </a:txBody>
                  <a:tcPr marL="73152" marR="73152" marT="27432" marB="27432" anchor="ctr">
                    <a:solidFill>
                      <a:srgbClr val="1F3A5F"/>
                    </a:solidFill>
                  </a:tcPr>
                </a:tc>
                <a:tc>
                  <a:txBody>
                    <a:bodyPr wrap="square"/>
                    <a:lstStyle/>
                    <a:p>
                      <a:r>
                        <a:rPr b="1" sz="1300">
                          <a:solidFill>
                            <a:srgbClr val="FFFFFF"/>
                          </a:solidFill>
                          <a:latin typeface="Calibri"/>
                        </a:rPr>
                        <a:t>LSB</a:t>
                      </a:r>
                    </a:p>
                  </a:txBody>
                  <a:tcPr marL="73152" marR="73152" marT="27432" marB="27432" anchor="ctr">
                    <a:solidFill>
                      <a:srgbClr val="1F3A5F"/>
                    </a:solidFill>
                  </a:tcPr>
                </a:tc>
                <a:tc>
                  <a:txBody>
                    <a:bodyPr wrap="square"/>
                    <a:lstStyle/>
                    <a:p>
                      <a:r>
                        <a:rPr b="1" sz="1300">
                          <a:solidFill>
                            <a:srgbClr val="FFFFFF"/>
                          </a:solidFill>
                          <a:latin typeface="Calibri"/>
                        </a:rPr>
                        <a:t>Dónde se usa</a:t>
                      </a:r>
                    </a:p>
                  </a:txBody>
                  <a:tcPr marL="73152" marR="73152" marT="27432" marB="27432" anchor="ctr">
                    <a:solidFill>
                      <a:srgbClr val="1F3A5F"/>
                    </a:solidFill>
                  </a:tcPr>
                </a:tc>
              </a:tr>
              <a:tr h="420624">
                <a:tc>
                  <a:txBody>
                    <a:bodyPr wrap="square"/>
                    <a:lstStyle/>
                    <a:p>
                      <a:r>
                        <a:rPr b="1" sz="1300">
                          <a:solidFill>
                            <a:srgbClr val="222831"/>
                          </a:solidFill>
                          <a:latin typeface="Calibri"/>
                        </a:rPr>
                        <a:t>S(8,6)</a:t>
                      </a:r>
                    </a:p>
                  </a:txBody>
                  <a:tcPr marL="73152" marR="73152" marT="27432" marB="27432" anchor="ctr">
                    <a:solidFill>
                      <a:srgbClr val="FFFFFF"/>
                    </a:solidFill>
                  </a:tcPr>
                </a:tc>
                <a:tc>
                  <a:txBody>
                    <a:bodyPr wrap="square"/>
                    <a:lstStyle/>
                    <a:p>
                      <a:r>
                        <a:rPr b="0" sz="1300">
                          <a:solidFill>
                            <a:srgbClr val="222831"/>
                          </a:solidFill>
                          <a:latin typeface="Calibri"/>
                        </a:rPr>
                        <a:t>1</a:t>
                      </a:r>
                    </a:p>
                  </a:txBody>
                  <a:tcPr marL="73152" marR="73152" marT="27432" marB="27432" anchor="ctr">
                    <a:solidFill>
                      <a:srgbClr val="FFFFFF"/>
                    </a:solidFill>
                  </a:tcPr>
                </a:tc>
                <a:tc>
                  <a:txBody>
                    <a:bodyPr wrap="square"/>
                    <a:lstStyle/>
                    <a:p>
                      <a:r>
                        <a:rPr b="0" sz="1300">
                          <a:solidFill>
                            <a:srgbClr val="222831"/>
                          </a:solidFill>
                          <a:latin typeface="Calibri"/>
                        </a:rPr>
                        <a:t>[−2, 1.984]</a:t>
                      </a:r>
                    </a:p>
                  </a:txBody>
                  <a:tcPr marL="73152" marR="73152" marT="27432" marB="27432" anchor="ctr">
                    <a:solidFill>
                      <a:srgbClr val="FFFFFF"/>
                    </a:solidFill>
                  </a:tcPr>
                </a:tc>
                <a:tc>
                  <a:txBody>
                    <a:bodyPr wrap="square"/>
                    <a:lstStyle/>
                    <a:p>
                      <a:r>
                        <a:rPr b="0" sz="1300">
                          <a:solidFill>
                            <a:srgbClr val="222831"/>
                          </a:solidFill>
                          <a:latin typeface="Calibri"/>
                        </a:rPr>
                        <a:t>0.0156</a:t>
                      </a:r>
                    </a:p>
                  </a:txBody>
                  <a:tcPr marL="73152" marR="73152" marT="27432" marB="27432" anchor="ctr">
                    <a:solidFill>
                      <a:srgbClr val="FFFFFF"/>
                    </a:solidFill>
                  </a:tcPr>
                </a:tc>
                <a:tc>
                  <a:txBody>
                    <a:bodyPr wrap="square"/>
                    <a:lstStyle/>
                    <a:p>
                      <a:r>
                        <a:rPr b="0" sz="1300">
                          <a:solidFill>
                            <a:srgbClr val="222831"/>
                          </a:solidFill>
                          <a:latin typeface="Calibri"/>
                        </a:rPr>
                        <a:t>entrada x[n]</a:t>
                      </a:r>
                    </a:p>
                  </a:txBody>
                  <a:tcPr marL="73152" marR="73152" marT="27432" marB="27432" anchor="ctr">
                    <a:solidFill>
                      <a:srgbClr val="FFFFFF"/>
                    </a:solidFill>
                  </a:tcPr>
                </a:tc>
              </a:tr>
              <a:tr h="420624">
                <a:tc>
                  <a:txBody>
                    <a:bodyPr wrap="square"/>
                    <a:lstStyle/>
                    <a:p>
                      <a:r>
                        <a:rPr b="1" sz="1300">
                          <a:solidFill>
                            <a:srgbClr val="222831"/>
                          </a:solidFill>
                          <a:latin typeface="Calibri"/>
                        </a:rPr>
                        <a:t>S(10,8)</a:t>
                      </a:r>
                    </a:p>
                  </a:txBody>
                  <a:tcPr marL="73152" marR="73152" marT="27432" marB="27432" anchor="ctr">
                    <a:solidFill>
                      <a:srgbClr val="F3F5F8"/>
                    </a:solidFill>
                  </a:tcPr>
                </a:tc>
                <a:tc>
                  <a:txBody>
                    <a:bodyPr wrap="square"/>
                    <a:lstStyle/>
                    <a:p>
                      <a:r>
                        <a:rPr b="0" sz="1300">
                          <a:solidFill>
                            <a:srgbClr val="222831"/>
                          </a:solidFill>
                          <a:latin typeface="Calibri"/>
                        </a:rPr>
                        <a:t>1</a:t>
                      </a:r>
                    </a:p>
                  </a:txBody>
                  <a:tcPr marL="73152" marR="73152" marT="27432" marB="27432" anchor="ctr">
                    <a:solidFill>
                      <a:srgbClr val="F3F5F8"/>
                    </a:solidFill>
                  </a:tcPr>
                </a:tc>
                <a:tc>
                  <a:txBody>
                    <a:bodyPr wrap="square"/>
                    <a:lstStyle/>
                    <a:p>
                      <a:r>
                        <a:rPr b="0" sz="1300">
                          <a:solidFill>
                            <a:srgbClr val="222831"/>
                          </a:solidFill>
                          <a:latin typeface="Calibri"/>
                        </a:rPr>
                        <a:t>[−2, 1.996]</a:t>
                      </a:r>
                    </a:p>
                  </a:txBody>
                  <a:tcPr marL="73152" marR="73152" marT="27432" marB="27432" anchor="ctr">
                    <a:solidFill>
                      <a:srgbClr val="F3F5F8"/>
                    </a:solidFill>
                  </a:tcPr>
                </a:tc>
                <a:tc>
                  <a:txBody>
                    <a:bodyPr wrap="square"/>
                    <a:lstStyle/>
                    <a:p>
                      <a:r>
                        <a:rPr b="0" sz="1300">
                          <a:solidFill>
                            <a:srgbClr val="222831"/>
                          </a:solidFill>
                          <a:latin typeface="Calibri"/>
                        </a:rPr>
                        <a:t>0.0039</a:t>
                      </a:r>
                    </a:p>
                  </a:txBody>
                  <a:tcPr marL="73152" marR="73152" marT="27432" marB="27432" anchor="ctr">
                    <a:solidFill>
                      <a:srgbClr val="F3F5F8"/>
                    </a:solidFill>
                  </a:tcPr>
                </a:tc>
                <a:tc>
                  <a:txBody>
                    <a:bodyPr wrap="square"/>
                    <a:lstStyle/>
                    <a:p>
                      <a:r>
                        <a:rPr b="0" sz="1300">
                          <a:solidFill>
                            <a:srgbClr val="222831"/>
                          </a:solidFill>
                          <a:latin typeface="Calibri"/>
                        </a:rPr>
                        <a:t>twiddles, H[k], salida y[n]</a:t>
                      </a:r>
                    </a:p>
                  </a:txBody>
                  <a:tcPr marL="73152" marR="73152" marT="27432" marB="27432" anchor="ctr">
                    <a:solidFill>
                      <a:srgbClr val="F3F5F8"/>
                    </a:solidFill>
                  </a:tcPr>
                </a:tc>
              </a:tr>
              <a:tr h="420624">
                <a:tc>
                  <a:txBody>
                    <a:bodyPr wrap="square"/>
                    <a:lstStyle/>
                    <a:p>
                      <a:r>
                        <a:rPr b="1" sz="1300">
                          <a:solidFill>
                            <a:srgbClr val="222831"/>
                          </a:solidFill>
                          <a:latin typeface="Calibri"/>
                        </a:rPr>
                        <a:t>S(11,8) … S(14,8)</a:t>
                      </a:r>
                    </a:p>
                  </a:txBody>
                  <a:tcPr marL="73152" marR="73152" marT="27432" marB="27432" anchor="ctr">
                    <a:solidFill>
                      <a:srgbClr val="FFFFFF"/>
                    </a:solidFill>
                  </a:tcPr>
                </a:tc>
                <a:tc>
                  <a:txBody>
                    <a:bodyPr wrap="square"/>
                    <a:lstStyle/>
                    <a:p>
                      <a:r>
                        <a:rPr b="0" sz="1300">
                          <a:solidFill>
                            <a:srgbClr val="222831"/>
                          </a:solidFill>
                          <a:latin typeface="Calibri"/>
                        </a:rPr>
                        <a:t>2 … 5</a:t>
                      </a:r>
                    </a:p>
                  </a:txBody>
                  <a:tcPr marL="73152" marR="73152" marT="27432" marB="27432" anchor="ctr">
                    <a:solidFill>
                      <a:srgbClr val="FFFFFF"/>
                    </a:solidFill>
                  </a:tcPr>
                </a:tc>
                <a:tc>
                  <a:txBody>
                    <a:bodyPr wrap="square"/>
                    <a:lstStyle/>
                    <a:p>
                      <a:r>
                        <a:rPr b="0" sz="1300">
                          <a:solidFill>
                            <a:srgbClr val="222831"/>
                          </a:solidFill>
                          <a:latin typeface="Calibri"/>
                        </a:rPr>
                        <a:t>[−4, 3.996] … [−32, 31.996]</a:t>
                      </a:r>
                    </a:p>
                  </a:txBody>
                  <a:tcPr marL="73152" marR="73152" marT="27432" marB="27432" anchor="ctr">
                    <a:solidFill>
                      <a:srgbClr val="FFFFFF"/>
                    </a:solidFill>
                  </a:tcPr>
                </a:tc>
                <a:tc>
                  <a:txBody>
                    <a:bodyPr wrap="square"/>
                    <a:lstStyle/>
                    <a:p>
                      <a:r>
                        <a:rPr b="0" sz="1300">
                          <a:solidFill>
                            <a:srgbClr val="222831"/>
                          </a:solidFill>
                          <a:latin typeface="Calibri"/>
                        </a:rPr>
                        <a:t>0.0039</a:t>
                      </a:r>
                    </a:p>
                  </a:txBody>
                  <a:tcPr marL="73152" marR="73152" marT="27432" marB="27432" anchor="ctr">
                    <a:solidFill>
                      <a:srgbClr val="FFFFFF"/>
                    </a:solidFill>
                  </a:tcPr>
                </a:tc>
                <a:tc>
                  <a:txBody>
                    <a:bodyPr wrap="square"/>
                    <a:lstStyle/>
                    <a:p>
                      <a:r>
                        <a:rPr b="0" sz="1300">
                          <a:solidFill>
                            <a:srgbClr val="222831"/>
                          </a:solidFill>
                          <a:latin typeface="Calibri"/>
                        </a:rPr>
                        <a:t>etapas de la FFT, Y[k], IFFT</a:t>
                      </a:r>
                    </a:p>
                  </a:txBody>
                  <a:tcPr marL="73152" marR="73152" marT="27432" marB="27432" anchor="ctr">
                    <a:solidFill>
                      <a:srgbClr val="FFFFFF"/>
                    </a:solidFill>
                  </a:tcPr>
                </a:tc>
              </a:tr>
              <a:tr h="420624">
                <a:tc>
                  <a:txBody>
                    <a:bodyPr wrap="square"/>
                    <a:lstStyle/>
                    <a:p>
                      <a:r>
                        <a:rPr b="1" sz="1300">
                          <a:solidFill>
                            <a:srgbClr val="222831"/>
                          </a:solidFill>
                          <a:latin typeface="Calibri"/>
                        </a:rPr>
                        <a:t>S(16,13)</a:t>
                      </a:r>
                    </a:p>
                  </a:txBody>
                  <a:tcPr marL="73152" marR="73152" marT="27432" marB="27432" anchor="ctr">
                    <a:solidFill>
                      <a:srgbClr val="F3F5F8"/>
                    </a:solidFill>
                  </a:tcPr>
                </a:tc>
                <a:tc>
                  <a:txBody>
                    <a:bodyPr wrap="square"/>
                    <a:lstStyle/>
                    <a:p>
                      <a:r>
                        <a:rPr b="0" sz="1300">
                          <a:solidFill>
                            <a:srgbClr val="222831"/>
                          </a:solidFill>
                          <a:latin typeface="Calibri"/>
                        </a:rPr>
                        <a:t>2</a:t>
                      </a:r>
                    </a:p>
                  </a:txBody>
                  <a:tcPr marL="73152" marR="73152" marT="27432" marB="27432" anchor="ctr">
                    <a:solidFill>
                      <a:srgbClr val="F3F5F8"/>
                    </a:solidFill>
                  </a:tcPr>
                </a:tc>
                <a:tc>
                  <a:txBody>
                    <a:bodyPr wrap="square"/>
                    <a:lstStyle/>
                    <a:p>
                      <a:r>
                        <a:rPr b="0" sz="1300">
                          <a:solidFill>
                            <a:srgbClr val="222831"/>
                          </a:solidFill>
                          <a:latin typeface="Calibri"/>
                        </a:rPr>
                        <a:t>[−4, 3.9999]</a:t>
                      </a:r>
                    </a:p>
                  </a:txBody>
                  <a:tcPr marL="73152" marR="73152" marT="27432" marB="27432" anchor="ctr">
                    <a:solidFill>
                      <a:srgbClr val="F3F5F8"/>
                    </a:solidFill>
                  </a:tcPr>
                </a:tc>
                <a:tc>
                  <a:txBody>
                    <a:bodyPr wrap="square"/>
                    <a:lstStyle/>
                    <a:p>
                      <a:r>
                        <a:rPr b="0" sz="1300">
                          <a:solidFill>
                            <a:srgbClr val="222831"/>
                          </a:solidFill>
                          <a:latin typeface="Calibri"/>
                        </a:rPr>
                        <a:t>0.00012</a:t>
                      </a:r>
                    </a:p>
                  </a:txBody>
                  <a:tcPr marL="73152" marR="73152" marT="27432" marB="27432" anchor="ctr">
                    <a:solidFill>
                      <a:srgbClr val="F3F5F8"/>
                    </a:solidFill>
                  </a:tcPr>
                </a:tc>
                <a:tc>
                  <a:txBody>
                    <a:bodyPr wrap="square"/>
                    <a:lstStyle/>
                    <a:p>
                      <a:r>
                        <a:rPr b="0" sz="1300">
                          <a:solidFill>
                            <a:srgbClr val="222831"/>
                          </a:solidFill>
                          <a:latin typeface="Calibri"/>
                        </a:rPr>
                        <a:t>solo ejemplo de notación: no se usa en este diseño</a:t>
                      </a:r>
                    </a:p>
                  </a:txBody>
                  <a:tcPr marL="73152" marR="73152" marT="27432" marB="27432" anchor="ctr">
                    <a:solidFill>
                      <a:srgbClr val="F3F5F8"/>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Reglas de cuantización (pensadas para el RTL)</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5 · Punto fijo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27</a:t>
            </a:r>
          </a:p>
        </p:txBody>
      </p:sp>
      <p:sp>
        <p:nvSpPr>
          <p:cNvPr id="6" name="TextBox 5"/>
          <p:cNvSpPr txBox="1"/>
          <p:nvPr/>
        </p:nvSpPr>
        <p:spPr>
          <a:xfrm>
            <a:off x="548640" y="1280160"/>
            <a:ext cx="5394960" cy="4846320"/>
          </a:xfrm>
          <a:prstGeom prst="rect">
            <a:avLst/>
          </a:prstGeom>
          <a:noFill/>
        </p:spPr>
        <p:txBody>
          <a:bodyPr wrap="square" lIns="45720" rIns="45720">
            <a:spAutoFit/>
          </a:bodyPr>
          <a:lstStyle/>
          <a:p>
            <a:pPr marL="256032" indent="-219456">
              <a:spcAft>
                <a:spcPts val="600"/>
              </a:spcAft>
              <a:buFont typeface="Arial"/>
              <a:buChar char="•"/>
            </a:pPr>
            <a:r>
              <a:rPr b="1" sz="1600">
                <a:solidFill>
                  <a:srgbClr val="1F3A5F"/>
                </a:solidFill>
                <a:latin typeface="Calibri"/>
              </a:rPr>
              <a:t>1. Operar a ancho completo</a:t>
            </a:r>
            <a:r>
              <a:rPr b="0" sz="1600">
                <a:solidFill>
                  <a:srgbClr val="222831"/>
                </a:solidFill>
                <a:latin typeface="Calibri"/>
              </a:rPr>
              <a:t>: productos y sumas exactos, sin perder bits.</a:t>
            </a:r>
          </a:p>
          <a:p>
            <a:pPr marL="256032" indent="-219456">
              <a:spcAft>
                <a:spcPts val="600"/>
              </a:spcAft>
              <a:buFont typeface="Arial"/>
              <a:buChar char="•"/>
            </a:pPr>
            <a:r>
              <a:rPr b="1" sz="1600">
                <a:solidFill>
                  <a:srgbClr val="1F3A5F"/>
                </a:solidFill>
                <a:latin typeface="Calibri"/>
              </a:rPr>
              <a:t>2. Redondear una sola vez</a:t>
            </a:r>
            <a:r>
              <a:rPr b="0" sz="1600">
                <a:solidFill>
                  <a:srgbClr val="222831"/>
                </a:solidFill>
                <a:latin typeface="Calibri"/>
              </a:rPr>
              <a:t>, a la salida de cada mariposa o multiplicador.</a:t>
            </a:r>
          </a:p>
          <a:p>
            <a:pPr marL="256032" indent="-219456">
              <a:spcAft>
                <a:spcPts val="600"/>
              </a:spcAft>
              <a:buFont typeface="Arial"/>
              <a:buChar char="•"/>
            </a:pPr>
            <a:r>
              <a:rPr b="1" sz="1600">
                <a:solidFill>
                  <a:srgbClr val="1F3A5F"/>
                </a:solidFill>
                <a:latin typeface="Calibri"/>
              </a:rPr>
              <a:t>3. Redondeo half-up</a:t>
            </a:r>
            <a:r>
              <a:rPr b="0" sz="1600">
                <a:solidFill>
                  <a:srgbClr val="222831"/>
                </a:solidFill>
                <a:latin typeface="Calibri"/>
              </a:rPr>
              <a:t>: (v + 2^(s−1)) &gt;&gt;&gt; s → 1 sumador, ~5 dB mejor que truncar.</a:t>
            </a:r>
          </a:p>
          <a:p>
            <a:pPr marL="256032" indent="-219456">
              <a:spcAft>
                <a:spcPts val="600"/>
              </a:spcAft>
              <a:buFont typeface="Arial"/>
              <a:buChar char="•"/>
            </a:pPr>
            <a:r>
              <a:rPr b="1" sz="1600">
                <a:solidFill>
                  <a:srgbClr val="1F3A5F"/>
                </a:solidFill>
                <a:latin typeface="Calibri"/>
              </a:rPr>
              <a:t>4. Saturación</a:t>
            </a:r>
            <a:r>
              <a:rPr b="0" sz="1600">
                <a:solidFill>
                  <a:srgbClr val="222831"/>
                </a:solidFill>
                <a:latin typeface="Calibri"/>
              </a:rPr>
              <a:t> en los MSB como protección. Con las cotas elegidas </a:t>
            </a:r>
            <a:r>
              <a:rPr b="1" sz="1600">
                <a:solidFill>
                  <a:srgbClr val="1F3A5F"/>
                </a:solidFill>
                <a:latin typeface="Calibri"/>
              </a:rPr>
              <a:t>nunca se activa</a:t>
            </a:r>
            <a:r>
              <a:rPr b="0" sz="1600">
                <a:solidFill>
                  <a:srgbClr val="222831"/>
                </a:solidFill>
                <a:latin typeface="Calibri"/>
              </a:rPr>
              <a:t> (contador de overflow = 0).</a:t>
            </a:r>
          </a:p>
          <a:p>
            <a:pPr marL="256032" indent="-219456">
              <a:spcAft>
                <a:spcPts val="600"/>
              </a:spcAft>
              <a:buFont typeface="Arial"/>
              <a:buChar char="•"/>
            </a:pPr>
            <a:r>
              <a:rPr b="1" sz="1600">
                <a:solidFill>
                  <a:srgbClr val="1F3A5F"/>
                </a:solidFill>
                <a:latin typeface="Calibri"/>
              </a:rPr>
              <a:t>5. fxpmath con modos verificados</a:t>
            </a:r>
            <a:r>
              <a:rPr b="0" sz="1600">
                <a:solidFill>
                  <a:srgbClr val="222831"/>
                </a:solidFill>
                <a:latin typeface="Calibri"/>
              </a:rPr>
              <a:t>: el half-up se emula (+½ LSB y </a:t>
            </a:r>
            <a:r>
              <a:rPr b="0" sz="1600">
                <a:solidFill>
                  <a:srgbClr val="0E6E63"/>
                </a:solidFill>
                <a:latin typeface="Consolas"/>
              </a:rPr>
              <a:t>floor</a:t>
            </a:r>
            <a:r>
              <a:rPr b="0" sz="1600">
                <a:solidFill>
                  <a:srgbClr val="222831"/>
                </a:solidFill>
                <a:latin typeface="Calibri"/>
              </a:rPr>
              <a:t>). Ver la diapositiva siguiente.</a:t>
            </a:r>
          </a:p>
        </p:txBody>
      </p:sp>
      <p:sp>
        <p:nvSpPr>
          <p:cNvPr id="7" name="Rectangle 6"/>
          <p:cNvSpPr/>
          <p:nvPr/>
        </p:nvSpPr>
        <p:spPr>
          <a:xfrm>
            <a:off x="6217920" y="1280160"/>
            <a:ext cx="5486400" cy="3291840"/>
          </a:xfrm>
          <a:prstGeom prst="rect">
            <a:avLst/>
          </a:prstGeom>
          <a:solidFill>
            <a:srgbClr val="F3F5F8"/>
          </a:solidFill>
          <a:ln>
            <a:solidFill>
              <a:srgbClr val="D5DB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a:lstStyle/>
          <a:p>
            <a:pPr algn="l">
              <a:spcAft>
                <a:spcPts val="0"/>
              </a:spcAft>
            </a:pPr>
            <a:r>
              <a:rPr sz="1100">
                <a:solidFill>
                  <a:srgbClr val="222831"/>
                </a:solidFill>
                <a:latin typeface="Consolas"/>
              </a:rPr>
              <a:t>def requant(v, fmt, rnd="round", ovf="sat", ...):</a:t>
            </a:r>
          </a:p>
          <a:p>
            <a:pPr algn="l">
              <a:spcAft>
                <a:spcPts val="0"/>
              </a:spcAft>
            </a:pPr>
            <a:r>
              <a:rPr sz="1100">
                <a:solidFill>
                  <a:srgbClr val="222831"/>
                </a:solidFill>
                <a:latin typeface="Consolas"/>
              </a:rPr>
              <a:t>    if rnd == "round" and v.n_frac &gt; fmt.nbf:  </a:t>
            </a:r>
            <a:r>
              <a:rPr sz="1100">
                <a:solidFill>
                  <a:srgbClr val="4E7D5B"/>
                </a:solidFill>
                <a:latin typeface="Consolas"/>
              </a:rPr>
              <a:t># half-up:</a:t>
            </a:r>
          </a:p>
          <a:p>
            <a:pPr algn="l">
              <a:spcAft>
                <a:spcPts val="0"/>
              </a:spcAft>
            </a:pPr>
            <a:r>
              <a:rPr sz="1100">
                <a:solidFill>
                  <a:srgbClr val="222831"/>
                </a:solidFill>
                <a:latin typeface="Consolas"/>
              </a:rPr>
              <a:t>        v = v + Fxp(2.0 ** -(fmt.nbf + 1), ...) </a:t>
            </a:r>
            <a:r>
              <a:rPr sz="1100">
                <a:solidFill>
                  <a:srgbClr val="4E7D5B"/>
                </a:solidFill>
                <a:latin typeface="Consolas"/>
              </a:rPr>
              <a:t># +1/2 LSB</a:t>
            </a:r>
          </a:p>
          <a:p>
            <a:pPr algn="l">
              <a:spcAft>
                <a:spcPts val="0"/>
              </a:spcAft>
            </a:pPr>
            <a:r>
              <a:rPr sz="1100">
                <a:solidFill>
                  <a:srgbClr val="222831"/>
                </a:solidFill>
                <a:latin typeface="Consolas"/>
              </a:rPr>
              <a:t>    r = v.copy()</a:t>
            </a:r>
          </a:p>
          <a:p>
            <a:pPr algn="l">
              <a:spcAft>
                <a:spcPts val="0"/>
              </a:spcAft>
            </a:pPr>
            <a:r>
              <a:rPr sz="1100">
                <a:solidFill>
                  <a:srgbClr val="222831"/>
                </a:solidFill>
                <a:latin typeface="Consolas"/>
              </a:rPr>
              <a:t>    r.config.rounding = "floor"        </a:t>
            </a:r>
            <a:r>
              <a:rPr sz="1100">
                <a:solidFill>
                  <a:srgbClr val="4E7D5B"/>
                </a:solidFill>
                <a:latin typeface="Consolas"/>
              </a:rPr>
              <a:t># descartar LSBs</a:t>
            </a:r>
          </a:p>
          <a:p>
            <a:pPr algn="l">
              <a:spcAft>
                <a:spcPts val="0"/>
              </a:spcAft>
            </a:pPr>
            <a:r>
              <a:rPr sz="1100">
                <a:solidFill>
                  <a:srgbClr val="222831"/>
                </a:solidFill>
                <a:latin typeface="Consolas"/>
              </a:rPr>
              <a:t>    r.resize(True, nbi_full + fmt.nbf, fmt.nbf)</a:t>
            </a:r>
          </a:p>
          <a:p>
            <a:pPr algn="l">
              <a:spcAft>
                <a:spcPts val="0"/>
              </a:spcAft>
            </a:pPr>
            <a:r>
              <a:rPr sz="1100">
                <a:solidFill>
                  <a:srgbClr val="222831"/>
                </a:solidFill>
                <a:latin typeface="Consolas"/>
              </a:rPr>
              <a:t>    r.config.overflow = "saturate"     </a:t>
            </a:r>
            <a:r>
              <a:rPr sz="1100">
                <a:solidFill>
                  <a:srgbClr val="4E7D5B"/>
                </a:solidFill>
                <a:latin typeface="Consolas"/>
              </a:rPr>
              <a:t># (o "wrap")</a:t>
            </a:r>
          </a:p>
          <a:p>
            <a:pPr algn="l">
              <a:spcAft>
                <a:spcPts val="0"/>
              </a:spcAft>
            </a:pPr>
            <a:r>
              <a:rPr sz="1100">
                <a:solidFill>
                  <a:srgbClr val="222831"/>
                </a:solidFill>
                <a:latin typeface="Consolas"/>
              </a:rPr>
              <a:t>    r.resize(True, fmt.nb, fmt.nbf)    </a:t>
            </a:r>
            <a:r>
              <a:rPr sz="1100">
                <a:solidFill>
                  <a:srgbClr val="4E7D5B"/>
                </a:solidFill>
                <a:latin typeface="Consolas"/>
              </a:rPr>
              <a:t># recortar MSBs</a:t>
            </a:r>
          </a:p>
          <a:p>
            <a:pPr algn="l">
              <a:spcAft>
                <a:spcPts val="0"/>
              </a:spcAft>
            </a:pPr>
            <a:r>
              <a:rPr sz="1100">
                <a:solidFill>
                  <a:srgbClr val="222831"/>
                </a:solidFill>
                <a:latin typeface="Consolas"/>
              </a:rPr>
              <a:t>    return r</a:t>
            </a:r>
          </a:p>
        </p:txBody>
      </p:sp>
      <p:sp>
        <p:nvSpPr>
          <p:cNvPr id="8" name="Rectangle 7"/>
          <p:cNvSpPr/>
          <p:nvPr/>
        </p:nvSpPr>
        <p:spPr>
          <a:xfrm>
            <a:off x="6217920" y="4754880"/>
            <a:ext cx="5486400" cy="128016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4754880"/>
            <a:ext cx="64008" cy="128016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4828032"/>
            <a:ext cx="5212080" cy="1143000"/>
          </a:xfrm>
          <a:prstGeom prst="rect">
            <a:avLst/>
          </a:prstGeom>
          <a:noFill/>
        </p:spPr>
        <p:txBody>
          <a:bodyPr wrap="square" lIns="45720" rIns="45720">
            <a:spAutoFit/>
          </a:bodyPr>
          <a:lstStyle/>
          <a:p>
            <a:pPr>
              <a:spcAft>
                <a:spcPts val="400"/>
              </a:spcAft>
            </a:pPr>
            <a:r>
              <a:rPr b="1" sz="1400">
                <a:solidFill>
                  <a:srgbClr val="1F3A5F"/>
                </a:solidFill>
                <a:latin typeface="Calibri"/>
              </a:rPr>
              <a:t>Equivalente en SystemVerilog</a:t>
            </a:r>
          </a:p>
          <a:p>
            <a:pPr>
              <a:spcAft>
                <a:spcPts val="400"/>
              </a:spcAft>
            </a:pPr>
            <a:r>
              <a:rPr b="0" sz="1400">
                <a:solidFill>
                  <a:srgbClr val="0E6E63"/>
                </a:solidFill>
                <a:latin typeface="Consolas"/>
              </a:rPr>
              <a:t>y = sat( (v + (1 &lt;&lt; (s-1))) &gt;&gt;&gt; s );</a:t>
            </a:r>
          </a:p>
          <a:p>
            <a:pPr>
              <a:spcAft>
                <a:spcPts val="400"/>
              </a:spcAft>
            </a:pPr>
            <a:r>
              <a:rPr b="0" sz="1400">
                <a:solidFill>
                  <a:srgbClr val="222831"/>
                </a:solidFill>
                <a:latin typeface="Calibri"/>
              </a:rPr>
              <a:t>cada llamada a </a:t>
            </a:r>
            <a:r>
              <a:rPr b="0" sz="1400">
                <a:solidFill>
                  <a:srgbClr val="0E6E63"/>
                </a:solidFill>
                <a:latin typeface="Consolas"/>
              </a:rPr>
              <a:t>requant</a:t>
            </a:r>
            <a:r>
              <a:rPr b="0" sz="1400">
                <a:solidFill>
                  <a:srgbClr val="222831"/>
                </a:solidFill>
                <a:latin typeface="Calibri"/>
              </a:rPr>
              <a:t> = un bloque "redondeo + saturación"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spcAft>
                <a:spcPts val="600"/>
              </a:spcAft>
            </a:pPr>
            <a:r>
              <a:rPr b="1" sz="2800">
                <a:solidFill>
                  <a:srgbClr val="1F3A5F"/>
                </a:solidFill>
                <a:latin typeface="Calibri"/>
              </a:rPr>
              <a:t>fxpmath: cuidado con los modos de redondeo</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spAutoFit/>
          </a:bodyPr>
          <a:lstStyle/>
          <a:p>
            <a:pPr>
              <a:spcAft>
                <a:spcPts val="600"/>
              </a:spcAft>
            </a:pPr>
            <a:r>
              <a:rPr b="0" sz="1000">
                <a:solidFill>
                  <a:srgbClr val="5F6B7A"/>
                </a:solidFill>
                <a:latin typeface="Calibri"/>
              </a:rPr>
              <a:t>5 · Punto fijo</a:t>
            </a:r>
          </a:p>
        </p:txBody>
      </p:sp>
      <p:sp>
        <p:nvSpPr>
          <p:cNvPr id="5" name="TextBox 4"/>
          <p:cNvSpPr txBox="1"/>
          <p:nvPr/>
        </p:nvSpPr>
        <p:spPr>
          <a:xfrm>
            <a:off x="10698480" y="6400800"/>
            <a:ext cx="914400" cy="320040"/>
          </a:xfrm>
          <a:prstGeom prst="rect">
            <a:avLst/>
          </a:prstGeom>
          <a:noFill/>
        </p:spPr>
        <p:txBody>
          <a:bodyPr wrap="square">
            <a:spAutoFit/>
          </a:bodyPr>
          <a:lstStyle/>
          <a:p>
            <a:pPr algn="r">
              <a:spcAft>
                <a:spcPts val="600"/>
              </a:spcAft>
            </a:pPr>
            <a:r>
              <a:rPr b="0" sz="1000">
                <a:solidFill>
                  <a:srgbClr val="5F6B7A"/>
                </a:solidFill>
                <a:latin typeface="Calibri"/>
              </a:rPr>
              <a:t>28</a:t>
            </a:r>
          </a:p>
        </p:txBody>
      </p:sp>
      <p:graphicFrame>
        <p:nvGraphicFramePr>
          <p:cNvPr id="6" name="Table 5"/>
          <p:cNvGraphicFramePr>
            <a:graphicFrameLocks noGrp="1"/>
          </p:cNvGraphicFramePr>
          <p:nvPr/>
        </p:nvGraphicFramePr>
        <p:xfrm>
          <a:off x="548640" y="1371600"/>
          <a:ext cx="11155680" cy="2834640"/>
        </p:xfrm>
        <a:graphic>
          <a:graphicData uri="http://schemas.openxmlformats.org/drawingml/2006/table">
            <a:tbl>
              <a:tblPr firstRow="1" bandRow="1">
                <a:tableStyleId>{5C22544A-7EE6-4342-B048-85BDC9FD1C3A}</a:tableStyleId>
              </a:tblPr>
              <a:tblGrid>
                <a:gridCol w="2377440"/>
                <a:gridCol w="3291840"/>
                <a:gridCol w="2926080"/>
                <a:gridCol w="2560320"/>
              </a:tblGrid>
              <a:tr h="566928">
                <a:tc>
                  <a:txBody>
                    <a:bodyPr/>
                    <a:lstStyle/>
                    <a:p>
                      <a:r>
                        <a:rPr b="1" sz="1300">
                          <a:solidFill>
                            <a:srgbClr val="FFFFFF"/>
                          </a:solidFill>
                          <a:latin typeface="Calibri"/>
                        </a:rPr>
                        <a:t>Operación en fxpmath</a:t>
                      </a:r>
                    </a:p>
                  </a:txBody>
                  <a:tcPr marL="73152" marR="73152" anchor="ctr">
                    <a:solidFill>
                      <a:srgbClr val="1F3A5F"/>
                    </a:solidFill>
                  </a:tcPr>
                </a:tc>
                <a:tc>
                  <a:txBody>
                    <a:bodyPr/>
                    <a:lstStyle/>
                    <a:p>
                      <a:r>
                        <a:rPr b="1" sz="1300">
                          <a:solidFill>
                            <a:srgbClr val="FFFFFF"/>
                          </a:solidFill>
                          <a:latin typeface="Calibri"/>
                        </a:rPr>
                        <a:t>Qué hace</a:t>
                      </a:r>
                    </a:p>
                  </a:txBody>
                  <a:tcPr marL="73152" marR="73152" anchor="ctr">
                    <a:solidFill>
                      <a:srgbClr val="1F3A5F"/>
                    </a:solidFill>
                  </a:tcPr>
                </a:tc>
                <a:tc>
                  <a:txBody>
                    <a:bodyPr/>
                    <a:lstStyle/>
                    <a:p>
                      <a:r>
                        <a:rPr b="1" sz="1300">
                          <a:solidFill>
                            <a:srgbClr val="FFFFFF"/>
                          </a:solidFill>
                          <a:latin typeface="Calibri"/>
                        </a:rPr>
                        <a:t>Qué necesita el RTL</a:t>
                      </a:r>
                    </a:p>
                  </a:txBody>
                  <a:tcPr marL="73152" marR="73152" anchor="ctr">
                    <a:solidFill>
                      <a:srgbClr val="1F3A5F"/>
                    </a:solidFill>
                  </a:tcPr>
                </a:tc>
                <a:tc>
                  <a:txBody>
                    <a:bodyPr/>
                    <a:lstStyle/>
                    <a:p>
                      <a:r>
                        <a:rPr b="1" sz="1300">
                          <a:solidFill>
                            <a:srgbClr val="FFFFFF"/>
                          </a:solidFill>
                          <a:latin typeface="Calibri"/>
                        </a:rPr>
                        <a:t>Cómo se resuelve</a:t>
                      </a:r>
                    </a:p>
                  </a:txBody>
                  <a:tcPr marL="73152" marR="73152" anchor="ctr">
                    <a:solidFill>
                      <a:srgbClr val="1F3A5F"/>
                    </a:solidFill>
                  </a:tcPr>
                </a:tc>
              </a:tr>
              <a:tr h="566928">
                <a:tc>
                  <a:txBody>
                    <a:bodyPr/>
                    <a:lstStyle/>
                    <a:p>
                      <a:r>
                        <a:rPr b="1" sz="1300">
                          <a:solidFill>
                            <a:srgbClr val="0E6E63"/>
                          </a:solidFill>
                          <a:latin typeface="Consolas"/>
                        </a:rPr>
                        <a:t>rounding="trunc"</a:t>
                      </a:r>
                    </a:p>
                  </a:txBody>
                  <a:tcPr marL="73152" marR="73152" anchor="ctr">
                    <a:solidFill>
                      <a:srgbClr val="FFFFFF"/>
                    </a:solidFill>
                  </a:tcPr>
                </a:tc>
                <a:tc>
                  <a:txBody>
                    <a:bodyPr/>
                    <a:lstStyle/>
                    <a:p>
                      <a:r>
                        <a:rPr b="0" sz="1300">
                          <a:solidFill>
                            <a:srgbClr val="222831"/>
                          </a:solidFill>
                          <a:latin typeface="Calibri"/>
                        </a:rPr>
                        <a:t>redondea </a:t>
                      </a:r>
                      <a:r>
                        <a:rPr b="1" sz="1300">
                          <a:solidFill>
                            <a:srgbClr val="1F3A5F"/>
                          </a:solidFill>
                          <a:latin typeface="Calibri"/>
                        </a:rPr>
                        <a:t>hacia cero</a:t>
                      </a:r>
                      <a:r>
                        <a:rPr b="0" sz="1300">
                          <a:solidFill>
                            <a:srgbClr val="222831"/>
                          </a:solidFill>
                          <a:latin typeface="Calibri"/>
                        </a:rPr>
                        <a:t>: −2.5 → −2</a:t>
                      </a:r>
                    </a:p>
                  </a:txBody>
                  <a:tcPr marL="73152" marR="73152" anchor="ctr">
                    <a:solidFill>
                      <a:srgbClr val="FFFFFF"/>
                    </a:solidFill>
                  </a:tcPr>
                </a:tc>
                <a:tc>
                  <a:txBody>
                    <a:bodyPr/>
                    <a:lstStyle/>
                    <a:p>
                      <a:r>
                        <a:rPr b="0" sz="1300">
                          <a:solidFill>
                            <a:srgbClr val="222831"/>
                          </a:solidFill>
                          <a:latin typeface="Calibri"/>
                        </a:rPr>
                        <a:t>truncado de hardware = floor: −2.5 → −3</a:t>
                      </a:r>
                    </a:p>
                  </a:txBody>
                  <a:tcPr marL="73152" marR="73152" anchor="ctr">
                    <a:solidFill>
                      <a:srgbClr val="FFFFFF"/>
                    </a:solidFill>
                  </a:tcPr>
                </a:tc>
                <a:tc>
                  <a:txBody>
                    <a:bodyPr/>
                    <a:lstStyle/>
                    <a:p>
                      <a:r>
                        <a:rPr b="0" sz="1300">
                          <a:solidFill>
                            <a:srgbClr val="222831"/>
                          </a:solidFill>
                          <a:latin typeface="Calibri"/>
                        </a:rPr>
                        <a:t>usar </a:t>
                      </a:r>
                      <a:r>
                        <a:rPr b="0" sz="1300">
                          <a:solidFill>
                            <a:srgbClr val="0E6E63"/>
                          </a:solidFill>
                          <a:latin typeface="Consolas"/>
                        </a:rPr>
                        <a:t>"floor"</a:t>
                      </a:r>
                    </a:p>
                  </a:txBody>
                  <a:tcPr marL="73152" marR="73152" anchor="ctr">
                    <a:solidFill>
                      <a:srgbClr val="FFFFFF"/>
                    </a:solidFill>
                  </a:tcPr>
                </a:tc>
              </a:tr>
              <a:tr h="566928">
                <a:tc>
                  <a:txBody>
                    <a:bodyPr/>
                    <a:lstStyle/>
                    <a:p>
                      <a:r>
                        <a:rPr b="1" sz="1300">
                          <a:solidFill>
                            <a:srgbClr val="0E6E63"/>
                          </a:solidFill>
                          <a:latin typeface="Consolas"/>
                        </a:rPr>
                        <a:t>rounding="around"</a:t>
                      </a:r>
                    </a:p>
                  </a:txBody>
                  <a:tcPr marL="73152" marR="73152" anchor="ctr">
                    <a:solidFill>
                      <a:srgbClr val="F3F5F8"/>
                    </a:solidFill>
                  </a:tcPr>
                </a:tc>
                <a:tc>
                  <a:txBody>
                    <a:bodyPr/>
                    <a:lstStyle/>
                    <a:p>
                      <a:r>
                        <a:rPr b="0" sz="1300">
                          <a:solidFill>
                            <a:srgbClr val="222831"/>
                          </a:solidFill>
                          <a:latin typeface="Calibri"/>
                        </a:rPr>
                        <a:t>empates </a:t>
                      </a:r>
                      <a:r>
                        <a:rPr b="1" sz="1300">
                          <a:solidFill>
                            <a:srgbClr val="1F3A5F"/>
                          </a:solidFill>
                          <a:latin typeface="Calibri"/>
                        </a:rPr>
                        <a:t>al par</a:t>
                      </a:r>
                      <a:r>
                        <a:rPr b="0" sz="1300">
                          <a:solidFill>
                            <a:srgbClr val="222831"/>
                          </a:solidFill>
                          <a:latin typeface="Calibri"/>
                        </a:rPr>
                        <a:t>: 2.5 → 2, 3.5 → 4</a:t>
                      </a:r>
                    </a:p>
                  </a:txBody>
                  <a:tcPr marL="73152" marR="73152" anchor="ctr">
                    <a:solidFill>
                      <a:srgbClr val="F3F5F8"/>
                    </a:solidFill>
                  </a:tcPr>
                </a:tc>
                <a:tc>
                  <a:txBody>
                    <a:bodyPr/>
                    <a:lstStyle/>
                    <a:p>
                      <a:r>
                        <a:rPr b="0" sz="1300">
                          <a:solidFill>
                            <a:srgbClr val="222831"/>
                          </a:solidFill>
                          <a:latin typeface="Calibri"/>
                        </a:rPr>
                        <a:t>half-up: 2.5 → 3</a:t>
                      </a:r>
                    </a:p>
                  </a:txBody>
                  <a:tcPr marL="73152" marR="73152" anchor="ctr">
                    <a:solidFill>
                      <a:srgbClr val="F3F5F8"/>
                    </a:solidFill>
                  </a:tcPr>
                </a:tc>
                <a:tc>
                  <a:txBody>
                    <a:bodyPr/>
                    <a:lstStyle/>
                    <a:p>
                      <a:r>
                        <a:rPr b="0" sz="1300">
                          <a:solidFill>
                            <a:srgbClr val="222831"/>
                          </a:solidFill>
                          <a:latin typeface="Calibri"/>
                        </a:rPr>
                        <a:t>+½ LSB y después </a:t>
                      </a:r>
                      <a:r>
                        <a:rPr b="0" sz="1300">
                          <a:solidFill>
                            <a:srgbClr val="0E6E63"/>
                          </a:solidFill>
                          <a:latin typeface="Consolas"/>
                        </a:rPr>
                        <a:t>"floor"</a:t>
                      </a:r>
                    </a:p>
                  </a:txBody>
                  <a:tcPr marL="73152" marR="73152" anchor="ctr">
                    <a:solidFill>
                      <a:srgbClr val="F3F5F8"/>
                    </a:solidFill>
                  </a:tcPr>
                </a:tc>
              </a:tr>
              <a:tr h="566928">
                <a:tc>
                  <a:txBody>
                    <a:bodyPr/>
                    <a:lstStyle/>
                    <a:p>
                      <a:r>
                        <a:rPr b="1" sz="1300">
                          <a:solidFill>
                            <a:srgbClr val="0E6E63"/>
                          </a:solidFill>
                          <a:latin typeface="Consolas"/>
                        </a:rPr>
                        <a:t>x &gt;&gt; 1</a:t>
                      </a:r>
                    </a:p>
                  </a:txBody>
                  <a:tcPr marL="73152" marR="73152" anchor="ctr">
                    <a:solidFill>
                      <a:srgbClr val="FFFFFF"/>
                    </a:solidFill>
                  </a:tcPr>
                </a:tc>
                <a:tc>
                  <a:txBody>
                    <a:bodyPr/>
                    <a:lstStyle/>
                    <a:p>
                      <a:r>
                        <a:rPr b="0" sz="1300">
                          <a:solidFill>
                            <a:srgbClr val="222831"/>
                          </a:solidFill>
                          <a:latin typeface="Calibri"/>
                        </a:rPr>
                        <a:t>exacto solo con </a:t>
                      </a:r>
                      <a:r>
                        <a:rPr b="0" sz="1300">
                          <a:solidFill>
                            <a:srgbClr val="0E6E63"/>
                          </a:solidFill>
                          <a:latin typeface="Consolas"/>
                        </a:rPr>
                        <a:t>shifting="expand"</a:t>
                      </a:r>
                      <a:r>
                        <a:rPr b="0" sz="1300">
                          <a:solidFill>
                            <a:srgbClr val="222831"/>
                          </a:solidFill>
                          <a:latin typeface="Calibri"/>
                        </a:rPr>
                        <a:t> (el default)</a:t>
                      </a:r>
                    </a:p>
                  </a:txBody>
                  <a:tcPr marL="73152" marR="73152" anchor="ctr">
                    <a:solidFill>
                      <a:srgbClr val="FFFFFF"/>
                    </a:solidFill>
                  </a:tcPr>
                </a:tc>
                <a:tc>
                  <a:txBody>
                    <a:bodyPr/>
                    <a:lstStyle/>
                    <a:p>
                      <a:r>
                        <a:rPr b="0" sz="1300">
                          <a:solidFill>
                            <a:srgbClr val="222831"/>
                          </a:solidFill>
                          <a:latin typeface="Calibri"/>
                        </a:rPr>
                        <a:t>÷2 exacto en cada etapa de la IFFT</a:t>
                      </a:r>
                    </a:p>
                  </a:txBody>
                  <a:tcPr marL="73152" marR="73152" anchor="ctr">
                    <a:solidFill>
                      <a:srgbClr val="FFFFFF"/>
                    </a:solidFill>
                  </a:tcPr>
                </a:tc>
                <a:tc>
                  <a:txBody>
                    <a:bodyPr/>
                    <a:lstStyle/>
                    <a:p>
                      <a:r>
                        <a:rPr b="0" sz="1300">
                          <a:solidFill>
                            <a:srgbClr val="0E6E63"/>
                          </a:solidFill>
                          <a:latin typeface="Consolas"/>
                        </a:rPr>
                        <a:t>x * Fxp(0.5)</a:t>
                      </a:r>
                      <a:r>
                        <a:rPr b="0" sz="1300">
                          <a:solidFill>
                            <a:srgbClr val="222831"/>
                          </a:solidFill>
                          <a:latin typeface="Calibri"/>
                        </a:rPr>
                        <a:t>: exacto siempre</a:t>
                      </a:r>
                    </a:p>
                  </a:txBody>
                  <a:tcPr marL="73152" marR="73152" anchor="ctr">
                    <a:solidFill>
                      <a:srgbClr val="FFFFFF"/>
                    </a:solidFill>
                  </a:tcPr>
                </a:tc>
              </a:tr>
              <a:tr h="566928">
                <a:tc>
                  <a:txBody>
                    <a:bodyPr/>
                    <a:lstStyle/>
                    <a:p>
                      <a:r>
                        <a:rPr b="1" sz="1300">
                          <a:solidFill>
                            <a:srgbClr val="0E6E63"/>
                          </a:solidFill>
                          <a:latin typeface="Consolas"/>
                        </a:rPr>
                        <a:t>a + b</a:t>
                      </a:r>
                      <a:r>
                        <a:rPr b="1" sz="1300">
                          <a:solidFill>
                            <a:srgbClr val="222831"/>
                          </a:solidFill>
                          <a:latin typeface="Calibri"/>
                        </a:rPr>
                        <a:t>, </a:t>
                      </a:r>
                      <a:r>
                        <a:rPr b="1" sz="1300">
                          <a:solidFill>
                            <a:srgbClr val="0E6E63"/>
                          </a:solidFill>
                          <a:latin typeface="Consolas"/>
                        </a:rPr>
                        <a:t>a * b</a:t>
                      </a:r>
                    </a:p>
                  </a:txBody>
                  <a:tcPr marL="73152" marR="73152" anchor="ctr">
                    <a:solidFill>
                      <a:srgbClr val="F3F5F8"/>
                    </a:solidFill>
                  </a:tcPr>
                </a:tc>
                <a:tc>
                  <a:txBody>
                    <a:bodyPr/>
                    <a:lstStyle/>
                    <a:p>
                      <a:r>
                        <a:rPr b="0" sz="1300">
                          <a:solidFill>
                            <a:srgbClr val="222831"/>
                          </a:solidFill>
                          <a:latin typeface="Calibri"/>
                        </a:rPr>
                        <a:t>ancho completo: alinea los puntos y agranda la palabra</a:t>
                      </a:r>
                    </a:p>
                  </a:txBody>
                  <a:tcPr marL="73152" marR="73152" anchor="ctr">
                    <a:solidFill>
                      <a:srgbClr val="F3F5F8"/>
                    </a:solidFill>
                  </a:tcPr>
                </a:tc>
                <a:tc>
                  <a:txBody>
                    <a:bodyPr/>
                    <a:lstStyle/>
                    <a:p>
                      <a:r>
                        <a:rPr b="0" sz="1300">
                          <a:solidFill>
                            <a:srgbClr val="222831"/>
                          </a:solidFill>
                          <a:latin typeface="Calibri"/>
                        </a:rPr>
                        <a:t>lo mismo (ancho completo)</a:t>
                      </a:r>
                    </a:p>
                  </a:txBody>
                  <a:tcPr marL="73152" marR="73152" anchor="ctr">
                    <a:solidFill>
                      <a:srgbClr val="F3F5F8"/>
                    </a:solidFill>
                  </a:tcPr>
                </a:tc>
                <a:tc>
                  <a:txBody>
                    <a:bodyPr/>
                    <a:lstStyle/>
                    <a:p>
                      <a:r>
                        <a:rPr b="0" sz="1300">
                          <a:solidFill>
                            <a:srgbClr val="222831"/>
                          </a:solidFill>
                          <a:latin typeface="Calibri"/>
                        </a:rPr>
                        <a:t>se usa tal cual</a:t>
                      </a:r>
                    </a:p>
                  </a:txBody>
                  <a:tcPr marL="73152" marR="73152" anchor="ctr">
                    <a:solidFill>
                      <a:srgbClr val="F3F5F8"/>
                    </a:solidFill>
                  </a:tcPr>
                </a:tc>
              </a:tr>
            </a:tbl>
          </a:graphicData>
        </a:graphic>
      </p:graphicFrame>
      <p:sp>
        <p:nvSpPr>
          <p:cNvPr id="7" name="Rectangle 6"/>
          <p:cNvSpPr/>
          <p:nvPr/>
        </p:nvSpPr>
        <p:spPr>
          <a:xfrm>
            <a:off x="548640" y="4526280"/>
            <a:ext cx="11155680" cy="160020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4526280"/>
            <a:ext cx="64008" cy="16002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4599432"/>
            <a:ext cx="10881360" cy="1463040"/>
          </a:xfrm>
          <a:prstGeom prst="rect">
            <a:avLst/>
          </a:prstGeom>
          <a:noFill/>
        </p:spPr>
        <p:txBody>
          <a:bodyPr wrap="square">
            <a:spAutoFit/>
          </a:bodyPr>
          <a:lstStyle/>
          <a:p>
            <a:pPr>
              <a:spcAft>
                <a:spcPts val="400"/>
              </a:spcAft>
            </a:pPr>
            <a:r>
              <a:rPr b="1" sz="1400">
                <a:solidFill>
                  <a:srgbClr val="1F3A5F"/>
                </a:solidFill>
                <a:latin typeface="Calibri"/>
              </a:rPr>
              <a:t>Por qué importa</a:t>
            </a:r>
          </a:p>
          <a:p>
            <a:pPr>
              <a:spcAft>
                <a:spcPts val="400"/>
              </a:spcAft>
            </a:pPr>
            <a:r>
              <a:rPr b="0" sz="1400">
                <a:solidFill>
                  <a:srgbClr val="222831"/>
                </a:solidFill>
                <a:latin typeface="Calibri"/>
              </a:rPr>
              <a:t>Si se usaran </a:t>
            </a:r>
            <a:r>
              <a:rPr b="0" sz="1400">
                <a:solidFill>
                  <a:srgbClr val="0E6E63"/>
                </a:solidFill>
                <a:latin typeface="Consolas"/>
              </a:rPr>
              <a:t>"trunc"</a:t>
            </a:r>
            <a:r>
              <a:rPr b="0" sz="1400">
                <a:solidFill>
                  <a:srgbClr val="222831"/>
                </a:solidFill>
                <a:latin typeface="Calibri"/>
              </a:rPr>
              <a:t> o </a:t>
            </a:r>
            <a:r>
              <a:rPr b="0" sz="1400">
                <a:solidFill>
                  <a:srgbClr val="0E6E63"/>
                </a:solidFill>
                <a:latin typeface="Consolas"/>
              </a:rPr>
              <a:t>"around"</a:t>
            </a:r>
            <a:r>
              <a:rPr b="0" sz="1400">
                <a:solidFill>
                  <a:srgbClr val="222831"/>
                </a:solidFill>
                <a:latin typeface="Calibri"/>
              </a:rPr>
              <a:t> directamente, el modelo </a:t>
            </a:r>
            <a:r>
              <a:rPr b="1" sz="1400">
                <a:solidFill>
                  <a:srgbClr val="1F3A5F"/>
                </a:solidFill>
                <a:latin typeface="Calibri"/>
              </a:rPr>
              <a:t>no coincidiría con el RTL</a:t>
            </a:r>
            <a:r>
              <a:rPr b="0" sz="1400">
                <a:solidFill>
                  <a:srgbClr val="222831"/>
                </a:solidFill>
                <a:latin typeface="Calibri"/>
              </a:rPr>
              <a:t>: en este diseño hay muchos empates (datos ±1 y taps casi sobre la grilla).</a:t>
            </a:r>
          </a:p>
          <a:p>
            <a:pPr>
              <a:spcAft>
                <a:spcPts val="400"/>
              </a:spcAft>
            </a:pPr>
            <a:r>
              <a:rPr b="0" sz="1400">
                <a:solidFill>
                  <a:srgbClr val="0E6E63"/>
                </a:solidFill>
                <a:latin typeface="Consolas"/>
              </a:rPr>
              <a:t>test_fxpmath_rounding_semantics</a:t>
            </a:r>
            <a:r>
              <a:rPr b="0" sz="1400">
                <a:solidFill>
                  <a:srgbClr val="222831"/>
                </a:solidFill>
                <a:latin typeface="Calibri"/>
              </a:rPr>
              <a:t> documenta estos comportamientos y </a:t>
            </a:r>
            <a:r>
              <a:rPr b="0" sz="1400">
                <a:solidFill>
                  <a:srgbClr val="0E6E63"/>
                </a:solidFill>
                <a:latin typeface="Consolas"/>
              </a:rPr>
              <a:t>test_matches_reference_vectors</a:t>
            </a:r>
            <a:r>
              <a:rPr b="0" sz="1400">
                <a:solidFill>
                  <a:srgbClr val="222831"/>
                </a:solidFill>
                <a:latin typeface="Calibri"/>
              </a:rPr>
              <a:t> comprueba bit a bit todos los nodos contra </a:t>
            </a:r>
            <a:r>
              <a:rPr b="0" sz="1400">
                <a:solidFill>
                  <a:srgbClr val="0E6E63"/>
                </a:solidFill>
                <a:latin typeface="Consolas"/>
              </a:rPr>
              <a:t>vectors/</a:t>
            </a:r>
            <a:r>
              <a:rPr b="0" sz="1400">
                <a:solidFill>
                  <a:srgbClr val="222831"/>
                </a:solidFill>
                <a:latin typeface="Calibri"/>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Bits enteros: cotas de peor caso</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5 · Punto fijo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29</a:t>
            </a:r>
          </a:p>
        </p:txBody>
      </p:sp>
      <p:graphicFrame>
        <p:nvGraphicFramePr>
          <p:cNvPr id="6" name="Table 5"/>
          <p:cNvGraphicFramePr>
            <a:graphicFrameLocks noGrp="1"/>
          </p:cNvGraphicFramePr>
          <p:nvPr/>
        </p:nvGraphicFramePr>
        <p:xfrm>
          <a:off x="548640" y="1325880"/>
          <a:ext cx="11155680" cy="3657600"/>
        </p:xfrm>
        <a:graphic>
          <a:graphicData uri="http://schemas.openxmlformats.org/drawingml/2006/table">
            <a:tbl>
              <a:tblPr firstRow="1" bandRow="1">
                <a:tableStyleId>{5C22544A-7EE6-4342-B048-85BDC9FD1C3A}</a:tableStyleId>
              </a:tblPr>
              <a:tblGrid>
                <a:gridCol w="2011680"/>
                <a:gridCol w="5852160"/>
                <a:gridCol w="1097280"/>
                <a:gridCol w="2194560"/>
              </a:tblGrid>
              <a:tr h="457200">
                <a:tc>
                  <a:txBody>
                    <a:bodyPr wrap="square"/>
                    <a:lstStyle/>
                    <a:p>
                      <a:r>
                        <a:rPr b="1" sz="1400">
                          <a:solidFill>
                            <a:srgbClr val="FFFFFF"/>
                          </a:solidFill>
                          <a:latin typeface="Calibri"/>
                        </a:rPr>
                        <a:t>Nodo</a:t>
                      </a:r>
                    </a:p>
                  </a:txBody>
                  <a:tcPr marL="73152" marR="73152" marT="27432" marB="27432" anchor="ctr">
                    <a:solidFill>
                      <a:srgbClr val="1F3A5F"/>
                    </a:solidFill>
                  </a:tcPr>
                </a:tc>
                <a:tc>
                  <a:txBody>
                    <a:bodyPr wrap="square"/>
                    <a:lstStyle/>
                    <a:p>
                      <a:r>
                        <a:rPr b="1" sz="1400">
                          <a:solidFill>
                            <a:srgbClr val="FFFFFF"/>
                          </a:solidFill>
                          <a:latin typeface="Calibri"/>
                        </a:rPr>
                        <a:t>Cota de |valor|</a:t>
                      </a:r>
                    </a:p>
                  </a:txBody>
                  <a:tcPr marL="73152" marR="73152" marT="27432" marB="27432" anchor="ctr">
                    <a:solidFill>
                      <a:srgbClr val="1F3A5F"/>
                    </a:solidFill>
                  </a:tcPr>
                </a:tc>
                <a:tc>
                  <a:txBody>
                    <a:bodyPr wrap="square"/>
                    <a:lstStyle/>
                    <a:p>
                      <a:r>
                        <a:rPr b="1" sz="1400">
                          <a:solidFill>
                            <a:srgbClr val="FFFFFF"/>
                          </a:solidFill>
                          <a:latin typeface="Calibri"/>
                        </a:rPr>
                        <a:t>NBI</a:t>
                      </a:r>
                    </a:p>
                  </a:txBody>
                  <a:tcPr marL="73152" marR="73152" marT="27432" marB="27432" anchor="ctr">
                    <a:solidFill>
                      <a:srgbClr val="1F3A5F"/>
                    </a:solidFill>
                  </a:tcPr>
                </a:tc>
                <a:tc>
                  <a:txBody>
                    <a:bodyPr wrap="square"/>
                    <a:lstStyle/>
                    <a:p>
                      <a:r>
                        <a:rPr b="1" sz="1400">
                          <a:solidFill>
                            <a:srgbClr val="FFFFFF"/>
                          </a:solidFill>
                          <a:latin typeface="Calibri"/>
                        </a:rPr>
                        <a:t>Formato</a:t>
                      </a:r>
                    </a:p>
                  </a:txBody>
                  <a:tcPr marL="73152" marR="73152" marT="27432" marB="27432" anchor="ctr">
                    <a:solidFill>
                      <a:srgbClr val="1F3A5F"/>
                    </a:solidFill>
                  </a:tcPr>
                </a:tc>
              </a:tr>
              <a:tr h="457200">
                <a:tc>
                  <a:txBody>
                    <a:bodyPr wrap="square"/>
                    <a:lstStyle/>
                    <a:p>
                      <a:r>
                        <a:rPr b="1" sz="1400">
                          <a:solidFill>
                            <a:srgbClr val="222831"/>
                          </a:solidFill>
                          <a:latin typeface="Calibri"/>
                        </a:rPr>
                        <a:t>x[n]</a:t>
                      </a:r>
                    </a:p>
                  </a:txBody>
                  <a:tcPr marL="73152" marR="73152" marT="27432" marB="27432" anchor="ctr">
                    <a:solidFill>
                      <a:srgbClr val="FFFFFF"/>
                    </a:solidFill>
                  </a:tcPr>
                </a:tc>
                <a:tc>
                  <a:txBody>
                    <a:bodyPr wrap="square"/>
                    <a:lstStyle/>
                    <a:p>
                      <a:r>
                        <a:rPr b="0" sz="1400">
                          <a:solidFill>
                            <a:srgbClr val="222831"/>
                          </a:solidFill>
                          <a:latin typeface="Calibri"/>
                        </a:rPr>
                        <a:t>componentes ±1  (|x| ≤ √2)</a:t>
                      </a:r>
                    </a:p>
                  </a:txBody>
                  <a:tcPr marL="73152" marR="73152" marT="27432" marB="27432" anchor="ctr">
                    <a:solidFill>
                      <a:srgbClr val="FFFFFF"/>
                    </a:solidFill>
                  </a:tcPr>
                </a:tc>
                <a:tc>
                  <a:txBody>
                    <a:bodyPr wrap="square"/>
                    <a:lstStyle/>
                    <a:p>
                      <a:r>
                        <a:rPr b="0" sz="1400">
                          <a:solidFill>
                            <a:srgbClr val="222831"/>
                          </a:solidFill>
                          <a:latin typeface="Calibri"/>
                        </a:rPr>
                        <a:t>1</a:t>
                      </a:r>
                    </a:p>
                  </a:txBody>
                  <a:tcPr marL="73152" marR="73152" marT="27432" marB="27432" anchor="ctr">
                    <a:solidFill>
                      <a:srgbClr val="FFFFFF"/>
                    </a:solidFill>
                  </a:tcPr>
                </a:tc>
                <a:tc>
                  <a:txBody>
                    <a:bodyPr wrap="square"/>
                    <a:lstStyle/>
                    <a:p>
                      <a:r>
                        <a:rPr b="0" sz="1400">
                          <a:solidFill>
                            <a:srgbClr val="222831"/>
                          </a:solidFill>
                          <a:latin typeface="Calibri"/>
                        </a:rPr>
                        <a:t>S(8,6)</a:t>
                      </a:r>
                    </a:p>
                  </a:txBody>
                  <a:tcPr marL="73152" marR="73152" marT="27432" marB="27432" anchor="ctr">
                    <a:solidFill>
                      <a:srgbClr val="FFFFFF"/>
                    </a:solidFill>
                  </a:tcPr>
                </a:tc>
              </a:tr>
              <a:tr h="457200">
                <a:tc>
                  <a:txBody>
                    <a:bodyPr wrap="square"/>
                    <a:lstStyle/>
                    <a:p>
                      <a:r>
                        <a:rPr b="1" sz="1400">
                          <a:solidFill>
                            <a:srgbClr val="222831"/>
                          </a:solidFill>
                          <a:latin typeface="Calibri"/>
                        </a:rPr>
                        <a:t>FFT etapa s</a:t>
                      </a:r>
                    </a:p>
                  </a:txBody>
                  <a:tcPr marL="73152" marR="73152" marT="27432" marB="27432" anchor="ctr">
                    <a:solidFill>
                      <a:srgbClr val="F3F5F8"/>
                    </a:solidFill>
                  </a:tcPr>
                </a:tc>
                <a:tc>
                  <a:txBody>
                    <a:bodyPr wrap="square"/>
                    <a:lstStyle/>
                    <a:p>
                      <a:r>
                        <a:rPr b="0" sz="1400">
                          <a:solidFill>
                            <a:srgbClr val="222831"/>
                          </a:solidFill>
                          <a:latin typeface="Calibri"/>
                        </a:rPr>
                        <a:t>≤ 2ˢ · √2  (cada mariposa, como mucho ×2)</a:t>
                      </a:r>
                    </a:p>
                  </a:txBody>
                  <a:tcPr marL="73152" marR="73152" marT="27432" marB="27432" anchor="ctr">
                    <a:solidFill>
                      <a:srgbClr val="F3F5F8"/>
                    </a:solidFill>
                  </a:tcPr>
                </a:tc>
                <a:tc>
                  <a:txBody>
                    <a:bodyPr wrap="square"/>
                    <a:lstStyle/>
                    <a:p>
                      <a:r>
                        <a:rPr b="0" sz="1400">
                          <a:solidFill>
                            <a:srgbClr val="222831"/>
                          </a:solidFill>
                          <a:latin typeface="Calibri"/>
                        </a:rPr>
                        <a:t>s + 1</a:t>
                      </a:r>
                    </a:p>
                  </a:txBody>
                  <a:tcPr marL="73152" marR="73152" marT="27432" marB="27432" anchor="ctr">
                    <a:solidFill>
                      <a:srgbClr val="F3F5F8"/>
                    </a:solidFill>
                  </a:tcPr>
                </a:tc>
                <a:tc>
                  <a:txBody>
                    <a:bodyPr wrap="square"/>
                    <a:lstStyle/>
                    <a:p>
                      <a:r>
                        <a:rPr b="0" sz="1400">
                          <a:solidFill>
                            <a:srgbClr val="222831"/>
                          </a:solidFill>
                          <a:latin typeface="Calibri"/>
                        </a:rPr>
                        <a:t>S(10+s, 8)</a:t>
                      </a:r>
                    </a:p>
                  </a:txBody>
                  <a:tcPr marL="73152" marR="73152" marT="27432" marB="27432" anchor="ctr">
                    <a:solidFill>
                      <a:srgbClr val="F3F5F8"/>
                    </a:solidFill>
                  </a:tcPr>
                </a:tc>
              </a:tr>
              <a:tr h="457200">
                <a:tc>
                  <a:txBody>
                    <a:bodyPr wrap="square"/>
                    <a:lstStyle/>
                    <a:p>
                      <a:r>
                        <a:rPr b="1" sz="1400">
                          <a:solidFill>
                            <a:srgbClr val="222831"/>
                          </a:solidFill>
                          <a:latin typeface="Calibri"/>
                        </a:rPr>
                        <a:t>X[k] (etapa 4)</a:t>
                      </a:r>
                    </a:p>
                  </a:txBody>
                  <a:tcPr marL="73152" marR="73152" marT="27432" marB="27432" anchor="ctr">
                    <a:solidFill>
                      <a:srgbClr val="FFFFFF"/>
                    </a:solidFill>
                  </a:tcPr>
                </a:tc>
                <a:tc>
                  <a:txBody>
                    <a:bodyPr wrap="square"/>
                    <a:lstStyle/>
                    <a:p>
                      <a:r>
                        <a:rPr b="0" sz="1400">
                          <a:solidFill>
                            <a:srgbClr val="222831"/>
                          </a:solidFill>
                          <a:latin typeface="Calibri"/>
                        </a:rPr>
                        <a:t>≤ 16 · √2 = 22.6</a:t>
                      </a:r>
                    </a:p>
                  </a:txBody>
                  <a:tcPr marL="73152" marR="73152" marT="27432" marB="27432" anchor="ctr">
                    <a:solidFill>
                      <a:srgbClr val="FFFFFF"/>
                    </a:solidFill>
                  </a:tcPr>
                </a:tc>
                <a:tc>
                  <a:txBody>
                    <a:bodyPr wrap="square"/>
                    <a:lstStyle/>
                    <a:p>
                      <a:r>
                        <a:rPr b="0" sz="1400">
                          <a:solidFill>
                            <a:srgbClr val="222831"/>
                          </a:solidFill>
                          <a:latin typeface="Calibri"/>
                        </a:rPr>
                        <a:t>5</a:t>
                      </a:r>
                    </a:p>
                  </a:txBody>
                  <a:tcPr marL="73152" marR="73152" marT="27432" marB="27432" anchor="ctr">
                    <a:solidFill>
                      <a:srgbClr val="FFFFFF"/>
                    </a:solidFill>
                  </a:tcPr>
                </a:tc>
                <a:tc>
                  <a:txBody>
                    <a:bodyPr wrap="square"/>
                    <a:lstStyle/>
                    <a:p>
                      <a:r>
                        <a:rPr b="0" sz="1400">
                          <a:solidFill>
                            <a:srgbClr val="222831"/>
                          </a:solidFill>
                          <a:latin typeface="Calibri"/>
                        </a:rPr>
                        <a:t>S(14,8)</a:t>
                      </a:r>
                    </a:p>
                  </a:txBody>
                  <a:tcPr marL="73152" marR="73152" marT="27432" marB="27432" anchor="ctr">
                    <a:solidFill>
                      <a:srgbClr val="FFFFFF"/>
                    </a:solidFill>
                  </a:tcPr>
                </a:tc>
              </a:tr>
              <a:tr h="457200">
                <a:tc>
                  <a:txBody>
                    <a:bodyPr wrap="square"/>
                    <a:lstStyle/>
                    <a:p>
                      <a:r>
                        <a:rPr b="1" sz="1400">
                          <a:solidFill>
                            <a:srgbClr val="222831"/>
                          </a:solidFill>
                          <a:latin typeface="Calibri"/>
                        </a:rPr>
                        <a:t>Y[k] = X·H</a:t>
                      </a:r>
                    </a:p>
                  </a:txBody>
                  <a:tcPr marL="73152" marR="73152" marT="27432" marB="27432" anchor="ctr">
                    <a:solidFill>
                      <a:srgbClr val="F3F5F8"/>
                    </a:solidFill>
                  </a:tcPr>
                </a:tc>
                <a:tc>
                  <a:txBody>
                    <a:bodyPr wrap="square"/>
                    <a:lstStyle/>
                    <a:p>
                      <a:r>
                        <a:rPr b="0" sz="1400">
                          <a:solidFill>
                            <a:srgbClr val="222831"/>
                          </a:solidFill>
                          <a:latin typeface="Calibri"/>
                        </a:rPr>
                        <a:t>≤ 16 · √2 · max|H| = 22.6  (max|H| = 1)</a:t>
                      </a:r>
                    </a:p>
                  </a:txBody>
                  <a:tcPr marL="73152" marR="73152" marT="27432" marB="27432" anchor="ctr">
                    <a:solidFill>
                      <a:srgbClr val="F3F5F8"/>
                    </a:solidFill>
                  </a:tcPr>
                </a:tc>
                <a:tc>
                  <a:txBody>
                    <a:bodyPr wrap="square"/>
                    <a:lstStyle/>
                    <a:p>
                      <a:r>
                        <a:rPr b="0" sz="1400">
                          <a:solidFill>
                            <a:srgbClr val="222831"/>
                          </a:solidFill>
                          <a:latin typeface="Calibri"/>
                        </a:rPr>
                        <a:t>5</a:t>
                      </a:r>
                    </a:p>
                  </a:txBody>
                  <a:tcPr marL="73152" marR="73152" marT="27432" marB="27432" anchor="ctr">
                    <a:solidFill>
                      <a:srgbClr val="F3F5F8"/>
                    </a:solidFill>
                  </a:tcPr>
                </a:tc>
                <a:tc>
                  <a:txBody>
                    <a:bodyPr wrap="square"/>
                    <a:lstStyle/>
                    <a:p>
                      <a:r>
                        <a:rPr b="0" sz="1400">
                          <a:solidFill>
                            <a:srgbClr val="222831"/>
                          </a:solidFill>
                          <a:latin typeface="Calibri"/>
                        </a:rPr>
                        <a:t>S(14,8)</a:t>
                      </a:r>
                    </a:p>
                  </a:txBody>
                  <a:tcPr marL="73152" marR="73152" marT="27432" marB="27432" anchor="ctr">
                    <a:solidFill>
                      <a:srgbClr val="F3F5F8"/>
                    </a:solidFill>
                  </a:tcPr>
                </a:tc>
              </a:tr>
              <a:tr h="457200">
                <a:tc>
                  <a:txBody>
                    <a:bodyPr wrap="square"/>
                    <a:lstStyle/>
                    <a:p>
                      <a:r>
                        <a:rPr b="1" sz="1400">
                          <a:solidFill>
                            <a:srgbClr val="222831"/>
                          </a:solidFill>
                          <a:latin typeface="Calibri"/>
                        </a:rPr>
                        <a:t>IFFT, cada etapa</a:t>
                      </a:r>
                    </a:p>
                  </a:txBody>
                  <a:tcPr marL="73152" marR="73152" marT="27432" marB="27432" anchor="ctr">
                    <a:solidFill>
                      <a:srgbClr val="FFFFFF"/>
                    </a:solidFill>
                  </a:tcPr>
                </a:tc>
                <a:tc>
                  <a:txBody>
                    <a:bodyPr wrap="square"/>
                    <a:lstStyle/>
                    <a:p>
                      <a:r>
                        <a:rPr b="0" sz="1400">
                          <a:solidFill>
                            <a:srgbClr val="222831"/>
                          </a:solidFill>
                          <a:latin typeface="Calibri"/>
                        </a:rPr>
                        <a:t>|a ± W·b|/2 ≤ max(|a|, |b|) → no crece</a:t>
                      </a:r>
                    </a:p>
                  </a:txBody>
                  <a:tcPr marL="73152" marR="73152" marT="27432" marB="27432" anchor="ctr">
                    <a:solidFill>
                      <a:srgbClr val="FFFFFF"/>
                    </a:solidFill>
                  </a:tcPr>
                </a:tc>
                <a:tc>
                  <a:txBody>
                    <a:bodyPr wrap="square"/>
                    <a:lstStyle/>
                    <a:p>
                      <a:r>
                        <a:rPr b="0" sz="1400">
                          <a:solidFill>
                            <a:srgbClr val="222831"/>
                          </a:solidFill>
                          <a:latin typeface="Calibri"/>
                        </a:rPr>
                        <a:t>5</a:t>
                      </a:r>
                    </a:p>
                  </a:txBody>
                  <a:tcPr marL="73152" marR="73152" marT="27432" marB="27432" anchor="ctr">
                    <a:solidFill>
                      <a:srgbClr val="FFFFFF"/>
                    </a:solidFill>
                  </a:tcPr>
                </a:tc>
                <a:tc>
                  <a:txBody>
                    <a:bodyPr wrap="square"/>
                    <a:lstStyle/>
                    <a:p>
                      <a:r>
                        <a:rPr b="0" sz="1400">
                          <a:solidFill>
                            <a:srgbClr val="222831"/>
                          </a:solidFill>
                          <a:latin typeface="Calibri"/>
                        </a:rPr>
                        <a:t>S(14,8)</a:t>
                      </a:r>
                    </a:p>
                  </a:txBody>
                  <a:tcPr marL="73152" marR="73152" marT="27432" marB="27432" anchor="ctr">
                    <a:solidFill>
                      <a:srgbClr val="FFFFFF"/>
                    </a:solidFill>
                  </a:tcPr>
                </a:tc>
              </a:tr>
              <a:tr h="457200">
                <a:tc>
                  <a:txBody>
                    <a:bodyPr wrap="square"/>
                    <a:lstStyle/>
                    <a:p>
                      <a:r>
                        <a:rPr b="1" sz="1400">
                          <a:solidFill>
                            <a:srgbClr val="222831"/>
                          </a:solidFill>
                          <a:latin typeface="Calibri"/>
                        </a:rPr>
                        <a:t>y[n]</a:t>
                      </a:r>
                    </a:p>
                  </a:txBody>
                  <a:tcPr marL="73152" marR="73152" marT="27432" marB="27432" anchor="ctr">
                    <a:solidFill>
                      <a:srgbClr val="F3F5F8"/>
                    </a:solidFill>
                  </a:tcPr>
                </a:tc>
                <a:tc>
                  <a:txBody>
                    <a:bodyPr wrap="square"/>
                    <a:lstStyle/>
                    <a:p>
                      <a:r>
                        <a:rPr b="0" sz="1400">
                          <a:solidFill>
                            <a:srgbClr val="222831"/>
                          </a:solidFill>
                          <a:latin typeface="Calibri"/>
                        </a:rPr>
                        <a:t>≤ √2 · Σ|h| = 1.83</a:t>
                      </a:r>
                    </a:p>
                  </a:txBody>
                  <a:tcPr marL="73152" marR="73152" marT="27432" marB="27432" anchor="ctr">
                    <a:solidFill>
                      <a:srgbClr val="F3F5F8"/>
                    </a:solidFill>
                  </a:tcPr>
                </a:tc>
                <a:tc>
                  <a:txBody>
                    <a:bodyPr wrap="square"/>
                    <a:lstStyle/>
                    <a:p>
                      <a:r>
                        <a:rPr b="0" sz="1400">
                          <a:solidFill>
                            <a:srgbClr val="222831"/>
                          </a:solidFill>
                          <a:latin typeface="Calibri"/>
                        </a:rPr>
                        <a:t>1</a:t>
                      </a:r>
                    </a:p>
                  </a:txBody>
                  <a:tcPr marL="73152" marR="73152" marT="27432" marB="27432" anchor="ctr">
                    <a:solidFill>
                      <a:srgbClr val="F3F5F8"/>
                    </a:solidFill>
                  </a:tcPr>
                </a:tc>
                <a:tc>
                  <a:txBody>
                    <a:bodyPr wrap="square"/>
                    <a:lstStyle/>
                    <a:p>
                      <a:r>
                        <a:rPr b="0" sz="1400">
                          <a:solidFill>
                            <a:srgbClr val="222831"/>
                          </a:solidFill>
                          <a:latin typeface="Calibri"/>
                        </a:rPr>
                        <a:t>S(10,8)</a:t>
                      </a:r>
                    </a:p>
                  </a:txBody>
                  <a:tcPr marL="73152" marR="73152" marT="27432" marB="27432" anchor="ctr">
                    <a:solidFill>
                      <a:srgbClr val="F3F5F8"/>
                    </a:solidFill>
                  </a:tcPr>
                </a:tc>
              </a:tr>
              <a:tr h="457200">
                <a:tc>
                  <a:txBody>
                    <a:bodyPr wrap="square"/>
                    <a:lstStyle/>
                    <a:p>
                      <a:r>
                        <a:rPr b="1" sz="1400">
                          <a:solidFill>
                            <a:srgbClr val="222831"/>
                          </a:solidFill>
                          <a:latin typeface="Calibri"/>
                        </a:rPr>
                        <a:t>W, H[k]</a:t>
                      </a:r>
                    </a:p>
                  </a:txBody>
                  <a:tcPr marL="73152" marR="73152" marT="27432" marB="27432" anchor="ctr">
                    <a:solidFill>
                      <a:srgbClr val="FFFFFF"/>
                    </a:solidFill>
                  </a:tcPr>
                </a:tc>
                <a:tc>
                  <a:txBody>
                    <a:bodyPr wrap="square"/>
                    <a:lstStyle/>
                    <a:p>
                      <a:r>
                        <a:rPr b="0" sz="1400">
                          <a:solidFill>
                            <a:srgbClr val="222831"/>
                          </a:solidFill>
                          <a:latin typeface="Calibri"/>
                        </a:rPr>
                        <a:t>|W| = 1,  |H| ≤ 1</a:t>
                      </a:r>
                    </a:p>
                  </a:txBody>
                  <a:tcPr marL="73152" marR="73152" marT="27432" marB="27432" anchor="ctr">
                    <a:solidFill>
                      <a:srgbClr val="FFFFFF"/>
                    </a:solidFill>
                  </a:tcPr>
                </a:tc>
                <a:tc>
                  <a:txBody>
                    <a:bodyPr wrap="square"/>
                    <a:lstStyle/>
                    <a:p>
                      <a:r>
                        <a:rPr b="0" sz="1400">
                          <a:solidFill>
                            <a:srgbClr val="222831"/>
                          </a:solidFill>
                          <a:latin typeface="Calibri"/>
                        </a:rPr>
                        <a:t>1</a:t>
                      </a:r>
                    </a:p>
                  </a:txBody>
                  <a:tcPr marL="73152" marR="73152" marT="27432" marB="27432" anchor="ctr">
                    <a:solidFill>
                      <a:srgbClr val="FFFFFF"/>
                    </a:solidFill>
                  </a:tcPr>
                </a:tc>
                <a:tc>
                  <a:txBody>
                    <a:bodyPr wrap="square"/>
                    <a:lstStyle/>
                    <a:p>
                      <a:r>
                        <a:rPr b="0" sz="1400">
                          <a:solidFill>
                            <a:srgbClr val="222831"/>
                          </a:solidFill>
                          <a:latin typeface="Calibri"/>
                        </a:rPr>
                        <a:t>S(10,8)</a:t>
                      </a:r>
                    </a:p>
                  </a:txBody>
                  <a:tcPr marL="73152" marR="73152" marT="27432" marB="27432" anchor="ctr">
                    <a:solidFill>
                      <a:srgbClr val="FFFFFF"/>
                    </a:solidFill>
                  </a:tcPr>
                </a:tc>
              </a:tr>
            </a:tbl>
          </a:graphicData>
        </a:graphic>
      </p:graphicFrame>
      <p:sp>
        <p:nvSpPr>
          <p:cNvPr id="7" name="Rectangle 6"/>
          <p:cNvSpPr/>
          <p:nvPr/>
        </p:nvSpPr>
        <p:spPr>
          <a:xfrm>
            <a:off x="548640" y="5166360"/>
            <a:ext cx="11155680" cy="91440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166360"/>
            <a:ext cx="64008" cy="91440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5239512"/>
            <a:ext cx="10881359" cy="777240"/>
          </a:xfrm>
          <a:prstGeom prst="rect">
            <a:avLst/>
          </a:prstGeom>
          <a:noFill/>
        </p:spPr>
        <p:txBody>
          <a:bodyPr wrap="square" lIns="45720" rIns="45720">
            <a:spAutoFit/>
          </a:bodyPr>
          <a:lstStyle/>
          <a:p>
            <a:pPr>
              <a:spcAft>
                <a:spcPts val="400"/>
              </a:spcAft>
            </a:pPr>
            <a:r>
              <a:rPr b="1" sz="1400">
                <a:solidFill>
                  <a:srgbClr val="1F3A5F"/>
                </a:solidFill>
                <a:latin typeface="Calibri"/>
              </a:rPr>
              <a:t>Regla en el código (make_cfg → fmt_for)</a:t>
            </a:r>
          </a:p>
          <a:p>
            <a:pPr>
              <a:spcAft>
                <a:spcPts val="400"/>
              </a:spcAft>
            </a:pPr>
            <a:r>
              <a:rPr b="0" sz="1400">
                <a:solidFill>
                  <a:srgbClr val="0E6E63"/>
                </a:solidFill>
                <a:latin typeface="Consolas"/>
              </a:rPr>
              <a:t>NBI = floor(log2(cota)) + 1</a:t>
            </a:r>
            <a:r>
              <a:rPr b="0" sz="1400">
                <a:solidFill>
                  <a:srgbClr val="222831"/>
                </a:solidFill>
                <a:latin typeface="Calibri"/>
              </a:rPr>
              <a:t>  (garantiza 2^NBI &gt; cota)  →  </a:t>
            </a:r>
            <a:r>
              <a:rPr b="1" sz="1400">
                <a:solidFill>
                  <a:srgbClr val="1F3A5F"/>
                </a:solidFill>
                <a:latin typeface="Calibri"/>
              </a:rPr>
              <a:t>overflow imposible</a:t>
            </a:r>
            <a:r>
              <a:rPr b="0" sz="1400">
                <a:solidFill>
                  <a:srgbClr val="222831"/>
                </a:solidFill>
                <a:latin typeface="Calibri"/>
              </a:rPr>
              <a:t> para cualquier secuencia QPSK, no solo las simuladas.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Flujo de anchos por el camino de datos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5 · Punto fijo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30</a:t>
            </a:r>
          </a:p>
        </p:txBody>
      </p:sp>
      <p:sp>
        <p:nvSpPr>
          <p:cNvPr id="6" name="Rounded Rectangle 5"/>
          <p:cNvSpPr/>
          <p:nvPr/>
        </p:nvSpPr>
        <p:spPr>
          <a:xfrm>
            <a:off x="411480" y="1508760"/>
            <a:ext cx="1298448" cy="123444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x[n]</a:t>
            </a:r>
          </a:p>
          <a:p>
            <a:pPr algn="ctr"/>
            <a:r>
              <a:rPr b="0" sz="1200">
                <a:solidFill>
                  <a:srgbClr val="FFFFFF"/>
                </a:solidFill>
                <a:latin typeface="Calibri"/>
              </a:rPr>
              <a:t>S(8,6)</a:t>
            </a:r>
          </a:p>
          <a:p>
            <a:pPr algn="ctr"/>
            <a:r>
              <a:rPr b="0" sz="1200">
                <a:solidFill>
                  <a:srgbClr val="FFFFFF"/>
                </a:solidFill>
                <a:latin typeface="Calibri"/>
              </a:rPr>
              <a:t>entrada</a:t>
            </a:r>
          </a:p>
        </p:txBody>
      </p:sp>
      <p:cxnSp>
        <p:nvCxnSpPr>
          <p:cNvPr id="7" name="Connector 6"/>
          <p:cNvCxnSpPr/>
          <p:nvPr/>
        </p:nvCxnSpPr>
        <p:spPr>
          <a:xfrm>
            <a:off x="1709928" y="2121408"/>
            <a:ext cx="164592"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874520" y="1508760"/>
            <a:ext cx="1298448" cy="12344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Etapa 1</a:t>
            </a:r>
          </a:p>
          <a:p>
            <a:pPr algn="ctr"/>
            <a:r>
              <a:rPr b="0" sz="1200">
                <a:solidFill>
                  <a:srgbClr val="FFFFFF"/>
                </a:solidFill>
                <a:latin typeface="Calibri"/>
              </a:rPr>
              <a:t>20 b → S(11,8)</a:t>
            </a:r>
          </a:p>
          <a:p>
            <a:pPr algn="ctr"/>
            <a:r>
              <a:rPr b="0" sz="1200">
                <a:solidFill>
                  <a:srgbClr val="FFFFFF"/>
                </a:solidFill>
                <a:latin typeface="Calibri"/>
              </a:rPr>
              <a:t>−6 LSB</a:t>
            </a:r>
          </a:p>
        </p:txBody>
      </p:sp>
      <p:cxnSp>
        <p:nvCxnSpPr>
          <p:cNvPr id="9" name="Connector 8"/>
          <p:cNvCxnSpPr/>
          <p:nvPr/>
        </p:nvCxnSpPr>
        <p:spPr>
          <a:xfrm>
            <a:off x="3172968" y="2121408"/>
            <a:ext cx="164592"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37560" y="1508760"/>
            <a:ext cx="1298448" cy="12344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Etapa 2</a:t>
            </a:r>
          </a:p>
          <a:p>
            <a:pPr algn="ctr"/>
            <a:r>
              <a:rPr b="0" sz="1200">
                <a:solidFill>
                  <a:srgbClr val="FFFFFF"/>
                </a:solidFill>
                <a:latin typeface="Calibri"/>
              </a:rPr>
              <a:t>23 b → S(12,8)</a:t>
            </a:r>
          </a:p>
          <a:p>
            <a:pPr algn="ctr"/>
            <a:r>
              <a:rPr b="0" sz="1200">
                <a:solidFill>
                  <a:srgbClr val="FFFFFF"/>
                </a:solidFill>
                <a:latin typeface="Calibri"/>
              </a:rPr>
              <a:t>−8 LSB</a:t>
            </a:r>
          </a:p>
        </p:txBody>
      </p:sp>
      <p:cxnSp>
        <p:nvCxnSpPr>
          <p:cNvPr id="11" name="Connector 10"/>
          <p:cNvCxnSpPr/>
          <p:nvPr/>
        </p:nvCxnSpPr>
        <p:spPr>
          <a:xfrm>
            <a:off x="4636008" y="2121408"/>
            <a:ext cx="164592"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800600" y="1508760"/>
            <a:ext cx="1298448" cy="12344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Etapa 3</a:t>
            </a:r>
          </a:p>
          <a:p>
            <a:pPr algn="ctr"/>
            <a:r>
              <a:rPr b="0" sz="1200">
                <a:solidFill>
                  <a:srgbClr val="FFFFFF"/>
                </a:solidFill>
                <a:latin typeface="Calibri"/>
              </a:rPr>
              <a:t>24 b → S(13,8)</a:t>
            </a:r>
          </a:p>
          <a:p>
            <a:pPr algn="ctr"/>
            <a:r>
              <a:rPr b="0" sz="1200">
                <a:solidFill>
                  <a:srgbClr val="FFFFFF"/>
                </a:solidFill>
                <a:latin typeface="Calibri"/>
              </a:rPr>
              <a:t>−8 LSB</a:t>
            </a:r>
          </a:p>
        </p:txBody>
      </p:sp>
      <p:cxnSp>
        <p:nvCxnSpPr>
          <p:cNvPr id="13" name="Connector 12"/>
          <p:cNvCxnSpPr/>
          <p:nvPr/>
        </p:nvCxnSpPr>
        <p:spPr>
          <a:xfrm>
            <a:off x="6099048" y="2121408"/>
            <a:ext cx="164592"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63640" y="1508760"/>
            <a:ext cx="1298448" cy="12344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Etapa 4</a:t>
            </a:r>
          </a:p>
          <a:p>
            <a:pPr algn="ctr"/>
            <a:r>
              <a:rPr b="0" sz="1200">
                <a:solidFill>
                  <a:srgbClr val="FFFFFF"/>
                </a:solidFill>
                <a:latin typeface="Calibri"/>
              </a:rPr>
              <a:t>25 b → S(14,8)</a:t>
            </a:r>
          </a:p>
          <a:p>
            <a:pPr algn="ctr"/>
            <a:r>
              <a:rPr b="0" sz="1200">
                <a:solidFill>
                  <a:srgbClr val="FFFFFF"/>
                </a:solidFill>
                <a:latin typeface="Calibri"/>
              </a:rPr>
              <a:t>−8 LSB</a:t>
            </a:r>
          </a:p>
        </p:txBody>
      </p:sp>
      <p:cxnSp>
        <p:nvCxnSpPr>
          <p:cNvPr id="15" name="Connector 14"/>
          <p:cNvCxnSpPr/>
          <p:nvPr/>
        </p:nvCxnSpPr>
        <p:spPr>
          <a:xfrm>
            <a:off x="7562088" y="2121408"/>
            <a:ext cx="164592"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26679" y="1508760"/>
            <a:ext cx="1298448" cy="1234440"/>
          </a:xfrm>
          <a:prstGeom prst="roundRect">
            <a:avLst>
              <a:gd name="adj" fmla="val 12000"/>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 H[k]</a:t>
            </a:r>
          </a:p>
          <a:p>
            <a:pPr algn="ctr"/>
            <a:r>
              <a:rPr b="0" sz="1200">
                <a:solidFill>
                  <a:srgbClr val="FFFFFF"/>
                </a:solidFill>
                <a:latin typeface="Calibri"/>
              </a:rPr>
              <a:t>25 b → S(14,8)</a:t>
            </a:r>
          </a:p>
          <a:p>
            <a:pPr algn="ctr"/>
            <a:r>
              <a:rPr b="0" sz="1200">
                <a:solidFill>
                  <a:srgbClr val="FFFFFF"/>
                </a:solidFill>
                <a:latin typeface="Calibri"/>
              </a:rPr>
              <a:t>−8 LSB</a:t>
            </a:r>
          </a:p>
        </p:txBody>
      </p:sp>
      <p:cxnSp>
        <p:nvCxnSpPr>
          <p:cNvPr id="17" name="Connector 16"/>
          <p:cNvCxnSpPr/>
          <p:nvPr/>
        </p:nvCxnSpPr>
        <p:spPr>
          <a:xfrm>
            <a:off x="9025128" y="2121408"/>
            <a:ext cx="164591"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89720" y="1508760"/>
            <a:ext cx="1298448" cy="123444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IFFT ×4</a:t>
            </a:r>
          </a:p>
          <a:p>
            <a:pPr algn="ctr"/>
            <a:r>
              <a:rPr b="0" sz="1200">
                <a:solidFill>
                  <a:srgbClr val="FFFFFF"/>
                </a:solidFill>
                <a:latin typeface="Calibri"/>
              </a:rPr>
              <a:t>26 b, ÷2 → S(14,8)</a:t>
            </a:r>
          </a:p>
          <a:p>
            <a:pPr algn="ctr"/>
            <a:r>
              <a:rPr b="0" sz="1200">
                <a:solidFill>
                  <a:srgbClr val="FFFFFF"/>
                </a:solidFill>
                <a:latin typeface="Calibri"/>
              </a:rPr>
              <a:t>−9 LSB</a:t>
            </a:r>
          </a:p>
        </p:txBody>
      </p:sp>
      <p:cxnSp>
        <p:nvCxnSpPr>
          <p:cNvPr id="19" name="Connector 18"/>
          <p:cNvCxnSpPr/>
          <p:nvPr/>
        </p:nvCxnSpPr>
        <p:spPr>
          <a:xfrm>
            <a:off x="10488168" y="2121408"/>
            <a:ext cx="164592" cy="0"/>
          </a:xfrm>
          <a:prstGeom prst="line">
            <a:avLst/>
          </a:prstGeom>
          <a:ln w="22225">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652760" y="1508760"/>
            <a:ext cx="1298448" cy="123444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1400">
                <a:solidFill>
                  <a:srgbClr val="FFFFFF"/>
                </a:solidFill>
                <a:latin typeface="Calibri"/>
              </a:rPr>
              <a:t>y[n]</a:t>
            </a:r>
          </a:p>
          <a:p>
            <a:pPr algn="ctr"/>
            <a:r>
              <a:rPr b="0" sz="1200">
                <a:solidFill>
                  <a:srgbClr val="FFFFFF"/>
                </a:solidFill>
                <a:latin typeface="Calibri"/>
              </a:rPr>
              <a:t>S(14,8) → S(10,8)</a:t>
            </a:r>
          </a:p>
          <a:p>
            <a:pPr algn="ctr"/>
            <a:r>
              <a:rPr b="0" sz="1200">
                <a:solidFill>
                  <a:srgbClr val="FFFFFF"/>
                </a:solidFill>
                <a:latin typeface="Calibri"/>
              </a:rPr>
              <a:t>solo MSB</a:t>
            </a:r>
          </a:p>
        </p:txBody>
      </p:sp>
      <p:sp>
        <p:nvSpPr>
          <p:cNvPr id="21" name="TextBox 20"/>
          <p:cNvSpPr txBox="1"/>
          <p:nvPr/>
        </p:nvSpPr>
        <p:spPr>
          <a:xfrm>
            <a:off x="411480" y="2834640"/>
            <a:ext cx="11430000" cy="457200"/>
          </a:xfrm>
          <a:prstGeom prst="rect">
            <a:avLst/>
          </a:prstGeom>
          <a:noFill/>
        </p:spPr>
        <p:txBody>
          <a:bodyPr wrap="square" lIns="45720" rIns="45720">
            <a:spAutoFit/>
          </a:bodyPr>
          <a:lstStyle/>
          <a:p>
            <a:pPr>
              <a:spcAft>
                <a:spcPts val="600"/>
              </a:spcAft>
            </a:pPr>
            <a:r>
              <a:rPr b="0" sz="1200">
                <a:solidFill>
                  <a:srgbClr val="5F6B7A"/>
                </a:solidFill>
                <a:latin typeface="Calibri"/>
              </a:rPr>
              <a:t>"20 b" = ancho del resultado a ancho completo antes de redondear;  "−6 LSB" = bits fraccionales descartados por el redondeo</a:t>
            </a:r>
          </a:p>
        </p:txBody>
      </p:sp>
      <p:sp>
        <p:nvSpPr>
          <p:cNvPr id="22" name="Rectangle 21"/>
          <p:cNvSpPr/>
          <p:nvPr/>
        </p:nvSpPr>
        <p:spPr>
          <a:xfrm>
            <a:off x="548640" y="3429000"/>
            <a:ext cx="6400800" cy="2606040"/>
          </a:xfrm>
          <a:prstGeom prst="rect">
            <a:avLst/>
          </a:prstGeom>
          <a:solidFill>
            <a:srgbClr val="E6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429000"/>
            <a:ext cx="64008"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02152"/>
            <a:ext cx="6126480" cy="2468880"/>
          </a:xfrm>
          <a:prstGeom prst="rect">
            <a:avLst/>
          </a:prstGeom>
          <a:noFill/>
        </p:spPr>
        <p:txBody>
          <a:bodyPr wrap="square" lIns="45720" rIns="45720">
            <a:spAutoFit/>
          </a:bodyPr>
          <a:lstStyle/>
          <a:p>
            <a:pPr>
              <a:spcAft>
                <a:spcPts val="400"/>
              </a:spcAft>
            </a:pPr>
            <a:r>
              <a:rPr b="1" sz="1400">
                <a:solidFill>
                  <a:srgbClr val="1F3A5F"/>
                </a:solidFill>
                <a:latin typeface="Calibri"/>
              </a:rPr>
              <a:t>Anatomía de una mariposa: entrada S(n,8), twiddle S(10,8)</a:t>
            </a:r>
          </a:p>
          <a:p>
            <a:pPr>
              <a:spcAft>
                <a:spcPts val="400"/>
              </a:spcAft>
            </a:pPr>
            <a:r>
              <a:rPr b="0" sz="1400">
                <a:solidFill>
                  <a:srgbClr val="222831"/>
                </a:solidFill>
                <a:latin typeface="Calibri"/>
              </a:rPr>
              <a:t>• W·b: cada producto real tiene </a:t>
            </a:r>
            <a:r>
              <a:rPr b="1" sz="1400">
                <a:solidFill>
                  <a:srgbClr val="1F3A5F"/>
                </a:solidFill>
                <a:latin typeface="Calibri"/>
              </a:rPr>
              <a:t>n + 10</a:t>
            </a:r>
            <a:r>
              <a:rPr b="0" sz="1400">
                <a:solidFill>
                  <a:srgbClr val="222831"/>
                </a:solidFill>
                <a:latin typeface="Calibri"/>
              </a:rPr>
              <a:t> bits, con 16 fraccionales</a:t>
            </a:r>
          </a:p>
          <a:p>
            <a:pPr>
              <a:spcAft>
                <a:spcPts val="400"/>
              </a:spcAft>
            </a:pPr>
            <a:r>
              <a:rPr b="0" sz="1400">
                <a:solidFill>
                  <a:srgbClr val="222831"/>
                </a:solidFill>
                <a:latin typeface="Calibri"/>
              </a:rPr>
              <a:t>• re(W·b) = br·wr − bi·wi → </a:t>
            </a:r>
            <a:r>
              <a:rPr b="1" sz="1400">
                <a:solidFill>
                  <a:srgbClr val="1F3A5F"/>
                </a:solidFill>
                <a:latin typeface="Calibri"/>
              </a:rPr>
              <a:t>n + 11</a:t>
            </a:r>
            <a:r>
              <a:rPr b="0" sz="1400">
                <a:solidFill>
                  <a:srgbClr val="222831"/>
                </a:solidFill>
                <a:latin typeface="Calibri"/>
              </a:rPr>
              <a:t> bits</a:t>
            </a:r>
          </a:p>
          <a:p>
            <a:pPr>
              <a:spcAft>
                <a:spcPts val="400"/>
              </a:spcAft>
            </a:pPr>
            <a:r>
              <a:rPr b="0" sz="1400">
                <a:solidFill>
                  <a:srgbClr val="222831"/>
                </a:solidFill>
                <a:latin typeface="Calibri"/>
              </a:rPr>
              <a:t>• a se alinea: a &lt;&lt; 8 (16 fraccionales)</a:t>
            </a:r>
          </a:p>
          <a:p>
            <a:pPr>
              <a:spcAft>
                <a:spcPts val="400"/>
              </a:spcAft>
            </a:pPr>
            <a:r>
              <a:rPr b="0" sz="1400">
                <a:solidFill>
                  <a:srgbClr val="222831"/>
                </a:solidFill>
                <a:latin typeface="Calibri"/>
              </a:rPr>
              <a:t>• a ± W·b → </a:t>
            </a:r>
            <a:r>
              <a:rPr b="1" sz="1400">
                <a:solidFill>
                  <a:srgbClr val="1F3A5F"/>
                </a:solidFill>
                <a:latin typeface="Calibri"/>
              </a:rPr>
              <a:t>n + 12</a:t>
            </a:r>
            <a:r>
              <a:rPr b="0" sz="1400">
                <a:solidFill>
                  <a:srgbClr val="222831"/>
                </a:solidFill>
                <a:latin typeface="Calibri"/>
              </a:rPr>
              <a:t> bits con 16 fraccionales</a:t>
            </a:r>
          </a:p>
          <a:p>
            <a:pPr>
              <a:spcAft>
                <a:spcPts val="400"/>
              </a:spcAft>
            </a:pPr>
            <a:r>
              <a:rPr b="0" sz="1400">
                <a:solidFill>
                  <a:srgbClr val="222831"/>
                </a:solidFill>
                <a:latin typeface="Calibri"/>
              </a:rPr>
              <a:t>• redondeo de 8 LSB + saturación → </a:t>
            </a:r>
            <a:r>
              <a:rPr b="1" sz="1400">
                <a:solidFill>
                  <a:srgbClr val="1F3A5F"/>
                </a:solidFill>
                <a:latin typeface="Calibri"/>
              </a:rPr>
              <a:t>S(n + 1, 8)</a:t>
            </a:r>
          </a:p>
        </p:txBody>
      </p:sp>
      <p:sp>
        <p:nvSpPr>
          <p:cNvPr id="25" name="Rectangle 24"/>
          <p:cNvSpPr/>
          <p:nvPr/>
        </p:nvSpPr>
        <p:spPr>
          <a:xfrm>
            <a:off x="7223760" y="3429000"/>
            <a:ext cx="4480560" cy="260604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23760" y="3429000"/>
            <a:ext cx="64008" cy="260604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88352" y="3502152"/>
            <a:ext cx="4206240" cy="2468880"/>
          </a:xfrm>
          <a:prstGeom prst="rect">
            <a:avLst/>
          </a:prstGeom>
          <a:noFill/>
        </p:spPr>
        <p:txBody>
          <a:bodyPr wrap="square" lIns="45720" rIns="45720">
            <a:spAutoFit/>
          </a:bodyPr>
          <a:lstStyle/>
          <a:p>
            <a:pPr>
              <a:spcAft>
                <a:spcPts val="400"/>
              </a:spcAft>
            </a:pPr>
            <a:r>
              <a:rPr b="1" sz="1400">
                <a:solidFill>
                  <a:srgbClr val="1F3A5F"/>
                </a:solidFill>
                <a:latin typeface="Calibri"/>
              </a:rPr>
              <a:t>Casos particulares</a:t>
            </a:r>
          </a:p>
          <a:p>
            <a:pPr>
              <a:spcAft>
                <a:spcPts val="400"/>
              </a:spcAft>
            </a:pPr>
            <a:r>
              <a:rPr b="0" sz="1400">
                <a:solidFill>
                  <a:srgbClr val="222831"/>
                </a:solidFill>
                <a:latin typeface="Calibri"/>
              </a:rPr>
              <a:t>• </a:t>
            </a:r>
            <a:r>
              <a:rPr b="1" sz="1400">
                <a:solidFill>
                  <a:srgbClr val="1F3A5F"/>
                </a:solidFill>
                <a:latin typeface="Calibri"/>
              </a:rPr>
              <a:t>Etapa 1</a:t>
            </a:r>
            <a:r>
              <a:rPr b="0" sz="1400">
                <a:solidFill>
                  <a:srgbClr val="222831"/>
                </a:solidFill>
                <a:latin typeface="Calibri"/>
              </a:rPr>
              <a:t>: entra S(8,6) → frac 14; se redondean 6 LSB.</a:t>
            </a:r>
          </a:p>
          <a:p>
            <a:pPr>
              <a:spcAft>
                <a:spcPts val="400"/>
              </a:spcAft>
            </a:pPr>
            <a:r>
              <a:rPr b="0" sz="1400">
                <a:solidFill>
                  <a:srgbClr val="222831"/>
                </a:solidFill>
                <a:latin typeface="Calibri"/>
              </a:rPr>
              <a:t>• </a:t>
            </a:r>
            <a:r>
              <a:rPr b="1" sz="1400">
                <a:solidFill>
                  <a:srgbClr val="1F3A5F"/>
                </a:solidFill>
                <a:latin typeface="Calibri"/>
              </a:rPr>
              <a:t>IFFT</a:t>
            </a:r>
            <a:r>
              <a:rPr b="0" sz="1400">
                <a:solidFill>
                  <a:srgbClr val="222831"/>
                </a:solidFill>
                <a:latin typeface="Calibri"/>
              </a:rPr>
              <a:t>: el ÷2 lleva frac de 16 a 17 → se redondean 9 LSB.</a:t>
            </a:r>
          </a:p>
          <a:p>
            <a:pPr>
              <a:spcAft>
                <a:spcPts val="400"/>
              </a:spcAft>
            </a:pPr>
            <a:r>
              <a:rPr b="0" sz="1400">
                <a:solidFill>
                  <a:srgbClr val="222831"/>
                </a:solidFill>
                <a:latin typeface="Calibri"/>
              </a:rPr>
              <a:t>• </a:t>
            </a:r>
            <a:r>
              <a:rPr b="1" sz="1400">
                <a:solidFill>
                  <a:srgbClr val="1F3A5F"/>
                </a:solidFill>
                <a:latin typeface="Calibri"/>
              </a:rPr>
              <a:t>Salida</a:t>
            </a:r>
            <a:r>
              <a:rPr b="0" sz="1400">
                <a:solidFill>
                  <a:srgbClr val="222831"/>
                </a:solidFill>
                <a:latin typeface="Calibri"/>
              </a:rPr>
              <a:t>: mismos 8 frac → no hay redondeo; solo se recortan 4 MSB (las cotas los garantizan vacíos).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Bits fraccionales: barridos de SQNR</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5 · Punto fijo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31</a:t>
            </a:r>
          </a:p>
        </p:txBody>
      </p:sp>
      <p:pic>
        <p:nvPicPr>
          <p:cNvPr id="6" name="Picture 5" descr="sqnr_vs_bits.png"/>
          <p:cNvPicPr>
            <a:picLocks noChangeAspect="1"/>
          </p:cNvPicPr>
          <p:nvPr/>
        </p:nvPicPr>
        <p:blipFill>
          <a:blip r:embed="rId3"/>
          <a:stretch>
            <a:fillRect/>
          </a:stretch>
        </p:blipFill>
        <p:spPr>
          <a:xfrm>
            <a:off x="365760" y="1188720"/>
            <a:ext cx="7589520" cy="2621834"/>
          </a:xfrm>
          <a:prstGeom prst="rect">
            <a:avLst/>
          </a:prstGeom>
        </p:spPr>
      </p:pic>
      <p:sp>
        <p:nvSpPr>
          <p:cNvPr id="7" name="TextBox 6"/>
          <p:cNvSpPr txBox="1"/>
          <p:nvPr/>
        </p:nvSpPr>
        <p:spPr>
          <a:xfrm>
            <a:off x="548640" y="4023360"/>
            <a:ext cx="7315200" cy="2103120"/>
          </a:xfrm>
          <a:prstGeom prst="rect">
            <a:avLst/>
          </a:prstGeom>
          <a:noFill/>
        </p:spPr>
        <p:txBody>
          <a:bodyPr wrap="square" lIns="45720" rIns="45720">
            <a:spAutoFit/>
          </a:bodyPr>
          <a:lstStyle/>
          <a:p>
            <a:pPr marL="256032" indent="-219456">
              <a:spcAft>
                <a:spcPts val="600"/>
              </a:spcAft>
              <a:buFont typeface="Arial"/>
              <a:buChar char="•"/>
            </a:pPr>
            <a:r>
              <a:rPr b="0" sz="1500">
                <a:solidFill>
                  <a:srgbClr val="222831"/>
                </a:solidFill>
                <a:latin typeface="Calibri"/>
              </a:rPr>
              <a:t>Cada bit fraccional interno ≈ </a:t>
            </a:r>
            <a:r>
              <a:rPr b="1" sz="1500">
                <a:solidFill>
                  <a:srgbClr val="1F3A5F"/>
                </a:solidFill>
                <a:latin typeface="Calibri"/>
              </a:rPr>
              <a:t>+6 dB</a:t>
            </a:r>
            <a:r>
              <a:rPr b="0" sz="1500">
                <a:solidFill>
                  <a:srgbClr val="222831"/>
                </a:solidFill>
                <a:latin typeface="Calibri"/>
              </a:rPr>
              <a:t> (ruido de cuantización ∝ 2^(−2·NBF)).</a:t>
            </a:r>
          </a:p>
          <a:p>
            <a:pPr marL="256032" indent="-219456">
              <a:spcAft>
                <a:spcPts val="600"/>
              </a:spcAft>
              <a:buFont typeface="Arial"/>
              <a:buChar char="•"/>
            </a:pPr>
            <a:r>
              <a:rPr b="0" sz="1500">
                <a:solidFill>
                  <a:srgbClr val="222831"/>
                </a:solidFill>
                <a:latin typeface="Calibri"/>
              </a:rPr>
              <a:t>Redondeo vs truncado: </a:t>
            </a:r>
            <a:r>
              <a:rPr b="1" sz="1500">
                <a:solidFill>
                  <a:srgbClr val="1F3A5F"/>
                </a:solidFill>
                <a:latin typeface="Calibri"/>
              </a:rPr>
              <a:t>+5 a 9 dB</a:t>
            </a:r>
            <a:r>
              <a:rPr b="0" sz="1500">
                <a:solidFill>
                  <a:srgbClr val="222831"/>
                </a:solidFill>
                <a:latin typeface="Calibri"/>
              </a:rPr>
              <a:t> con un solo sumador → se elige redondeo.</a:t>
            </a:r>
          </a:p>
          <a:p>
            <a:pPr marL="256032" indent="-219456">
              <a:spcAft>
                <a:spcPts val="600"/>
              </a:spcAft>
              <a:buFont typeface="Arial"/>
              <a:buChar char="•"/>
            </a:pPr>
            <a:r>
              <a:rPr b="0" sz="1500">
                <a:solidFill>
                  <a:srgbClr val="222831"/>
                </a:solidFill>
                <a:latin typeface="Calibri"/>
              </a:rPr>
              <a:t>Elección: </a:t>
            </a:r>
            <a:r>
              <a:rPr b="1" sz="1500">
                <a:solidFill>
                  <a:srgbClr val="1F3A5F"/>
                </a:solidFill>
                <a:latin typeface="Calibri"/>
              </a:rPr>
              <a:t>NBF_D = 8</a:t>
            </a:r>
            <a:r>
              <a:rPr b="0" sz="1500">
                <a:solidFill>
                  <a:srgbClr val="222831"/>
                </a:solidFill>
                <a:latin typeface="Calibri"/>
              </a:rPr>
              <a:t>, </a:t>
            </a:r>
            <a:r>
              <a:rPr b="1" sz="1500">
                <a:solidFill>
                  <a:srgbClr val="1F3A5F"/>
                </a:solidFill>
                <a:latin typeface="Calibri"/>
              </a:rPr>
              <a:t>NB_TW = NB_H = 10</a:t>
            </a:r>
            <a:r>
              <a:rPr b="0" sz="1500">
                <a:solidFill>
                  <a:srgbClr val="222831"/>
                </a:solidFill>
                <a:latin typeface="Calibri"/>
              </a:rPr>
              <a:t>: ninguna fuente de error domina.</a:t>
            </a:r>
          </a:p>
        </p:txBody>
      </p:sp>
      <p:graphicFrame>
        <p:nvGraphicFramePr>
          <p:cNvPr id="8" name="Table 7"/>
          <p:cNvGraphicFramePr>
            <a:graphicFrameLocks noGrp="1"/>
          </p:cNvGraphicFramePr>
          <p:nvPr/>
        </p:nvGraphicFramePr>
        <p:xfrm>
          <a:off x="8229600" y="1325880"/>
          <a:ext cx="3474720" cy="2286000"/>
        </p:xfrm>
        <a:graphic>
          <a:graphicData uri="http://schemas.openxmlformats.org/drawingml/2006/table">
            <a:tbl>
              <a:tblPr firstRow="1" bandRow="1">
                <a:tableStyleId>{5C22544A-7EE6-4342-B048-85BDC9FD1C3A}</a:tableStyleId>
              </a:tblPr>
              <a:tblGrid>
                <a:gridCol w="2377440"/>
                <a:gridCol w="1097280"/>
              </a:tblGrid>
              <a:tr h="457200">
                <a:tc>
                  <a:txBody>
                    <a:bodyPr wrap="square"/>
                    <a:lstStyle/>
                    <a:p>
                      <a:r>
                        <a:rPr b="1" sz="1300">
                          <a:solidFill>
                            <a:srgbClr val="FFFFFF"/>
                          </a:solidFill>
                          <a:latin typeface="Calibri"/>
                        </a:rPr>
                        <a:t>Fuente de error (sola)</a:t>
                      </a:r>
                    </a:p>
                  </a:txBody>
                  <a:tcPr marL="73152" marR="73152" marT="27432" marB="27432" anchor="ctr">
                    <a:solidFill>
                      <a:srgbClr val="1F3A5F"/>
                    </a:solidFill>
                  </a:tcPr>
                </a:tc>
                <a:tc>
                  <a:txBody>
                    <a:bodyPr wrap="square"/>
                    <a:lstStyle/>
                    <a:p>
                      <a:r>
                        <a:rPr b="1" sz="1300">
                          <a:solidFill>
                            <a:srgbClr val="FFFFFF"/>
                          </a:solidFill>
                          <a:latin typeface="Calibri"/>
                        </a:rPr>
                        <a:t>SQNR</a:t>
                      </a:r>
                    </a:p>
                  </a:txBody>
                  <a:tcPr marL="73152" marR="73152" marT="27432" marB="27432" anchor="ctr">
                    <a:solidFill>
                      <a:srgbClr val="1F3A5F"/>
                    </a:solidFill>
                  </a:tcPr>
                </a:tc>
              </a:tr>
              <a:tr h="457200">
                <a:tc>
                  <a:txBody>
                    <a:bodyPr wrap="square"/>
                    <a:lstStyle/>
                    <a:p>
                      <a:r>
                        <a:rPr b="0" sz="1300">
                          <a:solidFill>
                            <a:srgbClr val="222831"/>
                          </a:solidFill>
                          <a:latin typeface="Calibri"/>
                        </a:rPr>
                        <a:t>camino de datos, NBF_D = 8</a:t>
                      </a:r>
                    </a:p>
                  </a:txBody>
                  <a:tcPr marL="73152" marR="73152" marT="27432" marB="27432" anchor="ctr">
                    <a:solidFill>
                      <a:srgbClr val="FFFFFF"/>
                    </a:solidFill>
                  </a:tcPr>
                </a:tc>
                <a:tc>
                  <a:txBody>
                    <a:bodyPr wrap="square"/>
                    <a:lstStyle/>
                    <a:p>
                      <a:r>
                        <a:rPr b="0" sz="1300">
                          <a:solidFill>
                            <a:srgbClr val="222831"/>
                          </a:solidFill>
                          <a:latin typeface="Calibri"/>
                        </a:rPr>
                        <a:t>53.3 dB</a:t>
                      </a:r>
                    </a:p>
                  </a:txBody>
                  <a:tcPr marL="73152" marR="73152" marT="27432" marB="27432" anchor="ctr">
                    <a:solidFill>
                      <a:srgbClr val="FFFFFF"/>
                    </a:solidFill>
                  </a:tcPr>
                </a:tc>
              </a:tr>
              <a:tr h="457200">
                <a:tc>
                  <a:txBody>
                    <a:bodyPr wrap="square"/>
                    <a:lstStyle/>
                    <a:p>
                      <a:r>
                        <a:rPr b="0" sz="1300">
                          <a:solidFill>
                            <a:srgbClr val="222831"/>
                          </a:solidFill>
                          <a:latin typeface="Calibri"/>
                        </a:rPr>
                        <a:t>H[k] con 10 bits</a:t>
                      </a:r>
                    </a:p>
                  </a:txBody>
                  <a:tcPr marL="73152" marR="73152" marT="27432" marB="27432" anchor="ctr">
                    <a:solidFill>
                      <a:srgbClr val="F3F5F8"/>
                    </a:solidFill>
                  </a:tcPr>
                </a:tc>
                <a:tc>
                  <a:txBody>
                    <a:bodyPr wrap="square"/>
                    <a:lstStyle/>
                    <a:p>
                      <a:r>
                        <a:rPr b="0" sz="1300">
                          <a:solidFill>
                            <a:srgbClr val="222831"/>
                          </a:solidFill>
                          <a:latin typeface="Calibri"/>
                        </a:rPr>
                        <a:t>54.0 dB</a:t>
                      </a:r>
                    </a:p>
                  </a:txBody>
                  <a:tcPr marL="73152" marR="73152" marT="27432" marB="27432" anchor="ctr">
                    <a:solidFill>
                      <a:srgbClr val="F3F5F8"/>
                    </a:solidFill>
                  </a:tcPr>
                </a:tc>
              </a:tr>
              <a:tr h="457200">
                <a:tc>
                  <a:txBody>
                    <a:bodyPr wrap="square"/>
                    <a:lstStyle/>
                    <a:p>
                      <a:r>
                        <a:rPr b="0" sz="1300">
                          <a:solidFill>
                            <a:srgbClr val="222831"/>
                          </a:solidFill>
                          <a:latin typeface="Calibri"/>
                        </a:rPr>
                        <a:t>twiddles con 10 bits</a:t>
                      </a:r>
                    </a:p>
                  </a:txBody>
                  <a:tcPr marL="73152" marR="73152" marT="27432" marB="27432" anchor="ctr">
                    <a:solidFill>
                      <a:srgbClr val="FFFFFF"/>
                    </a:solidFill>
                  </a:tcPr>
                </a:tc>
                <a:tc>
                  <a:txBody>
                    <a:bodyPr wrap="square"/>
                    <a:lstStyle/>
                    <a:p>
                      <a:r>
                        <a:rPr b="0" sz="1300">
                          <a:solidFill>
                            <a:srgbClr val="222831"/>
                          </a:solidFill>
                          <a:latin typeface="Calibri"/>
                        </a:rPr>
                        <a:t>60.8 dB</a:t>
                      </a:r>
                    </a:p>
                  </a:txBody>
                  <a:tcPr marL="73152" marR="73152" marT="27432" marB="27432" anchor="ctr">
                    <a:solidFill>
                      <a:srgbClr val="FFFFFF"/>
                    </a:solidFill>
                  </a:tcPr>
                </a:tc>
              </a:tr>
              <a:tr h="457200">
                <a:tc>
                  <a:txBody>
                    <a:bodyPr wrap="square"/>
                    <a:lstStyle/>
                    <a:p>
                      <a:r>
                        <a:rPr b="0" sz="1300">
                          <a:solidFill>
                            <a:srgbClr val="222831"/>
                          </a:solidFill>
                          <a:latin typeface="Calibri"/>
                        </a:rPr>
                        <a:t>todo junto (medido)</a:t>
                      </a:r>
                    </a:p>
                  </a:txBody>
                  <a:tcPr marL="73152" marR="73152" marT="27432" marB="27432" anchor="ctr">
                    <a:solidFill>
                      <a:srgbClr val="E3F4F2"/>
                    </a:solidFill>
                  </a:tcPr>
                </a:tc>
                <a:tc>
                  <a:txBody>
                    <a:bodyPr wrap="square"/>
                    <a:lstStyle/>
                    <a:p>
                      <a:r>
                        <a:rPr b="0" sz="1300">
                          <a:solidFill>
                            <a:srgbClr val="222831"/>
                          </a:solidFill>
                          <a:latin typeface="Calibri"/>
                        </a:rPr>
                        <a:t>48.9 dB</a:t>
                      </a:r>
                    </a:p>
                  </a:txBody>
                  <a:tcPr marL="73152" marR="73152" marT="27432" marB="27432" anchor="ctr">
                    <a:solidFill>
                      <a:srgbClr val="E3F4F2"/>
                    </a:solidFill>
                  </a:tcPr>
                </a:tc>
              </a:tr>
            </a:tbl>
          </a:graphicData>
        </a:graphic>
      </p:graphicFrame>
      <p:sp>
        <p:nvSpPr>
          <p:cNvPr id="9" name="Rectangle 8"/>
          <p:cNvSpPr/>
          <p:nvPr/>
        </p:nvSpPr>
        <p:spPr>
          <a:xfrm>
            <a:off x="8229600" y="3840480"/>
            <a:ext cx="3474720" cy="219456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3840480"/>
            <a:ext cx="64008" cy="219456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94192" y="3913632"/>
            <a:ext cx="3200400" cy="2057400"/>
          </a:xfrm>
          <a:prstGeom prst="rect">
            <a:avLst/>
          </a:prstGeom>
          <a:noFill/>
        </p:spPr>
        <p:txBody>
          <a:bodyPr wrap="square" lIns="45720" rIns="45720">
            <a:spAutoFit/>
          </a:bodyPr>
          <a:lstStyle/>
          <a:p>
            <a:pPr>
              <a:spcAft>
                <a:spcPts val="400"/>
              </a:spcAft>
            </a:pPr>
            <a:r>
              <a:rPr b="1" sz="1300">
                <a:solidFill>
                  <a:srgbClr val="1F3A5F"/>
                </a:solidFill>
                <a:latin typeface="Calibri"/>
              </a:rPr>
              <a:t>Lectura</a:t>
            </a:r>
          </a:p>
          <a:p>
            <a:pPr>
              <a:spcAft>
                <a:spcPts val="400"/>
              </a:spcAft>
            </a:pPr>
            <a:r>
              <a:rPr b="0" sz="1300">
                <a:solidFill>
                  <a:srgbClr val="222831"/>
                </a:solidFill>
                <a:latin typeface="Calibri"/>
              </a:rPr>
              <a:t>Las potencias de ruido se suman: ≈ 50 dB estimado vs. 48.9 dB medido.</a:t>
            </a:r>
          </a:p>
          <a:p>
            <a:pPr>
              <a:spcAft>
                <a:spcPts val="400"/>
              </a:spcAft>
            </a:pPr>
            <a:r>
              <a:rPr b="0" sz="1300">
                <a:solidFill>
                  <a:srgbClr val="222831"/>
                </a:solidFill>
                <a:latin typeface="Calibri"/>
              </a:rPr>
              <a:t>Para mejorar: subir </a:t>
            </a:r>
            <a:r>
              <a:rPr b="1" sz="1300">
                <a:solidFill>
                  <a:srgbClr val="1F3A5F"/>
                </a:solidFill>
                <a:latin typeface="Calibri"/>
              </a:rPr>
              <a:t>NBF_D y NB_H juntos</a:t>
            </a:r>
            <a:r>
              <a:rPr b="0" sz="1300">
                <a:solidFill>
                  <a:srgbClr val="222831"/>
                </a:solidFill>
                <a:latin typeface="Calibri"/>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Tabla final de formatos (= golden_params.svh)</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5 · Punto fijo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32</a:t>
            </a:r>
          </a:p>
        </p:txBody>
      </p:sp>
      <p:graphicFrame>
        <p:nvGraphicFramePr>
          <p:cNvPr id="6" name="Table 5"/>
          <p:cNvGraphicFramePr>
            <a:graphicFrameLocks noGrp="1"/>
          </p:cNvGraphicFramePr>
          <p:nvPr/>
        </p:nvGraphicFramePr>
        <p:xfrm>
          <a:off x="548640" y="1325880"/>
          <a:ext cx="6035040" cy="3328416"/>
        </p:xfrm>
        <a:graphic>
          <a:graphicData uri="http://schemas.openxmlformats.org/drawingml/2006/table">
            <a:tbl>
              <a:tblPr firstRow="1" bandRow="1">
                <a:tableStyleId>{5C22544A-7EE6-4342-B048-85BDC9FD1C3A}</a:tableStyleId>
              </a:tblPr>
              <a:tblGrid>
                <a:gridCol w="1828800"/>
                <a:gridCol w="1828800"/>
                <a:gridCol w="2377440"/>
              </a:tblGrid>
              <a:tr h="475488">
                <a:tc>
                  <a:txBody>
                    <a:bodyPr wrap="square"/>
                    <a:lstStyle/>
                    <a:p>
                      <a:r>
                        <a:rPr b="1" sz="1300">
                          <a:solidFill>
                            <a:srgbClr val="FFFFFF"/>
                          </a:solidFill>
                          <a:latin typeface="Calibri"/>
                        </a:rPr>
                        <a:t>Nodo</a:t>
                      </a:r>
                    </a:p>
                  </a:txBody>
                  <a:tcPr marL="73152" marR="73152" marT="27432" marB="27432" anchor="ctr">
                    <a:solidFill>
                      <a:srgbClr val="1F3A5F"/>
                    </a:solidFill>
                  </a:tcPr>
                </a:tc>
                <a:tc>
                  <a:txBody>
                    <a:bodyPr wrap="square"/>
                    <a:lstStyle/>
                    <a:p>
                      <a:r>
                        <a:rPr b="1" sz="1300">
                          <a:solidFill>
                            <a:srgbClr val="FFFFFF"/>
                          </a:solidFill>
                          <a:latin typeface="Calibri"/>
                        </a:rPr>
                        <a:t>Formato</a:t>
                      </a:r>
                    </a:p>
                  </a:txBody>
                  <a:tcPr marL="73152" marR="73152" marT="27432" marB="27432" anchor="ctr">
                    <a:solidFill>
                      <a:srgbClr val="1F3A5F"/>
                    </a:solidFill>
                  </a:tcPr>
                </a:tc>
                <a:tc>
                  <a:txBody>
                    <a:bodyPr wrap="square"/>
                    <a:lstStyle/>
                    <a:p>
                      <a:r>
                        <a:rPr b="1" sz="1300">
                          <a:solidFill>
                            <a:srgbClr val="FFFFFF"/>
                          </a:solidFill>
                          <a:latin typeface="Calibri"/>
                        </a:rPr>
                        <a:t>Motivo</a:t>
                      </a:r>
                    </a:p>
                  </a:txBody>
                  <a:tcPr marL="73152" marR="73152" marT="27432" marB="27432" anchor="ctr">
                    <a:solidFill>
                      <a:srgbClr val="1F3A5F"/>
                    </a:solidFill>
                  </a:tcPr>
                </a:tc>
              </a:tr>
              <a:tr h="475488">
                <a:tc>
                  <a:txBody>
                    <a:bodyPr wrap="square"/>
                    <a:lstStyle/>
                    <a:p>
                      <a:r>
                        <a:rPr b="1" sz="1300">
                          <a:solidFill>
                            <a:srgbClr val="222831"/>
                          </a:solidFill>
                          <a:latin typeface="Calibri"/>
                        </a:rPr>
                        <a:t>x[n] entrada</a:t>
                      </a:r>
                    </a:p>
                  </a:txBody>
                  <a:tcPr marL="73152" marR="73152" marT="27432" marB="27432" anchor="ctr">
                    <a:solidFill>
                      <a:srgbClr val="FFFFFF"/>
                    </a:solidFill>
                  </a:tcPr>
                </a:tc>
                <a:tc>
                  <a:txBody>
                    <a:bodyPr wrap="square"/>
                    <a:lstStyle/>
                    <a:p>
                      <a:r>
                        <a:rPr b="0" sz="1300">
                          <a:solidFill>
                            <a:srgbClr val="222831"/>
                          </a:solidFill>
                          <a:latin typeface="Calibri"/>
                        </a:rPr>
                        <a:t>S(8,6)</a:t>
                      </a:r>
                    </a:p>
                  </a:txBody>
                  <a:tcPr marL="73152" marR="73152" marT="27432" marB="27432" anchor="ctr">
                    <a:solidFill>
                      <a:srgbClr val="FFFFFF"/>
                    </a:solidFill>
                  </a:tcPr>
                </a:tc>
                <a:tc>
                  <a:txBody>
                    <a:bodyPr wrap="square"/>
                    <a:lstStyle/>
                    <a:p>
                      <a:r>
                        <a:rPr b="0" sz="1300">
                          <a:solidFill>
                            <a:srgbClr val="222831"/>
                          </a:solidFill>
                          <a:latin typeface="Calibri"/>
                        </a:rPr>
                        <a:t>±1 exacto</a:t>
                      </a:r>
                    </a:p>
                  </a:txBody>
                  <a:tcPr marL="73152" marR="73152" marT="27432" marB="27432" anchor="ctr">
                    <a:solidFill>
                      <a:srgbClr val="FFFFFF"/>
                    </a:solidFill>
                  </a:tcPr>
                </a:tc>
              </a:tr>
              <a:tr h="475488">
                <a:tc>
                  <a:txBody>
                    <a:bodyPr wrap="square"/>
                    <a:lstStyle/>
                    <a:p>
                      <a:r>
                        <a:rPr b="1" sz="1300">
                          <a:solidFill>
                            <a:srgbClr val="222831"/>
                          </a:solidFill>
                          <a:latin typeface="Calibri"/>
                        </a:rPr>
                        <a:t>twiddle W, H[k]</a:t>
                      </a:r>
                    </a:p>
                  </a:txBody>
                  <a:tcPr marL="73152" marR="73152" marT="27432" marB="27432" anchor="ctr">
                    <a:solidFill>
                      <a:srgbClr val="F3F5F8"/>
                    </a:solidFill>
                  </a:tcPr>
                </a:tc>
                <a:tc>
                  <a:txBody>
                    <a:bodyPr wrap="square"/>
                    <a:lstStyle/>
                    <a:p>
                      <a:r>
                        <a:rPr b="0" sz="1300">
                          <a:solidFill>
                            <a:srgbClr val="222831"/>
                          </a:solidFill>
                          <a:latin typeface="Calibri"/>
                        </a:rPr>
                        <a:t>S(10,8)</a:t>
                      </a:r>
                    </a:p>
                  </a:txBody>
                  <a:tcPr marL="73152" marR="73152" marT="27432" marB="27432" anchor="ctr">
                    <a:solidFill>
                      <a:srgbClr val="F3F5F8"/>
                    </a:solidFill>
                  </a:tcPr>
                </a:tc>
                <a:tc>
                  <a:txBody>
                    <a:bodyPr wrap="square"/>
                    <a:lstStyle/>
                    <a:p>
                      <a:r>
                        <a:rPr b="0" sz="1300">
                          <a:solidFill>
                            <a:srgbClr val="222831"/>
                          </a:solidFill>
                          <a:latin typeface="Calibri"/>
                        </a:rPr>
                        <a:t>|·| ≤ 1; ruido &lt; camino de datos</a:t>
                      </a:r>
                    </a:p>
                  </a:txBody>
                  <a:tcPr marL="73152" marR="73152" marT="27432" marB="27432" anchor="ctr">
                    <a:solidFill>
                      <a:srgbClr val="F3F5F8"/>
                    </a:solidFill>
                  </a:tcPr>
                </a:tc>
              </a:tr>
              <a:tr h="475488">
                <a:tc>
                  <a:txBody>
                    <a:bodyPr wrap="square"/>
                    <a:lstStyle/>
                    <a:p>
                      <a:r>
                        <a:rPr b="1" sz="1300">
                          <a:solidFill>
                            <a:srgbClr val="222831"/>
                          </a:solidFill>
                          <a:latin typeface="Calibri"/>
                        </a:rPr>
                        <a:t>FFT etapa 1 → 4</a:t>
                      </a:r>
                    </a:p>
                  </a:txBody>
                  <a:tcPr marL="73152" marR="73152" marT="27432" marB="27432" anchor="ctr">
                    <a:solidFill>
                      <a:srgbClr val="FFFFFF"/>
                    </a:solidFill>
                  </a:tcPr>
                </a:tc>
                <a:tc>
                  <a:txBody>
                    <a:bodyPr wrap="square"/>
                    <a:lstStyle/>
                    <a:p>
                      <a:r>
                        <a:rPr b="0" sz="1300">
                          <a:solidFill>
                            <a:srgbClr val="222831"/>
                          </a:solidFill>
                          <a:latin typeface="Calibri"/>
                        </a:rPr>
                        <a:t>S(11,8) → S(14,8)</a:t>
                      </a:r>
                    </a:p>
                  </a:txBody>
                  <a:tcPr marL="73152" marR="73152" marT="27432" marB="27432" anchor="ctr">
                    <a:solidFill>
                      <a:srgbClr val="FFFFFF"/>
                    </a:solidFill>
                  </a:tcPr>
                </a:tc>
                <a:tc>
                  <a:txBody>
                    <a:bodyPr wrap="square"/>
                    <a:lstStyle/>
                    <a:p>
                      <a:r>
                        <a:rPr b="0" sz="1300">
                          <a:solidFill>
                            <a:srgbClr val="222831"/>
                          </a:solidFill>
                          <a:latin typeface="Calibri"/>
                        </a:rPr>
                        <a:t>+1 bit entero / etapa</a:t>
                      </a:r>
                    </a:p>
                  </a:txBody>
                  <a:tcPr marL="73152" marR="73152" marT="27432" marB="27432" anchor="ctr">
                    <a:solidFill>
                      <a:srgbClr val="FFFFFF"/>
                    </a:solidFill>
                  </a:tcPr>
                </a:tc>
              </a:tr>
              <a:tr h="475488">
                <a:tc>
                  <a:txBody>
                    <a:bodyPr wrap="square"/>
                    <a:lstStyle/>
                    <a:p>
                      <a:r>
                        <a:rPr b="1" sz="1300">
                          <a:solidFill>
                            <a:srgbClr val="222831"/>
                          </a:solidFill>
                          <a:latin typeface="Calibri"/>
                        </a:rPr>
                        <a:t>Y[k] = X·H</a:t>
                      </a:r>
                    </a:p>
                  </a:txBody>
                  <a:tcPr marL="73152" marR="73152" marT="27432" marB="27432" anchor="ctr">
                    <a:solidFill>
                      <a:srgbClr val="F3F5F8"/>
                    </a:solidFill>
                  </a:tcPr>
                </a:tc>
                <a:tc>
                  <a:txBody>
                    <a:bodyPr wrap="square"/>
                    <a:lstStyle/>
                    <a:p>
                      <a:r>
                        <a:rPr b="0" sz="1300">
                          <a:solidFill>
                            <a:srgbClr val="222831"/>
                          </a:solidFill>
                          <a:latin typeface="Calibri"/>
                        </a:rPr>
                        <a:t>S(14,8)</a:t>
                      </a:r>
                    </a:p>
                  </a:txBody>
                  <a:tcPr marL="73152" marR="73152" marT="27432" marB="27432" anchor="ctr">
                    <a:solidFill>
                      <a:srgbClr val="F3F5F8"/>
                    </a:solidFill>
                  </a:tcPr>
                </a:tc>
                <a:tc>
                  <a:txBody>
                    <a:bodyPr wrap="square"/>
                    <a:lstStyle/>
                    <a:p>
                      <a:r>
                        <a:rPr b="0" sz="1300">
                          <a:solidFill>
                            <a:srgbClr val="222831"/>
                          </a:solidFill>
                          <a:latin typeface="Calibri"/>
                        </a:rPr>
                        <a:t>|Y| ≤ 22.6</a:t>
                      </a:r>
                    </a:p>
                  </a:txBody>
                  <a:tcPr marL="73152" marR="73152" marT="27432" marB="27432" anchor="ctr">
                    <a:solidFill>
                      <a:srgbClr val="F3F5F8"/>
                    </a:solidFill>
                  </a:tcPr>
                </a:tc>
              </a:tr>
              <a:tr h="475488">
                <a:tc>
                  <a:txBody>
                    <a:bodyPr wrap="square"/>
                    <a:lstStyle/>
                    <a:p>
                      <a:r>
                        <a:rPr b="1" sz="1300">
                          <a:solidFill>
                            <a:srgbClr val="222831"/>
                          </a:solidFill>
                          <a:latin typeface="Calibri"/>
                        </a:rPr>
                        <a:t>IFFT etapas 1 – 4</a:t>
                      </a:r>
                    </a:p>
                  </a:txBody>
                  <a:tcPr marL="73152" marR="73152" marT="27432" marB="27432" anchor="ctr">
                    <a:solidFill>
                      <a:srgbClr val="FFFFFF"/>
                    </a:solidFill>
                  </a:tcPr>
                </a:tc>
                <a:tc>
                  <a:txBody>
                    <a:bodyPr wrap="square"/>
                    <a:lstStyle/>
                    <a:p>
                      <a:r>
                        <a:rPr b="0" sz="1300">
                          <a:solidFill>
                            <a:srgbClr val="222831"/>
                          </a:solidFill>
                          <a:latin typeface="Calibri"/>
                        </a:rPr>
                        <a:t>S(14,8)</a:t>
                      </a:r>
                    </a:p>
                  </a:txBody>
                  <a:tcPr marL="73152" marR="73152" marT="27432" marB="27432" anchor="ctr">
                    <a:solidFill>
                      <a:srgbClr val="FFFFFF"/>
                    </a:solidFill>
                  </a:tcPr>
                </a:tc>
                <a:tc>
                  <a:txBody>
                    <a:bodyPr wrap="square"/>
                    <a:lstStyle/>
                    <a:p>
                      <a:r>
                        <a:rPr b="0" sz="1300">
                          <a:solidFill>
                            <a:srgbClr val="222831"/>
                          </a:solidFill>
                          <a:latin typeface="Calibri"/>
                        </a:rPr>
                        <a:t>÷2: no crece</a:t>
                      </a:r>
                    </a:p>
                  </a:txBody>
                  <a:tcPr marL="73152" marR="73152" marT="27432" marB="27432" anchor="ctr">
                    <a:solidFill>
                      <a:srgbClr val="FFFFFF"/>
                    </a:solidFill>
                  </a:tcPr>
                </a:tc>
              </a:tr>
              <a:tr h="475488">
                <a:tc>
                  <a:txBody>
                    <a:bodyPr wrap="square"/>
                    <a:lstStyle/>
                    <a:p>
                      <a:r>
                        <a:rPr b="1" sz="1300">
                          <a:solidFill>
                            <a:srgbClr val="222831"/>
                          </a:solidFill>
                          <a:latin typeface="Calibri"/>
                        </a:rPr>
                        <a:t>y[n] salida</a:t>
                      </a:r>
                    </a:p>
                  </a:txBody>
                  <a:tcPr marL="73152" marR="73152" marT="27432" marB="27432" anchor="ctr">
                    <a:solidFill>
                      <a:srgbClr val="F3F5F8"/>
                    </a:solidFill>
                  </a:tcPr>
                </a:tc>
                <a:tc>
                  <a:txBody>
                    <a:bodyPr wrap="square"/>
                    <a:lstStyle/>
                    <a:p>
                      <a:r>
                        <a:rPr b="0" sz="1300">
                          <a:solidFill>
                            <a:srgbClr val="222831"/>
                          </a:solidFill>
                          <a:latin typeface="Calibri"/>
                        </a:rPr>
                        <a:t>S(10,8)</a:t>
                      </a:r>
                    </a:p>
                  </a:txBody>
                  <a:tcPr marL="73152" marR="73152" marT="27432" marB="27432" anchor="ctr">
                    <a:solidFill>
                      <a:srgbClr val="F3F5F8"/>
                    </a:solidFill>
                  </a:tcPr>
                </a:tc>
                <a:tc>
                  <a:txBody>
                    <a:bodyPr wrap="square"/>
                    <a:lstStyle/>
                    <a:p>
                      <a:r>
                        <a:rPr b="0" sz="1300">
                          <a:solidFill>
                            <a:srgbClr val="222831"/>
                          </a:solidFill>
                          <a:latin typeface="Calibri"/>
                        </a:rPr>
                        <a:t>|y| ≤ 1.83</a:t>
                      </a:r>
                    </a:p>
                  </a:txBody>
                  <a:tcPr marL="73152" marR="73152" marT="27432" marB="27432" anchor="ctr">
                    <a:solidFill>
                      <a:srgbClr val="F3F5F8"/>
                    </a:solidFill>
                  </a:tcPr>
                </a:tc>
              </a:tr>
            </a:tbl>
          </a:graphicData>
        </a:graphic>
      </p:graphicFrame>
      <p:sp>
        <p:nvSpPr>
          <p:cNvPr id="7" name="TextBox 6"/>
          <p:cNvSpPr txBox="1"/>
          <p:nvPr/>
        </p:nvSpPr>
        <p:spPr>
          <a:xfrm>
            <a:off x="548640" y="4846320"/>
            <a:ext cx="6035040" cy="1188720"/>
          </a:xfrm>
          <a:prstGeom prst="rect">
            <a:avLst/>
          </a:prstGeom>
          <a:noFill/>
        </p:spPr>
        <p:txBody>
          <a:bodyPr wrap="square" lIns="45720" rIns="45720">
            <a:spAutoFit/>
          </a:bodyPr>
          <a:lstStyle/>
          <a:p>
            <a:pPr marL="256032" indent="-219456">
              <a:spcAft>
                <a:spcPts val="600"/>
              </a:spcAft>
              <a:buFont typeface="Arial"/>
              <a:buChar char="•"/>
            </a:pPr>
            <a:r>
              <a:rPr b="0" sz="1400">
                <a:solidFill>
                  <a:srgbClr val="222831"/>
                </a:solidFill>
                <a:latin typeface="Calibri"/>
              </a:rPr>
              <a:t>Redondeo </a:t>
            </a:r>
            <a:r>
              <a:rPr b="1" sz="1400">
                <a:solidFill>
                  <a:srgbClr val="1F3A5F"/>
                </a:solidFill>
                <a:latin typeface="Calibri"/>
              </a:rPr>
              <a:t>half-up</a:t>
            </a:r>
            <a:r>
              <a:rPr b="0" sz="1400">
                <a:solidFill>
                  <a:srgbClr val="222831"/>
                </a:solidFill>
                <a:latin typeface="Calibri"/>
              </a:rPr>
              <a:t>, saturación; </a:t>
            </a:r>
            <a:r>
              <a:rPr b="1" sz="1400">
                <a:solidFill>
                  <a:srgbClr val="1F3A5F"/>
                </a:solidFill>
                <a:latin typeface="Calibri"/>
              </a:rPr>
              <a:t>NBF = 8</a:t>
            </a:r>
            <a:r>
              <a:rPr b="0" sz="1400">
                <a:solidFill>
                  <a:srgbClr val="222831"/>
                </a:solidFill>
                <a:latin typeface="Calibri"/>
              </a:rPr>
              <a:t> en todo el camino interno.</a:t>
            </a:r>
          </a:p>
          <a:p>
            <a:pPr marL="256032" indent="-219456">
              <a:spcAft>
                <a:spcPts val="600"/>
              </a:spcAft>
              <a:buFont typeface="Arial"/>
              <a:buChar char="•"/>
            </a:pPr>
            <a:r>
              <a:rPr b="0" sz="1400">
                <a:solidFill>
                  <a:srgbClr val="222831"/>
                </a:solidFill>
                <a:latin typeface="Calibri"/>
              </a:rPr>
              <a:t>Tres perillas: </a:t>
            </a:r>
            <a:r>
              <a:rPr b="0" sz="1400">
                <a:solidFill>
                  <a:srgbClr val="0E6E63"/>
                </a:solidFill>
                <a:latin typeface="Consolas"/>
              </a:rPr>
              <a:t>make_cfg(h, nbf_d=8, nb_tw=10, nb_h=10)</a:t>
            </a:r>
            <a:r>
              <a:rPr b="0" sz="1400">
                <a:solidFill>
                  <a:srgbClr val="222831"/>
                </a:solidFill>
                <a:latin typeface="Calibri"/>
              </a:rPr>
              <a:t>.</a:t>
            </a:r>
          </a:p>
        </p:txBody>
      </p:sp>
      <p:sp>
        <p:nvSpPr>
          <p:cNvPr id="8" name="Rectangle 7"/>
          <p:cNvSpPr/>
          <p:nvPr/>
        </p:nvSpPr>
        <p:spPr>
          <a:xfrm>
            <a:off x="6858000" y="1325880"/>
            <a:ext cx="4846320" cy="4663440"/>
          </a:xfrm>
          <a:prstGeom prst="rect">
            <a:avLst/>
          </a:prstGeom>
          <a:solidFill>
            <a:srgbClr val="F3F5F8"/>
          </a:solidFill>
          <a:ln>
            <a:solidFill>
              <a:srgbClr val="D5DB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a:lstStyle/>
          <a:p>
            <a:pPr algn="l">
              <a:spcAft>
                <a:spcPts val="0"/>
              </a:spcAft>
            </a:pPr>
            <a:r>
              <a:rPr sz="1200">
                <a:solidFill>
                  <a:srgbClr val="222831"/>
                </a:solidFill>
                <a:latin typeface="Consolas"/>
              </a:rPr>
              <a:t>// Generado por python_math/run_math.py</a:t>
            </a:r>
          </a:p>
          <a:p>
            <a:pPr algn="l">
              <a:spcAft>
                <a:spcPts val="0"/>
              </a:spcAft>
            </a:pPr>
            <a:r>
              <a:rPr sz="1200">
                <a:solidFill>
                  <a:srgbClr val="222831"/>
                </a:solidFill>
                <a:latin typeface="Consolas"/>
              </a:rPr>
              <a:t>localparam int N_FFT  = 16;</a:t>
            </a:r>
          </a:p>
          <a:p>
            <a:pPr algn="l">
              <a:spcAft>
                <a:spcPts val="0"/>
              </a:spcAft>
            </a:pPr>
            <a:r>
              <a:rPr sz="1200">
                <a:solidFill>
                  <a:srgbClr val="222831"/>
                </a:solidFill>
                <a:latin typeface="Consolas"/>
              </a:rPr>
              <a:t>localparam int HOP    = 8;</a:t>
            </a:r>
          </a:p>
          <a:p>
            <a:pPr algn="l">
              <a:spcAft>
                <a:spcPts val="0"/>
              </a:spcAft>
            </a:pPr>
            <a:r>
              <a:rPr sz="1200">
                <a:solidFill>
                  <a:srgbClr val="222831"/>
                </a:solidFill>
                <a:latin typeface="Consolas"/>
              </a:rPr>
              <a:t>localparam int NB_X = 8,  NBF_X = 6;</a:t>
            </a:r>
          </a:p>
          <a:p>
            <a:pPr algn="l">
              <a:spcAft>
                <a:spcPts val="0"/>
              </a:spcAft>
            </a:pPr>
            <a:r>
              <a:rPr sz="1200">
                <a:solidFill>
                  <a:srgbClr val="222831"/>
                </a:solidFill>
                <a:latin typeface="Consolas"/>
              </a:rPr>
              <a:t>localparam int NB_TW = 10, NBF_TW = 8;</a:t>
            </a:r>
          </a:p>
          <a:p>
            <a:pPr algn="l">
              <a:spcAft>
                <a:spcPts val="0"/>
              </a:spcAft>
            </a:pPr>
            <a:r>
              <a:rPr sz="1200">
                <a:solidFill>
                  <a:srgbClr val="222831"/>
                </a:solidFill>
                <a:latin typeface="Consolas"/>
              </a:rPr>
              <a:t>localparam int NB_H = 10, NBF_H = 8;</a:t>
            </a:r>
          </a:p>
          <a:p>
            <a:pPr algn="l">
              <a:spcAft>
                <a:spcPts val="0"/>
              </a:spcAft>
            </a:pPr>
            <a:r>
              <a:rPr sz="1200">
                <a:solidFill>
                  <a:srgbClr val="222831"/>
                </a:solidFill>
                <a:latin typeface="Consolas"/>
              </a:rPr>
              <a:t>localparam int NB_Y_SPEC = 14, NBF_Y_SPEC = 8;</a:t>
            </a:r>
          </a:p>
          <a:p>
            <a:pPr algn="l">
              <a:spcAft>
                <a:spcPts val="0"/>
              </a:spcAft>
            </a:pPr>
            <a:r>
              <a:rPr sz="1200">
                <a:solidFill>
                  <a:srgbClr val="222831"/>
                </a:solidFill>
                <a:latin typeface="Consolas"/>
              </a:rPr>
              <a:t>localparam int NB_Y = 10, NBF_Y = 8;</a:t>
            </a:r>
          </a:p>
          <a:p>
            <a:pPr algn="l">
              <a:spcAft>
                <a:spcPts val="0"/>
              </a:spcAft>
            </a:pPr>
            <a:r>
              <a:rPr sz="1200">
                <a:solidFill>
                  <a:srgbClr val="222831"/>
                </a:solidFill>
                <a:latin typeface="Consolas"/>
              </a:rPr>
              <a:t>localparam int NB_FFT1 = 11, NBF_FFT1 = 8;</a:t>
            </a:r>
          </a:p>
          <a:p>
            <a:pPr algn="l">
              <a:spcAft>
                <a:spcPts val="0"/>
              </a:spcAft>
            </a:pPr>
            <a:r>
              <a:rPr sz="1200">
                <a:solidFill>
                  <a:srgbClr val="222831"/>
                </a:solidFill>
                <a:latin typeface="Consolas"/>
              </a:rPr>
              <a:t>localparam int NB_FFT2 = 12, NBF_FFT2 = 8;</a:t>
            </a:r>
          </a:p>
          <a:p>
            <a:pPr algn="l">
              <a:spcAft>
                <a:spcPts val="0"/>
              </a:spcAft>
            </a:pPr>
            <a:r>
              <a:rPr sz="1200">
                <a:solidFill>
                  <a:srgbClr val="222831"/>
                </a:solidFill>
                <a:latin typeface="Consolas"/>
              </a:rPr>
              <a:t>localparam int NB_FFT3 = 13, NBF_FFT3 = 8;</a:t>
            </a:r>
          </a:p>
          <a:p>
            <a:pPr algn="l">
              <a:spcAft>
                <a:spcPts val="0"/>
              </a:spcAft>
            </a:pPr>
            <a:r>
              <a:rPr sz="1200">
                <a:solidFill>
                  <a:srgbClr val="222831"/>
                </a:solidFill>
                <a:latin typeface="Consolas"/>
              </a:rPr>
              <a:t>localparam int NB_FFT4 = 14, NBF_FFT4 = 8;</a:t>
            </a:r>
          </a:p>
          <a:p>
            <a:pPr algn="l">
              <a:spcAft>
                <a:spcPts val="0"/>
              </a:spcAft>
            </a:pPr>
            <a:r>
              <a:rPr sz="1200">
                <a:solidFill>
                  <a:srgbClr val="222831"/>
                </a:solidFill>
                <a:latin typeface="Consolas"/>
              </a:rPr>
              <a:t>localparam int NB_IFFT1 = 14, NBF_IFFT1 = 8;</a:t>
            </a:r>
          </a:p>
          <a:p>
            <a:pPr algn="l">
              <a:spcAft>
                <a:spcPts val="0"/>
              </a:spcAft>
            </a:pPr>
            <a:r>
              <a:rPr sz="1200">
                <a:solidFill>
                  <a:srgbClr val="222831"/>
                </a:solidFill>
                <a:latin typeface="Consolas"/>
              </a:rPr>
              <a:t>...</a:t>
            </a:r>
          </a:p>
          <a:p>
            <a:pPr algn="l">
              <a:spcAft>
                <a:spcPts val="0"/>
              </a:spcAft>
            </a:pPr>
            <a:r>
              <a:rPr sz="1200">
                <a:solidFill>
                  <a:srgbClr val="222831"/>
                </a:solidFill>
                <a:latin typeface="Consolas"/>
              </a:rPr>
              <a:t>// redondeo = round, overflow = sat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Código: make_cfg() — de las cotas a los formatos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5 · Punto fijo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33</a:t>
            </a:r>
          </a:p>
        </p:txBody>
      </p:sp>
      <p:sp>
        <p:nvSpPr>
          <p:cNvPr id="6" name="Rectangle 5"/>
          <p:cNvSpPr/>
          <p:nvPr/>
        </p:nvSpPr>
        <p:spPr>
          <a:xfrm>
            <a:off x="548640" y="1280160"/>
            <a:ext cx="7863840" cy="4114800"/>
          </a:xfrm>
          <a:prstGeom prst="rect">
            <a:avLst/>
          </a:prstGeom>
          <a:solidFill>
            <a:srgbClr val="F3F5F8"/>
          </a:solidFill>
          <a:ln>
            <a:solidFill>
              <a:srgbClr val="D5DB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a:lstStyle/>
          <a:p>
            <a:pPr algn="l">
              <a:spcAft>
                <a:spcPts val="0"/>
              </a:spcAft>
            </a:pPr>
            <a:r>
              <a:rPr sz="1200">
                <a:solidFill>
                  <a:srgbClr val="222831"/>
                </a:solidFill>
                <a:latin typeface="Consolas"/>
              </a:rPr>
              <a:t>def make_cfg(h, nbf_d=8, nb_tw=10, nb_h=10, nb_x=8, nbf_x=6, ...):</a:t>
            </a:r>
          </a:p>
          <a:p>
            <a:pPr algn="l">
              <a:spcAft>
                <a:spcPts val="0"/>
              </a:spcAft>
            </a:pPr>
            <a:r>
              <a:rPr sz="1200">
                <a:solidFill>
                  <a:srgbClr val="222831"/>
                </a:solidFill>
                <a:latin typeface="Consolas"/>
              </a:rPr>
              <a:t>    def fmt_for(bound, nbf):</a:t>
            </a:r>
          </a:p>
          <a:p>
            <a:pPr algn="l">
              <a:spcAft>
                <a:spcPts val="0"/>
              </a:spcAft>
            </a:pPr>
            <a:r>
              <a:rPr sz="1200">
                <a:solidFill>
                  <a:srgbClr val="222831"/>
                </a:solidFill>
                <a:latin typeface="Consolas"/>
              </a:rPr>
              <a:t>        nbi = max(0, math.floor(math.log2(bound)) + 1)  </a:t>
            </a:r>
            <a:r>
              <a:rPr sz="1200">
                <a:solidFill>
                  <a:srgbClr val="4E7D5B"/>
                </a:solidFill>
                <a:latin typeface="Consolas"/>
              </a:rPr>
              <a:t># 2^nbi &gt; cota</a:t>
            </a:r>
          </a:p>
          <a:p>
            <a:pPr algn="l">
              <a:spcAft>
                <a:spcPts val="0"/>
              </a:spcAft>
            </a:pPr>
            <a:r>
              <a:rPr sz="1200">
                <a:solidFill>
                  <a:srgbClr val="222831"/>
                </a:solidFill>
                <a:latin typeface="Consolas"/>
              </a:rPr>
              <a:t>        return Fmt(1 + nbi + nbf, nbf)                  </a:t>
            </a:r>
            <a:r>
              <a:rPr sz="1200">
                <a:solidFill>
                  <a:srgbClr val="4E7D5B"/>
                </a:solidFill>
                <a:latin typeface="Consolas"/>
              </a:rPr>
              <a:t># signo + ent. + frac.</a:t>
            </a:r>
          </a:p>
          <a:p>
            <a:pPr algn="l">
              <a:spcAft>
                <a:spcPts val="0"/>
              </a:spcAft>
            </a:pPr>
          </a:p>
          <a:p>
            <a:pPr algn="l">
              <a:spcAft>
                <a:spcPts val="0"/>
              </a:spcAft>
            </a:pPr>
            <a:r>
              <a:rPr sz="1200">
                <a:solidFill>
                  <a:srgbClr val="222831"/>
                </a:solidFill>
                <a:latin typeface="Consolas"/>
              </a:rPr>
              <a:t>    sqrt2 = math.sqrt(2.0)</a:t>
            </a:r>
          </a:p>
          <a:p>
            <a:pPr algn="l">
              <a:spcAft>
                <a:spcPts val="0"/>
              </a:spcAft>
            </a:pPr>
            <a:r>
              <a:rPr sz="1200">
                <a:solidFill>
                  <a:srgbClr val="222831"/>
                </a:solidFill>
                <a:latin typeface="Consolas"/>
              </a:rPr>
              <a:t>    fft_st = [fmt_for((2 ** s) * sqrt2, nbf_d)          </a:t>
            </a:r>
            <a:r>
              <a:rPr sz="1200">
                <a:solidFill>
                  <a:srgbClr val="4E7D5B"/>
                </a:solidFill>
                <a:latin typeface="Consolas"/>
              </a:rPr>
              <a:t># |X_s| &lt;= 2^s*sqrt2</a:t>
            </a:r>
          </a:p>
          <a:p>
            <a:pPr algn="l">
              <a:spcAft>
                <a:spcPts val="0"/>
              </a:spcAft>
            </a:pPr>
            <a:r>
              <a:rPr sz="1200">
                <a:solidFill>
                  <a:srgbClr val="222831"/>
                </a:solidFill>
                <a:latin typeface="Consolas"/>
              </a:rPr>
              <a:t>              for s in range(1, LOG2N + 1)]</a:t>
            </a:r>
          </a:p>
          <a:p>
            <a:pPr algn="l">
              <a:spcAft>
                <a:spcPts val="0"/>
              </a:spcAft>
            </a:pPr>
            <a:r>
              <a:rPr sz="1200">
                <a:solidFill>
                  <a:srgbClr val="222831"/>
                </a:solidFill>
                <a:latin typeface="Consolas"/>
              </a:rPr>
              <a:t>    y_spec = fmt_for(N_FFT * sqrt2, nbf_d)              </a:t>
            </a:r>
            <a:r>
              <a:rPr sz="1200">
                <a:solidFill>
                  <a:srgbClr val="4E7D5B"/>
                </a:solidFill>
                <a:latin typeface="Consolas"/>
              </a:rPr>
              <a:t># |Y| &lt;= 16*sqrt2</a:t>
            </a:r>
          </a:p>
          <a:p>
            <a:pPr algn="l">
              <a:spcAft>
                <a:spcPts val="0"/>
              </a:spcAft>
            </a:pPr>
            <a:r>
              <a:rPr sz="1200">
                <a:solidFill>
                  <a:srgbClr val="222831"/>
                </a:solidFill>
                <a:latin typeface="Consolas"/>
              </a:rPr>
              <a:t>    ifft_st = [y_spec] * LOG2N                          </a:t>
            </a:r>
            <a:r>
              <a:rPr sz="1200">
                <a:solidFill>
                  <a:srgbClr val="4E7D5B"/>
                </a:solidFill>
                <a:latin typeface="Consolas"/>
              </a:rPr>
              <a:t># /2 por etapa</a:t>
            </a:r>
          </a:p>
          <a:p>
            <a:pPr algn="l">
              <a:spcAft>
                <a:spcPts val="0"/>
              </a:spcAft>
            </a:pPr>
            <a:r>
              <a:rPr sz="1200">
                <a:solidFill>
                  <a:srgbClr val="222831"/>
                </a:solidFill>
                <a:latin typeface="Consolas"/>
              </a:rPr>
              <a:t>    y = fmt_for(sqrt2 * float(np.sum(np.abs(h))), nbf_y)</a:t>
            </a:r>
          </a:p>
          <a:p>
            <a:pPr algn="l">
              <a:spcAft>
                <a:spcPts val="0"/>
              </a:spcAft>
            </a:pPr>
            <a:r>
              <a:rPr sz="1200">
                <a:solidFill>
                  <a:srgbClr val="222831"/>
                </a:solidFill>
                <a:latin typeface="Consolas"/>
              </a:rPr>
              <a:t>    return FixedCfg(x=Fmt(nb_x, nbf_x),</a:t>
            </a:r>
          </a:p>
          <a:p>
            <a:pPr algn="l">
              <a:spcAft>
                <a:spcPts val="0"/>
              </a:spcAft>
            </a:pPr>
            <a:r>
              <a:rPr sz="1200">
                <a:solidFill>
                  <a:srgbClr val="222831"/>
                </a:solidFill>
                <a:latin typeface="Consolas"/>
              </a:rPr>
              <a:t>                    tw=Fmt(nb_tw, nb_tw - 2),           </a:t>
            </a:r>
            <a:r>
              <a:rPr sz="1200">
                <a:solidFill>
                  <a:srgbClr val="4E7D5B"/>
                </a:solidFill>
                <a:latin typeface="Consolas"/>
              </a:rPr>
              <a:t># 1 bit entero</a:t>
            </a:r>
          </a:p>
          <a:p>
            <a:pPr algn="l">
              <a:spcAft>
                <a:spcPts val="0"/>
              </a:spcAft>
            </a:pPr>
            <a:r>
              <a:rPr sz="1200">
                <a:solidFill>
                  <a:srgbClr val="222831"/>
                </a:solidFill>
                <a:latin typeface="Consolas"/>
              </a:rPr>
              <a:t>                    h=Fmt(nb_h, nb_h - 2), ...)</a:t>
            </a:r>
          </a:p>
        </p:txBody>
      </p:sp>
      <p:sp>
        <p:nvSpPr>
          <p:cNvPr id="7" name="TextBox 6"/>
          <p:cNvSpPr txBox="1"/>
          <p:nvPr/>
        </p:nvSpPr>
        <p:spPr>
          <a:xfrm>
            <a:off x="8686800" y="1325880"/>
            <a:ext cx="3017520" cy="4572000"/>
          </a:xfrm>
          <a:prstGeom prst="rect">
            <a:avLst/>
          </a:prstGeom>
          <a:noFill/>
        </p:spPr>
        <p:txBody>
          <a:bodyPr wrap="square" lIns="45720" rIns="45720">
            <a:spAutoFit/>
          </a:bodyPr>
          <a:lstStyle/>
          <a:p>
            <a:pPr marL="256032" indent="-219456">
              <a:spcAft>
                <a:spcPts val="600"/>
              </a:spcAft>
              <a:buFont typeface="Arial"/>
              <a:buChar char="•"/>
            </a:pPr>
            <a:r>
              <a:rPr b="0" sz="1500">
                <a:solidFill>
                  <a:srgbClr val="222831"/>
                </a:solidFill>
                <a:latin typeface="Calibri"/>
              </a:rPr>
              <a:t>Cada línea es </a:t>
            </a:r>
            <a:r>
              <a:rPr b="1" sz="1500">
                <a:solidFill>
                  <a:srgbClr val="1F3A5F"/>
                </a:solidFill>
                <a:latin typeface="Calibri"/>
              </a:rPr>
              <a:t>una fila</a:t>
            </a:r>
            <a:r>
              <a:rPr b="0" sz="1500">
                <a:solidFill>
                  <a:srgbClr val="222831"/>
                </a:solidFill>
                <a:latin typeface="Calibri"/>
              </a:rPr>
              <a:t> de la tabla de cotas.</a:t>
            </a:r>
          </a:p>
          <a:p>
            <a:pPr marL="256032" indent="-219456">
              <a:spcAft>
                <a:spcPts val="600"/>
              </a:spcAft>
              <a:buFont typeface="Arial"/>
              <a:buChar char="•"/>
            </a:pPr>
            <a:r>
              <a:rPr b="0" sz="1500">
                <a:solidFill>
                  <a:srgbClr val="222831"/>
                </a:solidFill>
                <a:latin typeface="Calibri"/>
              </a:rPr>
              <a:t>Cambiar una perilla regenera </a:t>
            </a:r>
            <a:r>
              <a:rPr b="1" sz="1500">
                <a:solidFill>
                  <a:srgbClr val="1F3A5F"/>
                </a:solidFill>
                <a:latin typeface="Calibri"/>
              </a:rPr>
              <a:t>todos</a:t>
            </a:r>
            <a:r>
              <a:rPr b="0" sz="1500">
                <a:solidFill>
                  <a:srgbClr val="222831"/>
                </a:solidFill>
                <a:latin typeface="Calibri"/>
              </a:rPr>
              <a:t> los formatos de forma consistente.</a:t>
            </a:r>
          </a:p>
          <a:p>
            <a:pPr marL="256032" indent="-219456">
              <a:spcAft>
                <a:spcPts val="600"/>
              </a:spcAft>
              <a:buFont typeface="Arial"/>
              <a:buChar char="•"/>
            </a:pPr>
            <a:r>
              <a:rPr b="0" sz="1500">
                <a:solidFill>
                  <a:srgbClr val="222831"/>
                </a:solidFill>
                <a:latin typeface="Calibri"/>
              </a:rPr>
              <a:t>Así se generaron los barridos de SQNR.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Código: process_blocks() — todos los bloques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5 · Punto fijo</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34</a:t>
            </a:r>
          </a:p>
        </p:txBody>
      </p:sp>
      <p:sp>
        <p:nvSpPr>
          <p:cNvPr id="6" name="Rectangle 5"/>
          <p:cNvSpPr/>
          <p:nvPr/>
        </p:nvSpPr>
        <p:spPr>
          <a:xfrm>
            <a:off x="548640" y="1280160"/>
            <a:ext cx="8229600" cy="4754880"/>
          </a:xfrm>
          <a:prstGeom prst="rect">
            <a:avLst/>
          </a:prstGeom>
          <a:solidFill>
            <a:srgbClr val="F3F5F8"/>
          </a:solidFill>
          <a:ln>
            <a:solidFill>
              <a:srgbClr val="D5DB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a:lstStyle/>
          <a:p>
            <a:pPr algn="l">
              <a:spcAft>
                <a:spcPts val="0"/>
              </a:spcAft>
            </a:pPr>
            <a:r>
              <a:rPr sz="1200">
                <a:solidFill>
                  <a:srgbClr val="222831"/>
                </a:solidFill>
                <a:latin typeface="Consolas"/>
              </a:rPr>
              <a:t>def process_blocks(self, buf_re, buf_im, log=None):   </a:t>
            </a:r>
            <a:r>
              <a:rPr sz="1200">
                <a:solidFill>
                  <a:srgbClr val="4E7D5B"/>
                </a:solidFill>
                <a:latin typeface="Consolas"/>
              </a:rPr>
              <a:t># buf: Fxp (bloques, 16)</a:t>
            </a:r>
          </a:p>
          <a:p>
            <a:pPr algn="l">
              <a:spcAft>
                <a:spcPts val="0"/>
              </a:spcAft>
            </a:pPr>
            <a:r>
              <a:rPr sz="1200">
                <a:solidFill>
                  <a:srgbClr val="222831"/>
                </a:solidFill>
                <a:latin typeface="Consolas"/>
              </a:rPr>
              <a:t>    </a:t>
            </a:r>
            <a:r>
              <a:rPr sz="1200">
                <a:solidFill>
                  <a:srgbClr val="4E7D5B"/>
                </a:solidFill>
                <a:latin typeface="Consolas"/>
              </a:rPr>
              <a:t># 1) FFT16 sin escalar (crece 1 bit por etapa)</a:t>
            </a:r>
          </a:p>
          <a:p>
            <a:pPr algn="l">
              <a:spcAft>
                <a:spcPts val="0"/>
              </a:spcAft>
            </a:pPr>
            <a:r>
              <a:rPr sz="1200">
                <a:solidFill>
                  <a:srgbClr val="222831"/>
                </a:solidFill>
                <a:latin typeface="Consolas"/>
              </a:rPr>
              <a:t>    X_re, X_im, fft_st = fft_fxp(buf_re, buf_im, c.fft_st,</a:t>
            </a:r>
          </a:p>
          <a:p>
            <a:pPr algn="l">
              <a:spcAft>
                <a:spcPts val="0"/>
              </a:spcAft>
            </a:pPr>
            <a:r>
              <a:rPr sz="1200">
                <a:solidFill>
                  <a:srgbClr val="222831"/>
                </a:solidFill>
                <a:latin typeface="Consolas"/>
              </a:rPr>
              <a:t>        self.tw_re, self.tw_im, inverse=False, scale=False, ...)</a:t>
            </a:r>
          </a:p>
          <a:p>
            <a:pPr algn="l">
              <a:spcAft>
                <a:spcPts val="0"/>
              </a:spcAft>
            </a:pPr>
            <a:r>
              <a:rPr sz="1200">
                <a:solidFill>
                  <a:srgbClr val="222831"/>
                </a:solidFill>
                <a:latin typeface="Consolas"/>
              </a:rPr>
              <a:t>    </a:t>
            </a:r>
            <a:r>
              <a:rPr sz="1200">
                <a:solidFill>
                  <a:srgbClr val="4E7D5B"/>
                </a:solidFill>
                <a:latin typeface="Consolas"/>
              </a:rPr>
              <a:t># 2) Producto espectral Y[k] = X[k] H[k] (16 mult. complejos)</a:t>
            </a:r>
          </a:p>
          <a:p>
            <a:pPr algn="l">
              <a:spcAft>
                <a:spcPts val="0"/>
              </a:spcAft>
            </a:pPr>
            <a:r>
              <a:rPr sz="1200">
                <a:solidFill>
                  <a:srgbClr val="222831"/>
                </a:solidFill>
                <a:latin typeface="Consolas"/>
              </a:rPr>
              <a:t>    p_re = X_re * self.H_re - X_im * self.H_im       </a:t>
            </a:r>
            <a:r>
              <a:rPr sz="1200">
                <a:solidFill>
                  <a:srgbClr val="4E7D5B"/>
                </a:solidFill>
                <a:latin typeface="Consolas"/>
              </a:rPr>
              <a:t># ancho completo</a:t>
            </a:r>
          </a:p>
          <a:p>
            <a:pPr algn="l">
              <a:spcAft>
                <a:spcPts val="0"/>
              </a:spcAft>
            </a:pPr>
            <a:r>
              <a:rPr sz="1200">
                <a:solidFill>
                  <a:srgbClr val="222831"/>
                </a:solidFill>
                <a:latin typeface="Consolas"/>
              </a:rPr>
              <a:t>    p_im = X_re * self.H_im + X_im * self.H_re</a:t>
            </a:r>
          </a:p>
          <a:p>
            <a:pPr algn="l">
              <a:spcAft>
                <a:spcPts val="0"/>
              </a:spcAft>
            </a:pPr>
            <a:r>
              <a:rPr sz="1200">
                <a:solidFill>
                  <a:srgbClr val="222831"/>
                </a:solidFill>
                <a:latin typeface="Consolas"/>
              </a:rPr>
              <a:t>    Y_re = requant(p_re, c.y_spec, ...)</a:t>
            </a:r>
          </a:p>
          <a:p>
            <a:pPr algn="l">
              <a:spcAft>
                <a:spcPts val="0"/>
              </a:spcAft>
            </a:pPr>
            <a:r>
              <a:rPr sz="1200">
                <a:solidFill>
                  <a:srgbClr val="222831"/>
                </a:solidFill>
                <a:latin typeface="Consolas"/>
              </a:rPr>
              <a:t>    Y_im = requant(p_im, c.y_spec, ...)</a:t>
            </a:r>
          </a:p>
          <a:p>
            <a:pPr algn="l">
              <a:spcAft>
                <a:spcPts val="0"/>
              </a:spcAft>
            </a:pPr>
            <a:r>
              <a:rPr sz="1200">
                <a:solidFill>
                  <a:srgbClr val="222831"/>
                </a:solidFill>
                <a:latin typeface="Consolas"/>
              </a:rPr>
              <a:t>    </a:t>
            </a:r>
            <a:r>
              <a:rPr sz="1200">
                <a:solidFill>
                  <a:srgbClr val="4E7D5B"/>
                </a:solidFill>
                <a:latin typeface="Consolas"/>
              </a:rPr>
              <a:t># 3) IFFT16 con /2 por etapa (= 1/16)</a:t>
            </a:r>
          </a:p>
          <a:p>
            <a:pPr algn="l">
              <a:spcAft>
                <a:spcPts val="0"/>
              </a:spcAft>
            </a:pPr>
            <a:r>
              <a:rPr sz="1200">
                <a:solidFill>
                  <a:srgbClr val="222831"/>
                </a:solidFill>
                <a:latin typeface="Consolas"/>
              </a:rPr>
              <a:t>    yc_re, yc_im, ifft_st = fft_fxp(Y_re, Y_im, c.ifft_st,</a:t>
            </a:r>
          </a:p>
          <a:p>
            <a:pPr algn="l">
              <a:spcAft>
                <a:spcPts val="0"/>
              </a:spcAft>
            </a:pPr>
            <a:r>
              <a:rPr sz="1200">
                <a:solidFill>
                  <a:srgbClr val="222831"/>
                </a:solidFill>
                <a:latin typeface="Consolas"/>
              </a:rPr>
              <a:t>        self.tw_re, self.tw_im, inverse=True, scale=True, ...)</a:t>
            </a:r>
          </a:p>
          <a:p>
            <a:pPr algn="l">
              <a:spcAft>
                <a:spcPts val="0"/>
              </a:spcAft>
            </a:pPr>
            <a:r>
              <a:rPr sz="1200">
                <a:solidFill>
                  <a:srgbClr val="222831"/>
                </a:solidFill>
                <a:latin typeface="Consolas"/>
              </a:rPr>
              <a:t>    </a:t>
            </a:r>
            <a:r>
              <a:rPr sz="1200">
                <a:solidFill>
                  <a:srgbClr val="4E7D5B"/>
                </a:solidFill>
                <a:latin typeface="Consolas"/>
              </a:rPr>
              <a:t># 4) Descarte de la primera mitad + cuantizacion de salida</a:t>
            </a:r>
          </a:p>
          <a:p>
            <a:pPr algn="l">
              <a:spcAft>
                <a:spcPts val="0"/>
              </a:spcAft>
            </a:pPr>
            <a:r>
              <a:rPr sz="1200">
                <a:solidFill>
                  <a:srgbClr val="222831"/>
                </a:solidFill>
                <a:latin typeface="Consolas"/>
              </a:rPr>
              <a:t>    y_re = requant(yc_re[..., C.HOP:], c.y, ...)</a:t>
            </a:r>
          </a:p>
          <a:p>
            <a:pPr algn="l">
              <a:spcAft>
                <a:spcPts val="0"/>
              </a:spcAft>
            </a:pPr>
            <a:r>
              <a:rPr sz="1200">
                <a:solidFill>
                  <a:srgbClr val="222831"/>
                </a:solidFill>
                <a:latin typeface="Consolas"/>
              </a:rPr>
              <a:t>    y_im = requant(yc_im[..., C.HOP:], c.y, ...)</a:t>
            </a:r>
          </a:p>
        </p:txBody>
      </p:sp>
      <p:sp>
        <p:nvSpPr>
          <p:cNvPr id="7" name="TextBox 6"/>
          <p:cNvSpPr txBox="1"/>
          <p:nvPr/>
        </p:nvSpPr>
        <p:spPr>
          <a:xfrm>
            <a:off x="9052560" y="1325880"/>
            <a:ext cx="2743200" cy="4754880"/>
          </a:xfrm>
          <a:prstGeom prst="rect">
            <a:avLst/>
          </a:prstGeom>
          <a:noFill/>
        </p:spPr>
        <p:txBody>
          <a:bodyPr wrap="square" lIns="45720" rIns="45720">
            <a:spAutoFit/>
          </a:bodyPr>
          <a:lstStyle/>
          <a:p>
            <a:pPr marL="256032" indent="-219456">
              <a:spcAft>
                <a:spcPts val="600"/>
              </a:spcAft>
              <a:buFont typeface="Arial"/>
              <a:buChar char="•"/>
            </a:pPr>
            <a:r>
              <a:rPr b="0" sz="1400">
                <a:solidFill>
                  <a:srgbClr val="222831"/>
                </a:solidFill>
                <a:latin typeface="Calibri"/>
              </a:rPr>
              <a:t>Los 4 pasos del </a:t>
            </a:r>
            <a:r>
              <a:rPr b="1" sz="1400">
                <a:solidFill>
                  <a:srgbClr val="1F3A5F"/>
                </a:solidFill>
                <a:latin typeface="Calibri"/>
              </a:rPr>
              <a:t>diagrama en bloques</a:t>
            </a:r>
            <a:r>
              <a:rPr b="0" sz="1400">
                <a:solidFill>
                  <a:srgbClr val="222831"/>
                </a:solidFill>
                <a:latin typeface="Calibri"/>
              </a:rPr>
              <a:t>, en orden.</a:t>
            </a:r>
          </a:p>
          <a:p>
            <a:pPr marL="256032" indent="-219456">
              <a:spcAft>
                <a:spcPts val="600"/>
              </a:spcAft>
              <a:buFont typeface="Arial"/>
              <a:buChar char="•"/>
            </a:pPr>
            <a:r>
              <a:rPr b="0" sz="1400">
                <a:solidFill>
                  <a:srgbClr val="222831"/>
                </a:solidFill>
                <a:latin typeface="Calibri"/>
              </a:rPr>
              <a:t>Devuelve </a:t>
            </a:r>
            <a:r>
              <a:rPr b="1" sz="1400">
                <a:solidFill>
                  <a:srgbClr val="1F3A5F"/>
                </a:solidFill>
                <a:latin typeface="Calibri"/>
              </a:rPr>
              <a:t>todos los nodos</a:t>
            </a:r>
            <a:r>
              <a:rPr b="0" sz="1400">
                <a:solidFill>
                  <a:srgbClr val="222831"/>
                </a:solidFill>
                <a:latin typeface="Calibri"/>
              </a:rPr>
              <a:t> → </a:t>
            </a:r>
            <a:r>
              <a:rPr b="0" sz="1400">
                <a:solidFill>
                  <a:srgbClr val="0E6E63"/>
                </a:solidFill>
                <a:latin typeface="Consolas"/>
              </a:rPr>
              <a:t>fft_st*.hex</a:t>
            </a:r>
            <a:r>
              <a:rPr b="0" sz="1400">
                <a:solidFill>
                  <a:srgbClr val="222831"/>
                </a:solidFill>
                <a:latin typeface="Calibri"/>
              </a:rPr>
              <a:t>, </a:t>
            </a:r>
            <a:r>
              <a:rPr b="0" sz="1400">
                <a:solidFill>
                  <a:srgbClr val="0E6E63"/>
                </a:solidFill>
                <a:latin typeface="Consolas"/>
              </a:rPr>
              <a:t>spec_mult.hex</a:t>
            </a:r>
            <a:r>
              <a:rPr b="0" sz="1400">
                <a:solidFill>
                  <a:srgbClr val="222831"/>
                </a:solidFill>
                <a:latin typeface="Calibri"/>
              </a:rPr>
              <a:t>, </a:t>
            </a:r>
            <a:r>
              <a:rPr b="0" sz="1400">
                <a:solidFill>
                  <a:srgbClr val="0E6E63"/>
                </a:solidFill>
                <a:latin typeface="Consolas"/>
              </a:rPr>
              <a:t>ifft_st*.hex</a:t>
            </a:r>
            <a:r>
              <a:rPr b="0" sz="1400">
                <a:solidFill>
                  <a:srgbClr val="222831"/>
                </a:solidFill>
                <a:latin typeface="Calibri"/>
              </a:rPr>
              <a:t>.</a:t>
            </a:r>
          </a:p>
          <a:p>
            <a:pPr marL="256032" indent="-219456">
              <a:spcAft>
                <a:spcPts val="600"/>
              </a:spcAft>
              <a:buFont typeface="Arial"/>
              <a:buChar char="•"/>
            </a:pPr>
            <a:r>
              <a:rPr b="0" sz="1400">
                <a:solidFill>
                  <a:srgbClr val="0E6E63"/>
                </a:solidFill>
                <a:latin typeface="Consolas"/>
              </a:rPr>
              <a:t>run()</a:t>
            </a:r>
            <a:r>
              <a:rPr b="0" sz="1400">
                <a:solidFill>
                  <a:srgbClr val="222831"/>
                </a:solidFill>
                <a:latin typeface="Calibri"/>
              </a:rPr>
              <a:t>: cuantiza x a S(8,6), arma la matriz de bloques (8 viejas + 8 nuevas) y la procesa </a:t>
            </a:r>
            <a:r>
              <a:rPr b="1" sz="1400">
                <a:solidFill>
                  <a:srgbClr val="1F3A5F"/>
                </a:solidFill>
                <a:latin typeface="Calibri"/>
              </a:rPr>
              <a:t>de una sola vez</a:t>
            </a:r>
            <a:r>
              <a:rPr b="0" sz="1400">
                <a:solidFill>
                  <a:srgbClr val="222831"/>
                </a:solidFill>
                <a:latin typeface="Calibri"/>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822960" y="2103120"/>
            <a:ext cx="10515600" cy="914400"/>
          </a:xfrm>
          <a:prstGeom prst="rect">
            <a:avLst/>
          </a:prstGeom>
          <a:noFill/>
        </p:spPr>
        <p:txBody>
          <a:bodyPr wrap="square" lIns="45720" rIns="45720">
            <a:spAutoFit/>
          </a:bodyPr>
          <a:lstStyle/>
          <a:p>
            <a:pPr>
              <a:spcAft>
                <a:spcPts val="600"/>
              </a:spcAft>
            </a:pPr>
            <a:r>
              <a:rPr b="0" sz="5400">
                <a:solidFill>
                  <a:srgbClr val="1A9E8F"/>
                </a:solidFill>
                <a:latin typeface="Calibri"/>
              </a:rPr>
              <a:t>6</a:t>
            </a:r>
          </a:p>
        </p:txBody>
      </p:sp>
      <p:sp>
        <p:nvSpPr>
          <p:cNvPr id="3" name="TextBox 2"/>
          <p:cNvSpPr txBox="1"/>
          <p:nvPr/>
        </p:nvSpPr>
        <p:spPr>
          <a:xfrm>
            <a:off x="822960" y="3017520"/>
            <a:ext cx="10515600" cy="914400"/>
          </a:xfrm>
          <a:prstGeom prst="rect">
            <a:avLst/>
          </a:prstGeom>
          <a:noFill/>
        </p:spPr>
        <p:txBody>
          <a:bodyPr wrap="square" lIns="45720" rIns="45720">
            <a:spAutoFit/>
          </a:bodyPr>
          <a:lstStyle/>
          <a:p>
            <a:pPr>
              <a:spcAft>
                <a:spcPts val="600"/>
              </a:spcAft>
            </a:pPr>
            <a:r>
              <a:rPr b="0" sz="4000">
                <a:solidFill>
                  <a:srgbClr val="FFFFFF"/>
                </a:solidFill>
                <a:latin typeface="Calibri"/>
              </a:rPr>
              <a:t>Verificación y resultados</a:t>
            </a:r>
          </a:p>
        </p:txBody>
      </p:sp>
      <p:sp>
        <p:nvSpPr>
          <p:cNvPr id="4" name="TextBox 3"/>
          <p:cNvSpPr txBox="1"/>
          <p:nvPr/>
        </p:nvSpPr>
        <p:spPr>
          <a:xfrm>
            <a:off x="822960" y="3931920"/>
            <a:ext cx="10515600" cy="914400"/>
          </a:xfrm>
          <a:prstGeom prst="rect">
            <a:avLst/>
          </a:prstGeom>
          <a:noFill/>
        </p:spPr>
        <p:txBody>
          <a:bodyPr wrap="square" lIns="45720" rIns="45720">
            <a:spAutoFit/>
          </a:bodyPr>
          <a:lstStyle/>
          <a:p>
            <a:pPr>
              <a:spcAft>
                <a:spcPts val="600"/>
              </a:spcAft>
            </a:pPr>
            <a:r>
              <a:rPr b="0" sz="2000">
                <a:solidFill>
                  <a:srgbClr val="C8D3E0"/>
                </a:solidFill>
                <a:latin typeface="Calibri"/>
              </a:rPr>
              <a:t>Cómo sabemos que el golden es correcto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Datasets y tests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6 · Verificación y resultados</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36</a:t>
            </a:r>
          </a:p>
        </p:txBody>
      </p:sp>
      <p:graphicFrame>
        <p:nvGraphicFramePr>
          <p:cNvPr id="6" name="Table 5"/>
          <p:cNvGraphicFramePr>
            <a:graphicFrameLocks noGrp="1"/>
          </p:cNvGraphicFramePr>
          <p:nvPr/>
        </p:nvGraphicFramePr>
        <p:xfrm>
          <a:off x="548640" y="1325880"/>
          <a:ext cx="5760720" cy="3017520"/>
        </p:xfrm>
        <a:graphic>
          <a:graphicData uri="http://schemas.openxmlformats.org/drawingml/2006/table">
            <a:tbl>
              <a:tblPr firstRow="1" bandRow="1">
                <a:tableStyleId>{5C22544A-7EE6-4342-B048-85BDC9FD1C3A}</a:tableStyleId>
              </a:tblPr>
              <a:tblGrid>
                <a:gridCol w="2103120"/>
                <a:gridCol w="3657600"/>
              </a:tblGrid>
              <a:tr h="502920">
                <a:tc>
                  <a:txBody>
                    <a:bodyPr wrap="square"/>
                    <a:lstStyle/>
                    <a:p>
                      <a:r>
                        <a:rPr b="1" sz="1400">
                          <a:solidFill>
                            <a:srgbClr val="FFFFFF"/>
                          </a:solidFill>
                          <a:latin typeface="Calibri"/>
                        </a:rPr>
                        <a:t>Dataset</a:t>
                      </a:r>
                    </a:p>
                  </a:txBody>
                  <a:tcPr marL="73152" marR="73152" marT="27432" marB="27432" anchor="ctr">
                    <a:solidFill>
                      <a:srgbClr val="1F3A5F"/>
                    </a:solidFill>
                  </a:tcPr>
                </a:tc>
                <a:tc>
                  <a:txBody>
                    <a:bodyPr wrap="square"/>
                    <a:lstStyle/>
                    <a:p>
                      <a:r>
                        <a:rPr b="1" sz="1400">
                          <a:solidFill>
                            <a:srgbClr val="FFFFFF"/>
                          </a:solidFill>
                          <a:latin typeface="Calibri"/>
                        </a:rPr>
                        <a:t>Qué prueba</a:t>
                      </a:r>
                    </a:p>
                  </a:txBody>
                  <a:tcPr marL="73152" marR="73152" marT="27432" marB="27432" anchor="ctr">
                    <a:solidFill>
                      <a:srgbClr val="1F3A5F"/>
                    </a:solidFill>
                  </a:tcPr>
                </a:tc>
              </a:tr>
              <a:tr h="502920">
                <a:tc>
                  <a:txBody>
                    <a:bodyPr wrap="square"/>
                    <a:lstStyle/>
                    <a:p>
                      <a:r>
                        <a:rPr b="1" sz="1400">
                          <a:solidFill>
                            <a:srgbClr val="222831"/>
                          </a:solidFill>
                          <a:latin typeface="Calibri"/>
                        </a:rPr>
                        <a:t>random_a / random_b</a:t>
                      </a:r>
                    </a:p>
                  </a:txBody>
                  <a:tcPr marL="73152" marR="73152" marT="27432" marB="27432" anchor="ctr">
                    <a:solidFill>
                      <a:srgbClr val="FFFFFF"/>
                    </a:solidFill>
                  </a:tcPr>
                </a:tc>
                <a:tc>
                  <a:txBody>
                    <a:bodyPr wrap="square"/>
                    <a:lstStyle/>
                    <a:p>
                      <a:r>
                        <a:rPr b="0" sz="1400">
                          <a:solidFill>
                            <a:srgbClr val="222831"/>
                          </a:solidFill>
                          <a:latin typeface="Calibri"/>
                        </a:rPr>
                        <a:t>caso típico, estadística</a:t>
                      </a:r>
                    </a:p>
                  </a:txBody>
                  <a:tcPr marL="73152" marR="73152" marT="27432" marB="27432" anchor="ctr">
                    <a:solidFill>
                      <a:srgbClr val="FFFFFF"/>
                    </a:solidFill>
                  </a:tcPr>
                </a:tc>
              </a:tr>
              <a:tr h="502920">
                <a:tc>
                  <a:txBody>
                    <a:bodyPr wrap="square"/>
                    <a:lstStyle/>
                    <a:p>
                      <a:r>
                        <a:rPr b="1" sz="1400">
                          <a:solidFill>
                            <a:srgbClr val="222831"/>
                          </a:solidFill>
                          <a:latin typeface="Calibri"/>
                        </a:rPr>
                        <a:t>impulse</a:t>
                      </a:r>
                    </a:p>
                  </a:txBody>
                  <a:tcPr marL="73152" marR="73152" marT="27432" marB="27432" anchor="ctr">
                    <a:solidFill>
                      <a:srgbClr val="F3F5F8"/>
                    </a:solidFill>
                  </a:tcPr>
                </a:tc>
                <a:tc>
                  <a:txBody>
                    <a:bodyPr wrap="square"/>
                    <a:lstStyle/>
                    <a:p>
                      <a:r>
                        <a:rPr b="0" sz="1400">
                          <a:solidFill>
                            <a:srgbClr val="222831"/>
                          </a:solidFill>
                          <a:latin typeface="Calibri"/>
                        </a:rPr>
                        <a:t>salida = (1 + j)·h: verificación directa</a:t>
                      </a:r>
                    </a:p>
                  </a:txBody>
                  <a:tcPr marL="73152" marR="73152" marT="27432" marB="27432" anchor="ctr">
                    <a:solidFill>
                      <a:srgbClr val="F3F5F8"/>
                    </a:solidFill>
                  </a:tcPr>
                </a:tc>
              </a:tr>
              <a:tr h="502920">
                <a:tc>
                  <a:txBody>
                    <a:bodyPr wrap="square"/>
                    <a:lstStyle/>
                    <a:p>
                      <a:r>
                        <a:rPr b="1" sz="1400">
                          <a:solidFill>
                            <a:srgbClr val="222831"/>
                          </a:solidFill>
                          <a:latin typeface="Calibri"/>
                        </a:rPr>
                        <a:t>constant</a:t>
                      </a:r>
                    </a:p>
                  </a:txBody>
                  <a:tcPr marL="73152" marR="73152" marT="27432" marB="27432" anchor="ctr">
                    <a:solidFill>
                      <a:srgbClr val="FFFFFF"/>
                    </a:solidFill>
                  </a:tcPr>
                </a:tc>
                <a:tc>
                  <a:txBody>
                    <a:bodyPr wrap="square"/>
                    <a:lstStyle/>
                    <a:p>
                      <a:r>
                        <a:rPr b="0" sz="1400">
                          <a:solidFill>
                            <a:srgbClr val="222831"/>
                          </a:solidFill>
                          <a:latin typeface="Calibri"/>
                        </a:rPr>
                        <a:t>toda la energía en DC (k = 0)</a:t>
                      </a:r>
                    </a:p>
                  </a:txBody>
                  <a:tcPr marL="73152" marR="73152" marT="27432" marB="27432" anchor="ctr">
                    <a:solidFill>
                      <a:srgbClr val="FFFFFF"/>
                    </a:solidFill>
                  </a:tcPr>
                </a:tc>
              </a:tr>
              <a:tr h="502920">
                <a:tc>
                  <a:txBody>
                    <a:bodyPr wrap="square"/>
                    <a:lstStyle/>
                    <a:p>
                      <a:r>
                        <a:rPr b="1" sz="1400">
                          <a:solidFill>
                            <a:srgbClr val="222831"/>
                          </a:solidFill>
                          <a:latin typeface="Calibri"/>
                        </a:rPr>
                        <a:t>alternating</a:t>
                      </a:r>
                    </a:p>
                  </a:txBody>
                  <a:tcPr marL="73152" marR="73152" marT="27432" marB="27432" anchor="ctr">
                    <a:solidFill>
                      <a:srgbClr val="F3F5F8"/>
                    </a:solidFill>
                  </a:tcPr>
                </a:tc>
                <a:tc>
                  <a:txBody>
                    <a:bodyPr wrap="square"/>
                    <a:lstStyle/>
                    <a:p>
                      <a:r>
                        <a:rPr b="0" sz="1400">
                          <a:solidFill>
                            <a:srgbClr val="222831"/>
                          </a:solidFill>
                          <a:latin typeface="Calibri"/>
                        </a:rPr>
                        <a:t>energía en la frecuencia más alta</a:t>
                      </a:r>
                    </a:p>
                  </a:txBody>
                  <a:tcPr marL="73152" marR="73152" marT="27432" marB="27432" anchor="ctr">
                    <a:solidFill>
                      <a:srgbClr val="F3F5F8"/>
                    </a:solidFill>
                  </a:tcPr>
                </a:tc>
              </a:tr>
              <a:tr h="502920">
                <a:tc>
                  <a:txBody>
                    <a:bodyPr wrap="square"/>
                    <a:lstStyle/>
                    <a:p>
                      <a:r>
                        <a:rPr b="1" sz="1400">
                          <a:solidFill>
                            <a:srgbClr val="222831"/>
                          </a:solidFill>
                          <a:latin typeface="Calibri"/>
                        </a:rPr>
                        <a:t>worst_case</a:t>
                      </a:r>
                    </a:p>
                  </a:txBody>
                  <a:tcPr marL="73152" marR="73152" marT="27432" marB="27432" anchor="ctr">
                    <a:solidFill>
                      <a:srgbClr val="FFFFFF"/>
                    </a:solidFill>
                  </a:tcPr>
                </a:tc>
                <a:tc>
                  <a:txBody>
                    <a:bodyPr wrap="square"/>
                    <a:lstStyle/>
                    <a:p>
                      <a:r>
                        <a:rPr b="0" sz="1400">
                          <a:solidFill>
                            <a:srgbClr val="222831"/>
                          </a:solidFill>
                          <a:latin typeface="Calibri"/>
                        </a:rPr>
                        <a:t>amplitud máxima: comprueba las cotas</a:t>
                      </a:r>
                    </a:p>
                  </a:txBody>
                  <a:tcPr marL="73152" marR="73152" marT="27432" marB="27432" anchor="ctr">
                    <a:solidFill>
                      <a:srgbClr val="FFFFFF"/>
                    </a:solidFill>
                  </a:tcPr>
                </a:tc>
              </a:tr>
            </a:tbl>
          </a:graphicData>
        </a:graphic>
      </p:graphicFrame>
      <p:sp>
        <p:nvSpPr>
          <p:cNvPr id="7" name="Rectangle 6"/>
          <p:cNvSpPr/>
          <p:nvPr/>
        </p:nvSpPr>
        <p:spPr>
          <a:xfrm>
            <a:off x="6583680" y="1325880"/>
            <a:ext cx="5120640" cy="466344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0" y="1325880"/>
            <a:ext cx="64008" cy="466344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48272" y="1399032"/>
            <a:ext cx="4846320" cy="4526279"/>
          </a:xfrm>
          <a:prstGeom prst="rect">
            <a:avLst/>
          </a:prstGeom>
          <a:noFill/>
        </p:spPr>
        <p:txBody>
          <a:bodyPr wrap="square" lIns="45720" rIns="45720">
            <a:spAutoFit/>
          </a:bodyPr>
          <a:lstStyle/>
          <a:p>
            <a:pPr>
              <a:spcAft>
                <a:spcPts val="400"/>
              </a:spcAft>
            </a:pPr>
            <a:r>
              <a:rPr b="1" sz="1400">
                <a:solidFill>
                  <a:srgbClr val="1F3A5F"/>
                </a:solidFill>
                <a:latin typeface="Calibri"/>
              </a:rPr>
              <a:t>test_math.py: 6 tests</a:t>
            </a:r>
          </a:p>
          <a:p>
            <a:pPr>
              <a:spcAft>
                <a:spcPts val="400"/>
              </a:spcAft>
            </a:pPr>
            <a:r>
              <a:rPr b="0" sz="1400">
                <a:solidFill>
                  <a:srgbClr val="222831"/>
                </a:solidFill>
                <a:latin typeface="Calibri"/>
              </a:rPr>
              <a:t>1. Semántica de fxpmath: </a:t>
            </a:r>
            <a:r>
              <a:rPr b="0" sz="1400">
                <a:solidFill>
                  <a:srgbClr val="0E6E63"/>
                </a:solidFill>
                <a:latin typeface="Consolas"/>
              </a:rPr>
              <a:t>trunc</a:t>
            </a:r>
            <a:r>
              <a:rPr b="0" sz="1400">
                <a:solidFill>
                  <a:srgbClr val="222831"/>
                </a:solidFill>
                <a:latin typeface="Calibri"/>
              </a:rPr>
              <a:t>, </a:t>
            </a:r>
            <a:r>
              <a:rPr b="0" sz="1400">
                <a:solidFill>
                  <a:srgbClr val="0E6E63"/>
                </a:solidFill>
                <a:latin typeface="Consolas"/>
              </a:rPr>
              <a:t>around</a:t>
            </a:r>
            <a:r>
              <a:rPr b="0" sz="1400">
                <a:solidFill>
                  <a:srgbClr val="222831"/>
                </a:solidFill>
                <a:latin typeface="Calibri"/>
              </a:rPr>
              <a:t> y </a:t>
            </a:r>
            <a:r>
              <a:rPr b="0" sz="1400">
                <a:solidFill>
                  <a:srgbClr val="0E6E63"/>
                </a:solidFill>
                <a:latin typeface="Consolas"/>
              </a:rPr>
              <a:t>&gt;&gt;</a:t>
            </a:r>
            <a:r>
              <a:rPr b="0" sz="1400">
                <a:solidFill>
                  <a:srgbClr val="222831"/>
                </a:solidFill>
                <a:latin typeface="Calibri"/>
              </a:rPr>
              <a:t> (por qué no se usan directo)</a:t>
            </a:r>
          </a:p>
          <a:p>
            <a:pPr>
              <a:spcAft>
                <a:spcPts val="400"/>
              </a:spcAft>
            </a:pPr>
            <a:r>
              <a:rPr b="0" sz="1400">
                <a:solidFill>
                  <a:srgbClr val="222831"/>
                </a:solidFill>
                <a:latin typeface="Calibri"/>
              </a:rPr>
              <a:t>2. </a:t>
            </a:r>
            <a:r>
              <a:rPr b="0" sz="1400">
                <a:solidFill>
                  <a:srgbClr val="0E6E63"/>
                </a:solidFill>
                <a:latin typeface="Consolas"/>
              </a:rPr>
              <a:t>requant</a:t>
            </a:r>
            <a:r>
              <a:rPr b="0" sz="1400">
                <a:solidFill>
                  <a:srgbClr val="222831"/>
                </a:solidFill>
                <a:latin typeface="Calibri"/>
              </a:rPr>
              <a:t>: half-up, truncado, saturación y wrap con casos hechos a mano</a:t>
            </a:r>
          </a:p>
          <a:p>
            <a:pPr>
              <a:spcAft>
                <a:spcPts val="400"/>
              </a:spcAft>
            </a:pPr>
            <a:r>
              <a:rPr b="0" sz="1400">
                <a:solidFill>
                  <a:srgbClr val="222831"/>
                </a:solidFill>
                <a:latin typeface="Calibri"/>
              </a:rPr>
              <a:t>3. OLS float = </a:t>
            </a:r>
            <a:r>
              <a:rPr b="0" sz="1400">
                <a:solidFill>
                  <a:srgbClr val="0E6E63"/>
                </a:solidFill>
                <a:latin typeface="Consolas"/>
              </a:rPr>
              <a:t>np.convolve</a:t>
            </a:r>
            <a:r>
              <a:rPr b="0" sz="1400">
                <a:solidFill>
                  <a:srgbClr val="222831"/>
                </a:solidFill>
                <a:latin typeface="Calibri"/>
              </a:rPr>
              <a:t> (error &lt; 1e-12)</a:t>
            </a:r>
          </a:p>
          <a:p>
            <a:pPr>
              <a:spcAft>
                <a:spcPts val="400"/>
              </a:spcAft>
            </a:pPr>
            <a:r>
              <a:rPr b="0" sz="1400">
                <a:solidFill>
                  <a:srgbClr val="222831"/>
                </a:solidFill>
                <a:latin typeface="Calibri"/>
              </a:rPr>
              <a:t>4. FFT fija vs </a:t>
            </a:r>
            <a:r>
              <a:rPr b="0" sz="1400">
                <a:solidFill>
                  <a:srgbClr val="0E6E63"/>
                </a:solidFill>
                <a:latin typeface="Consolas"/>
              </a:rPr>
              <a:t>np.fft</a:t>
            </a:r>
            <a:r>
              <a:rPr b="0" sz="1400">
                <a:solidFill>
                  <a:srgbClr val="222831"/>
                </a:solidFill>
                <a:latin typeface="Calibri"/>
              </a:rPr>
              <a:t>: &gt; 50 dB; ida y vuelta &gt; 45 dB</a:t>
            </a:r>
          </a:p>
          <a:p>
            <a:pPr>
              <a:spcAft>
                <a:spcPts val="400"/>
              </a:spcAft>
            </a:pPr>
            <a:r>
              <a:rPr b="0" sz="1400">
                <a:solidFill>
                  <a:srgbClr val="222831"/>
                </a:solidFill>
                <a:latin typeface="Calibri"/>
              </a:rPr>
              <a:t>5. Filtro fijo, todos los datasets: </a:t>
            </a:r>
            <a:r>
              <a:rPr b="1" sz="1400">
                <a:solidFill>
                  <a:srgbClr val="1F3A5F"/>
                </a:solidFill>
                <a:latin typeface="Calibri"/>
              </a:rPr>
              <a:t>0 overflows</a:t>
            </a:r>
            <a:r>
              <a:rPr b="0" sz="1400">
                <a:solidFill>
                  <a:srgbClr val="222831"/>
                </a:solidFill>
                <a:latin typeface="Calibri"/>
              </a:rPr>
              <a:t>, SQNR &gt; 35 dB</a:t>
            </a:r>
          </a:p>
          <a:p>
            <a:pPr>
              <a:spcAft>
                <a:spcPts val="400"/>
              </a:spcAft>
            </a:pPr>
            <a:r>
              <a:rPr b="0" sz="1400">
                <a:solidFill>
                  <a:srgbClr val="222831"/>
                </a:solidFill>
                <a:latin typeface="Calibri"/>
              </a:rPr>
              <a:t>6. </a:t>
            </a:r>
            <a:r>
              <a:rPr b="1" sz="1400">
                <a:solidFill>
                  <a:srgbClr val="1F3A5F"/>
                </a:solidFill>
                <a:latin typeface="Calibri"/>
              </a:rPr>
              <a:t>Bit a bit</a:t>
            </a:r>
            <a:r>
              <a:rPr b="0" sz="1400">
                <a:solidFill>
                  <a:srgbClr val="222831"/>
                </a:solidFill>
                <a:latin typeface="Calibri"/>
              </a:rPr>
              <a:t> contra </a:t>
            </a:r>
            <a:r>
              <a:rPr b="0" sz="1400">
                <a:solidFill>
                  <a:srgbClr val="0E6E63"/>
                </a:solidFill>
                <a:latin typeface="Consolas"/>
              </a:rPr>
              <a:t>vectors/</a:t>
            </a:r>
            <a:r>
              <a:rPr b="0" sz="1400">
                <a:solidFill>
                  <a:srgbClr val="222831"/>
                </a:solidFill>
                <a:latin typeface="Calibri"/>
              </a:rPr>
              <a:t>: ROMs, entrada, las 4 etapas de FFT, el producto, las 4 de IFFT y la salida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Resultados: float vs. punto fijo</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6 · Verificación y resultados</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37</a:t>
            </a:r>
          </a:p>
        </p:txBody>
      </p:sp>
      <p:graphicFrame>
        <p:nvGraphicFramePr>
          <p:cNvPr id="6" name="Table 5"/>
          <p:cNvGraphicFramePr>
            <a:graphicFrameLocks noGrp="1"/>
          </p:cNvGraphicFramePr>
          <p:nvPr/>
        </p:nvGraphicFramePr>
        <p:xfrm>
          <a:off x="548640" y="1325880"/>
          <a:ext cx="11155680" cy="3200400"/>
        </p:xfrm>
        <a:graphic>
          <a:graphicData uri="http://schemas.openxmlformats.org/drawingml/2006/table">
            <a:tbl>
              <a:tblPr firstRow="1" bandRow="1">
                <a:tableStyleId>{5C22544A-7EE6-4342-B048-85BDC9FD1C3A}</a:tableStyleId>
              </a:tblPr>
              <a:tblGrid>
                <a:gridCol w="1645920"/>
                <a:gridCol w="2743200"/>
                <a:gridCol w="2011680"/>
                <a:gridCol w="1645920"/>
                <a:gridCol w="1554480"/>
                <a:gridCol w="1554480"/>
              </a:tblGrid>
              <a:tr h="457200">
                <a:tc>
                  <a:txBody>
                    <a:bodyPr wrap="square"/>
                    <a:lstStyle/>
                    <a:p>
                      <a:r>
                        <a:rPr b="1" sz="1400">
                          <a:solidFill>
                            <a:srgbClr val="FFFFFF"/>
                          </a:solidFill>
                          <a:latin typeface="Calibri"/>
                        </a:rPr>
                        <a:t>Dataset</a:t>
                      </a:r>
                    </a:p>
                  </a:txBody>
                  <a:tcPr marL="73152" marR="73152" marT="27432" marB="27432" anchor="ctr">
                    <a:solidFill>
                      <a:srgbClr val="1F3A5F"/>
                    </a:solidFill>
                  </a:tcPr>
                </a:tc>
                <a:tc>
                  <a:txBody>
                    <a:bodyPr wrap="square"/>
                    <a:lstStyle/>
                    <a:p>
                      <a:r>
                        <a:rPr b="1" sz="1400">
                          <a:solidFill>
                            <a:srgbClr val="FFFFFF"/>
                          </a:solidFill>
                          <a:latin typeface="Calibri"/>
                        </a:rPr>
                        <a:t>|FIR tiempo − OLS float| máx</a:t>
                      </a:r>
                    </a:p>
                  </a:txBody>
                  <a:tcPr marL="73152" marR="73152" marT="27432" marB="27432" anchor="ctr">
                    <a:solidFill>
                      <a:srgbClr val="1F3A5F"/>
                    </a:solidFill>
                  </a:tcPr>
                </a:tc>
                <a:tc>
                  <a:txBody>
                    <a:bodyPr wrap="square"/>
                    <a:lstStyle/>
                    <a:p>
                      <a:r>
                        <a:rPr b="1" sz="1400">
                          <a:solidFill>
                            <a:srgbClr val="FFFFFF"/>
                          </a:solidFill>
                          <a:latin typeface="Calibri"/>
                        </a:rPr>
                        <a:t>SQNR fijo vs float</a:t>
                      </a:r>
                    </a:p>
                  </a:txBody>
                  <a:tcPr marL="73152" marR="73152" marT="27432" marB="27432" anchor="ctr">
                    <a:solidFill>
                      <a:srgbClr val="1F3A5F"/>
                    </a:solidFill>
                  </a:tcPr>
                </a:tc>
                <a:tc>
                  <a:txBody>
                    <a:bodyPr wrap="square"/>
                    <a:lstStyle/>
                    <a:p>
                      <a:r>
                        <a:rPr b="1" sz="1400">
                          <a:solidFill>
                            <a:srgbClr val="FFFFFF"/>
                          </a:solidFill>
                          <a:latin typeface="Calibri"/>
                        </a:rPr>
                        <a:t>Error máx [LSB]</a:t>
                      </a:r>
                    </a:p>
                  </a:txBody>
                  <a:tcPr marL="73152" marR="73152" marT="27432" marB="27432" anchor="ctr">
                    <a:solidFill>
                      <a:srgbClr val="1F3A5F"/>
                    </a:solidFill>
                  </a:tcPr>
                </a:tc>
                <a:tc>
                  <a:txBody>
                    <a:bodyPr wrap="square"/>
                    <a:lstStyle/>
                    <a:p>
                      <a:r>
                        <a:rPr b="1" sz="1400">
                          <a:solidFill>
                            <a:srgbClr val="FFFFFF"/>
                          </a:solidFill>
                          <a:latin typeface="Calibri"/>
                        </a:rPr>
                        <a:t>Pico salida</a:t>
                      </a:r>
                    </a:p>
                  </a:txBody>
                  <a:tcPr marL="73152" marR="73152" marT="27432" marB="27432" anchor="ctr">
                    <a:solidFill>
                      <a:srgbClr val="1F3A5F"/>
                    </a:solidFill>
                  </a:tcPr>
                </a:tc>
                <a:tc>
                  <a:txBody>
                    <a:bodyPr wrap="square"/>
                    <a:lstStyle/>
                    <a:p>
                      <a:r>
                        <a:rPr b="1" sz="1400">
                          <a:solidFill>
                            <a:srgbClr val="FFFFFF"/>
                          </a:solidFill>
                          <a:latin typeface="Calibri"/>
                        </a:rPr>
                        <a:t>Overflows</a:t>
                      </a:r>
                    </a:p>
                  </a:txBody>
                  <a:tcPr marL="73152" marR="73152" marT="27432" marB="27432" anchor="ctr">
                    <a:solidFill>
                      <a:srgbClr val="1F3A5F"/>
                    </a:solidFill>
                  </a:tcPr>
                </a:tc>
              </a:tr>
              <a:tr h="457200">
                <a:tc>
                  <a:txBody>
                    <a:bodyPr wrap="square"/>
                    <a:lstStyle/>
                    <a:p>
                      <a:r>
                        <a:rPr b="1" sz="1400">
                          <a:solidFill>
                            <a:srgbClr val="222831"/>
                          </a:solidFill>
                          <a:latin typeface="Calibri"/>
                        </a:rPr>
                        <a:t>random_a</a:t>
                      </a:r>
                    </a:p>
                  </a:txBody>
                  <a:tcPr marL="73152" marR="73152" marT="27432" marB="27432" anchor="ctr">
                    <a:solidFill>
                      <a:srgbClr val="FFFFFF"/>
                    </a:solidFill>
                  </a:tcPr>
                </a:tc>
                <a:tc>
                  <a:txBody>
                    <a:bodyPr wrap="square"/>
                    <a:lstStyle/>
                    <a:p>
                      <a:r>
                        <a:rPr b="0" sz="1400">
                          <a:solidFill>
                            <a:srgbClr val="222831"/>
                          </a:solidFill>
                          <a:latin typeface="Calibri"/>
                        </a:rPr>
                        <a:t>3.6e-16</a:t>
                      </a:r>
                    </a:p>
                  </a:txBody>
                  <a:tcPr marL="73152" marR="73152" marT="27432" marB="27432" anchor="ctr">
                    <a:solidFill>
                      <a:srgbClr val="FFFFFF"/>
                    </a:solidFill>
                  </a:tcPr>
                </a:tc>
                <a:tc>
                  <a:txBody>
                    <a:bodyPr wrap="square"/>
                    <a:lstStyle/>
                    <a:p>
                      <a:r>
                        <a:rPr b="0" sz="1400">
                          <a:solidFill>
                            <a:srgbClr val="222831"/>
                          </a:solidFill>
                          <a:latin typeface="Calibri"/>
                        </a:rPr>
                        <a:t>48.9 dB</a:t>
                      </a:r>
                    </a:p>
                  </a:txBody>
                  <a:tcPr marL="73152" marR="73152" marT="27432" marB="27432" anchor="ctr">
                    <a:solidFill>
                      <a:srgbClr val="FFFFFF"/>
                    </a:solidFill>
                  </a:tcPr>
                </a:tc>
                <a:tc>
                  <a:txBody>
                    <a:bodyPr wrap="square"/>
                    <a:lstStyle/>
                    <a:p>
                      <a:r>
                        <a:rPr b="0" sz="1400">
                          <a:solidFill>
                            <a:srgbClr val="222831"/>
                          </a:solidFill>
                          <a:latin typeface="Calibri"/>
                        </a:rPr>
                        <a:t>2.08</a:t>
                      </a:r>
                    </a:p>
                  </a:txBody>
                  <a:tcPr marL="73152" marR="73152" marT="27432" marB="27432" anchor="ctr">
                    <a:solidFill>
                      <a:srgbClr val="FFFFFF"/>
                    </a:solidFill>
                  </a:tcPr>
                </a:tc>
                <a:tc>
                  <a:txBody>
                    <a:bodyPr wrap="square"/>
                    <a:lstStyle/>
                    <a:p>
                      <a:r>
                        <a:rPr b="0" sz="1400">
                          <a:solidFill>
                            <a:srgbClr val="222831"/>
                          </a:solidFill>
                          <a:latin typeface="Calibri"/>
                        </a:rPr>
                        <a:t>0.648</a:t>
                      </a:r>
                    </a:p>
                  </a:txBody>
                  <a:tcPr marL="73152" marR="73152" marT="27432" marB="27432" anchor="ctr">
                    <a:solidFill>
                      <a:srgbClr val="FFFFFF"/>
                    </a:solidFill>
                  </a:tcPr>
                </a:tc>
                <a:tc>
                  <a:txBody>
                    <a:bodyPr wrap="square"/>
                    <a:lstStyle/>
                    <a:p>
                      <a:r>
                        <a:rPr b="0" sz="1400">
                          <a:solidFill>
                            <a:srgbClr val="222831"/>
                          </a:solidFill>
                          <a:latin typeface="Calibri"/>
                        </a:rPr>
                        <a:t>0</a:t>
                      </a:r>
                    </a:p>
                  </a:txBody>
                  <a:tcPr marL="73152" marR="73152" marT="27432" marB="27432" anchor="ctr">
                    <a:solidFill>
                      <a:srgbClr val="FFFFFF"/>
                    </a:solidFill>
                  </a:tcPr>
                </a:tc>
              </a:tr>
              <a:tr h="457200">
                <a:tc>
                  <a:txBody>
                    <a:bodyPr wrap="square"/>
                    <a:lstStyle/>
                    <a:p>
                      <a:r>
                        <a:rPr b="1" sz="1400">
                          <a:solidFill>
                            <a:srgbClr val="222831"/>
                          </a:solidFill>
                          <a:latin typeface="Calibri"/>
                        </a:rPr>
                        <a:t>random_b</a:t>
                      </a:r>
                    </a:p>
                  </a:txBody>
                  <a:tcPr marL="73152" marR="73152" marT="27432" marB="27432" anchor="ctr">
                    <a:solidFill>
                      <a:srgbClr val="F3F5F8"/>
                    </a:solidFill>
                  </a:tcPr>
                </a:tc>
                <a:tc>
                  <a:txBody>
                    <a:bodyPr wrap="square"/>
                    <a:lstStyle/>
                    <a:p>
                      <a:r>
                        <a:rPr b="0" sz="1400">
                          <a:solidFill>
                            <a:srgbClr val="222831"/>
                          </a:solidFill>
                          <a:latin typeface="Calibri"/>
                        </a:rPr>
                        <a:t>3.5e-16</a:t>
                      </a:r>
                    </a:p>
                  </a:txBody>
                  <a:tcPr marL="73152" marR="73152" marT="27432" marB="27432" anchor="ctr">
                    <a:solidFill>
                      <a:srgbClr val="F3F5F8"/>
                    </a:solidFill>
                  </a:tcPr>
                </a:tc>
                <a:tc>
                  <a:txBody>
                    <a:bodyPr wrap="square"/>
                    <a:lstStyle/>
                    <a:p>
                      <a:r>
                        <a:rPr b="0" sz="1400">
                          <a:solidFill>
                            <a:srgbClr val="222831"/>
                          </a:solidFill>
                          <a:latin typeface="Calibri"/>
                        </a:rPr>
                        <a:t>48.9 dB</a:t>
                      </a:r>
                    </a:p>
                  </a:txBody>
                  <a:tcPr marL="73152" marR="73152" marT="27432" marB="27432" anchor="ctr">
                    <a:solidFill>
                      <a:srgbClr val="F3F5F8"/>
                    </a:solidFill>
                  </a:tcPr>
                </a:tc>
                <a:tc>
                  <a:txBody>
                    <a:bodyPr wrap="square"/>
                    <a:lstStyle/>
                    <a:p>
                      <a:r>
                        <a:rPr b="0" sz="1400">
                          <a:solidFill>
                            <a:srgbClr val="222831"/>
                          </a:solidFill>
                          <a:latin typeface="Calibri"/>
                        </a:rPr>
                        <a:t>2.08</a:t>
                      </a:r>
                    </a:p>
                  </a:txBody>
                  <a:tcPr marL="73152" marR="73152" marT="27432" marB="27432" anchor="ctr">
                    <a:solidFill>
                      <a:srgbClr val="F3F5F8"/>
                    </a:solidFill>
                  </a:tcPr>
                </a:tc>
                <a:tc>
                  <a:txBody>
                    <a:bodyPr wrap="square"/>
                    <a:lstStyle/>
                    <a:p>
                      <a:r>
                        <a:rPr b="0" sz="1400">
                          <a:solidFill>
                            <a:srgbClr val="222831"/>
                          </a:solidFill>
                          <a:latin typeface="Calibri"/>
                        </a:rPr>
                        <a:t>0.648</a:t>
                      </a:r>
                    </a:p>
                  </a:txBody>
                  <a:tcPr marL="73152" marR="73152" marT="27432" marB="27432" anchor="ctr">
                    <a:solidFill>
                      <a:srgbClr val="F3F5F8"/>
                    </a:solidFill>
                  </a:tcPr>
                </a:tc>
                <a:tc>
                  <a:txBody>
                    <a:bodyPr wrap="square"/>
                    <a:lstStyle/>
                    <a:p>
                      <a:r>
                        <a:rPr b="0" sz="1400">
                          <a:solidFill>
                            <a:srgbClr val="222831"/>
                          </a:solidFill>
                          <a:latin typeface="Calibri"/>
                        </a:rPr>
                        <a:t>0</a:t>
                      </a:r>
                    </a:p>
                  </a:txBody>
                  <a:tcPr marL="73152" marR="73152" marT="27432" marB="27432" anchor="ctr">
                    <a:solidFill>
                      <a:srgbClr val="F3F5F8"/>
                    </a:solidFill>
                  </a:tcPr>
                </a:tc>
              </a:tr>
              <a:tr h="457200">
                <a:tc>
                  <a:txBody>
                    <a:bodyPr wrap="square"/>
                    <a:lstStyle/>
                    <a:p>
                      <a:r>
                        <a:rPr b="1" sz="1400">
                          <a:solidFill>
                            <a:srgbClr val="222831"/>
                          </a:solidFill>
                          <a:latin typeface="Calibri"/>
                        </a:rPr>
                        <a:t>impulse</a:t>
                      </a:r>
                    </a:p>
                  </a:txBody>
                  <a:tcPr marL="73152" marR="73152" marT="27432" marB="27432" anchor="ctr">
                    <a:solidFill>
                      <a:srgbClr val="FFFFFF"/>
                    </a:solidFill>
                  </a:tcPr>
                </a:tc>
                <a:tc>
                  <a:txBody>
                    <a:bodyPr wrap="square"/>
                    <a:lstStyle/>
                    <a:p>
                      <a:r>
                        <a:rPr b="0" sz="1400">
                          <a:solidFill>
                            <a:srgbClr val="222831"/>
                          </a:solidFill>
                          <a:latin typeface="Calibri"/>
                        </a:rPr>
                        <a:t>7.9e-17</a:t>
                      </a:r>
                    </a:p>
                  </a:txBody>
                  <a:tcPr marL="73152" marR="73152" marT="27432" marB="27432" anchor="ctr">
                    <a:solidFill>
                      <a:srgbClr val="FFFFFF"/>
                    </a:solidFill>
                  </a:tcPr>
                </a:tc>
                <a:tc>
                  <a:txBody>
                    <a:bodyPr wrap="square"/>
                    <a:lstStyle/>
                    <a:p>
                      <a:r>
                        <a:rPr b="0" sz="1400">
                          <a:solidFill>
                            <a:srgbClr val="222831"/>
                          </a:solidFill>
                          <a:latin typeface="Calibri"/>
                        </a:rPr>
                        <a:t>39.7 dB</a:t>
                      </a:r>
                    </a:p>
                  </a:txBody>
                  <a:tcPr marL="73152" marR="73152" marT="27432" marB="27432" anchor="ctr">
                    <a:solidFill>
                      <a:srgbClr val="FFFFFF"/>
                    </a:solidFill>
                  </a:tcPr>
                </a:tc>
                <a:tc>
                  <a:txBody>
                    <a:bodyPr wrap="square"/>
                    <a:lstStyle/>
                    <a:p>
                      <a:r>
                        <a:rPr b="0" sz="1400">
                          <a:solidFill>
                            <a:srgbClr val="222831"/>
                          </a:solidFill>
                          <a:latin typeface="Calibri"/>
                        </a:rPr>
                        <a:t>1.03</a:t>
                      </a:r>
                    </a:p>
                  </a:txBody>
                  <a:tcPr marL="73152" marR="73152" marT="27432" marB="27432" anchor="ctr">
                    <a:solidFill>
                      <a:srgbClr val="FFFFFF"/>
                    </a:solidFill>
                  </a:tcPr>
                </a:tc>
                <a:tc>
                  <a:txBody>
                    <a:bodyPr wrap="square"/>
                    <a:lstStyle/>
                    <a:p>
                      <a:r>
                        <a:rPr b="0" sz="1400">
                          <a:solidFill>
                            <a:srgbClr val="222831"/>
                          </a:solidFill>
                          <a:latin typeface="Calibri"/>
                        </a:rPr>
                        <a:t>0.484</a:t>
                      </a:r>
                    </a:p>
                  </a:txBody>
                  <a:tcPr marL="73152" marR="73152" marT="27432" marB="27432" anchor="ctr">
                    <a:solidFill>
                      <a:srgbClr val="FFFFFF"/>
                    </a:solidFill>
                  </a:tcPr>
                </a:tc>
                <a:tc>
                  <a:txBody>
                    <a:bodyPr wrap="square"/>
                    <a:lstStyle/>
                    <a:p>
                      <a:r>
                        <a:rPr b="0" sz="1400">
                          <a:solidFill>
                            <a:srgbClr val="222831"/>
                          </a:solidFill>
                          <a:latin typeface="Calibri"/>
                        </a:rPr>
                        <a:t>0</a:t>
                      </a:r>
                    </a:p>
                  </a:txBody>
                  <a:tcPr marL="73152" marR="73152" marT="27432" marB="27432" anchor="ctr">
                    <a:solidFill>
                      <a:srgbClr val="FFFFFF"/>
                    </a:solidFill>
                  </a:tcPr>
                </a:tc>
              </a:tr>
              <a:tr h="457200">
                <a:tc>
                  <a:txBody>
                    <a:bodyPr wrap="square"/>
                    <a:lstStyle/>
                    <a:p>
                      <a:r>
                        <a:rPr b="1" sz="1400">
                          <a:solidFill>
                            <a:srgbClr val="222831"/>
                          </a:solidFill>
                          <a:latin typeface="Calibri"/>
                        </a:rPr>
                        <a:t>constant</a:t>
                      </a:r>
                    </a:p>
                  </a:txBody>
                  <a:tcPr marL="73152" marR="73152" marT="27432" marB="27432" anchor="ctr">
                    <a:solidFill>
                      <a:srgbClr val="F3F5F8"/>
                    </a:solidFill>
                  </a:tcPr>
                </a:tc>
                <a:tc>
                  <a:txBody>
                    <a:bodyPr wrap="square"/>
                    <a:lstStyle/>
                    <a:p>
                      <a:r>
                        <a:rPr b="0" sz="1400">
                          <a:solidFill>
                            <a:srgbClr val="222831"/>
                          </a:solidFill>
                          <a:latin typeface="Calibri"/>
                        </a:rPr>
                        <a:t>1.6e-16</a:t>
                      </a:r>
                    </a:p>
                  </a:txBody>
                  <a:tcPr marL="73152" marR="73152" marT="27432" marB="27432" anchor="ctr">
                    <a:solidFill>
                      <a:srgbClr val="F3F5F8"/>
                    </a:solidFill>
                  </a:tcPr>
                </a:tc>
                <a:tc>
                  <a:txBody>
                    <a:bodyPr wrap="square"/>
                    <a:lstStyle/>
                    <a:p>
                      <a:r>
                        <a:rPr b="0" sz="1400">
                          <a:solidFill>
                            <a:srgbClr val="222831"/>
                          </a:solidFill>
                          <a:latin typeface="Calibri"/>
                        </a:rPr>
                        <a:t>67.6 dB</a:t>
                      </a:r>
                    </a:p>
                  </a:txBody>
                  <a:tcPr marL="73152" marR="73152" marT="27432" marB="27432" anchor="ctr">
                    <a:solidFill>
                      <a:srgbClr val="F3F5F8"/>
                    </a:solidFill>
                  </a:tcPr>
                </a:tc>
                <a:tc>
                  <a:txBody>
                    <a:bodyPr wrap="square"/>
                    <a:lstStyle/>
                    <a:p>
                      <a:r>
                        <a:rPr b="0" sz="1400">
                          <a:solidFill>
                            <a:srgbClr val="222831"/>
                          </a:solidFill>
                          <a:latin typeface="Calibri"/>
                        </a:rPr>
                        <a:t>1.05</a:t>
                      </a:r>
                    </a:p>
                  </a:txBody>
                  <a:tcPr marL="73152" marR="73152" marT="27432" marB="27432" anchor="ctr">
                    <a:solidFill>
                      <a:srgbClr val="F3F5F8"/>
                    </a:solidFill>
                  </a:tcPr>
                </a:tc>
                <a:tc>
                  <a:txBody>
                    <a:bodyPr wrap="square"/>
                    <a:lstStyle/>
                    <a:p>
                      <a:r>
                        <a:rPr b="0" sz="1400">
                          <a:solidFill>
                            <a:srgbClr val="222831"/>
                          </a:solidFill>
                          <a:latin typeface="Calibri"/>
                        </a:rPr>
                        <a:t>0.570</a:t>
                      </a:r>
                    </a:p>
                  </a:txBody>
                  <a:tcPr marL="73152" marR="73152" marT="27432" marB="27432" anchor="ctr">
                    <a:solidFill>
                      <a:srgbClr val="F3F5F8"/>
                    </a:solidFill>
                  </a:tcPr>
                </a:tc>
                <a:tc>
                  <a:txBody>
                    <a:bodyPr wrap="square"/>
                    <a:lstStyle/>
                    <a:p>
                      <a:r>
                        <a:rPr b="0" sz="1400">
                          <a:solidFill>
                            <a:srgbClr val="222831"/>
                          </a:solidFill>
                          <a:latin typeface="Calibri"/>
                        </a:rPr>
                        <a:t>0</a:t>
                      </a:r>
                    </a:p>
                  </a:txBody>
                  <a:tcPr marL="73152" marR="73152" marT="27432" marB="27432" anchor="ctr">
                    <a:solidFill>
                      <a:srgbClr val="F3F5F8"/>
                    </a:solidFill>
                  </a:tcPr>
                </a:tc>
              </a:tr>
              <a:tr h="457200">
                <a:tc>
                  <a:txBody>
                    <a:bodyPr wrap="square"/>
                    <a:lstStyle/>
                    <a:p>
                      <a:r>
                        <a:rPr b="1" sz="1400">
                          <a:solidFill>
                            <a:srgbClr val="222831"/>
                          </a:solidFill>
                          <a:latin typeface="Calibri"/>
                        </a:rPr>
                        <a:t>alternating</a:t>
                      </a:r>
                    </a:p>
                  </a:txBody>
                  <a:tcPr marL="73152" marR="73152" marT="27432" marB="27432" anchor="ctr">
                    <a:solidFill>
                      <a:srgbClr val="FFFFFF"/>
                    </a:solidFill>
                  </a:tcPr>
                </a:tc>
                <a:tc>
                  <a:txBody>
                    <a:bodyPr wrap="square"/>
                    <a:lstStyle/>
                    <a:p>
                      <a:r>
                        <a:rPr b="0" sz="1400">
                          <a:solidFill>
                            <a:srgbClr val="222831"/>
                          </a:solidFill>
                          <a:latin typeface="Calibri"/>
                        </a:rPr>
                        <a:t>1.1e-16</a:t>
                      </a:r>
                    </a:p>
                  </a:txBody>
                  <a:tcPr marL="73152" marR="73152" marT="27432" marB="27432" anchor="ctr">
                    <a:solidFill>
                      <a:srgbClr val="FFFFFF"/>
                    </a:solidFill>
                  </a:tcPr>
                </a:tc>
                <a:tc>
                  <a:txBody>
                    <a:bodyPr wrap="square"/>
                    <a:lstStyle/>
                    <a:p>
                      <a:r>
                        <a:rPr b="0" sz="1400">
                          <a:solidFill>
                            <a:srgbClr val="222831"/>
                          </a:solidFill>
                          <a:latin typeface="Calibri"/>
                        </a:rPr>
                        <a:t>68.0 dB</a:t>
                      </a:r>
                    </a:p>
                  </a:txBody>
                  <a:tcPr marL="73152" marR="73152" marT="27432" marB="27432" anchor="ctr">
                    <a:solidFill>
                      <a:srgbClr val="FFFFFF"/>
                    </a:solidFill>
                  </a:tcPr>
                </a:tc>
                <a:tc>
                  <a:txBody>
                    <a:bodyPr wrap="square"/>
                    <a:lstStyle/>
                    <a:p>
                      <a:r>
                        <a:rPr b="0" sz="1400">
                          <a:solidFill>
                            <a:srgbClr val="222831"/>
                          </a:solidFill>
                          <a:latin typeface="Calibri"/>
                        </a:rPr>
                        <a:t>1.05</a:t>
                      </a:r>
                    </a:p>
                  </a:txBody>
                  <a:tcPr marL="73152" marR="73152" marT="27432" marB="27432" anchor="ctr">
                    <a:solidFill>
                      <a:srgbClr val="FFFFFF"/>
                    </a:solidFill>
                  </a:tcPr>
                </a:tc>
                <a:tc>
                  <a:txBody>
                    <a:bodyPr wrap="square"/>
                    <a:lstStyle/>
                    <a:p>
                      <a:r>
                        <a:rPr b="0" sz="1400">
                          <a:solidFill>
                            <a:srgbClr val="222831"/>
                          </a:solidFill>
                          <a:latin typeface="Calibri"/>
                        </a:rPr>
                        <a:t>0.562</a:t>
                      </a:r>
                    </a:p>
                  </a:txBody>
                  <a:tcPr marL="73152" marR="73152" marT="27432" marB="27432" anchor="ctr">
                    <a:solidFill>
                      <a:srgbClr val="FFFFFF"/>
                    </a:solidFill>
                  </a:tcPr>
                </a:tc>
                <a:tc>
                  <a:txBody>
                    <a:bodyPr wrap="square"/>
                    <a:lstStyle/>
                    <a:p>
                      <a:r>
                        <a:rPr b="0" sz="1400">
                          <a:solidFill>
                            <a:srgbClr val="222831"/>
                          </a:solidFill>
                          <a:latin typeface="Calibri"/>
                        </a:rPr>
                        <a:t>0</a:t>
                      </a:r>
                    </a:p>
                  </a:txBody>
                  <a:tcPr marL="73152" marR="73152" marT="27432" marB="27432" anchor="ctr">
                    <a:solidFill>
                      <a:srgbClr val="FFFFFF"/>
                    </a:solidFill>
                  </a:tcPr>
                </a:tc>
              </a:tr>
              <a:tr h="457200">
                <a:tc>
                  <a:txBody>
                    <a:bodyPr wrap="square"/>
                    <a:lstStyle/>
                    <a:p>
                      <a:r>
                        <a:rPr b="1" sz="1400">
                          <a:solidFill>
                            <a:srgbClr val="222831"/>
                          </a:solidFill>
                          <a:latin typeface="Calibri"/>
                        </a:rPr>
                        <a:t>worst_case</a:t>
                      </a:r>
                    </a:p>
                  </a:txBody>
                  <a:tcPr marL="73152" marR="73152" marT="27432" marB="27432" anchor="ctr">
                    <a:solidFill>
                      <a:srgbClr val="F3F5F8"/>
                    </a:solidFill>
                  </a:tcPr>
                </a:tc>
                <a:tc>
                  <a:txBody>
                    <a:bodyPr wrap="square"/>
                    <a:lstStyle/>
                    <a:p>
                      <a:r>
                        <a:rPr b="0" sz="1400">
                          <a:solidFill>
                            <a:srgbClr val="222831"/>
                          </a:solidFill>
                          <a:latin typeface="Calibri"/>
                        </a:rPr>
                        <a:t>2.4e-16</a:t>
                      </a:r>
                    </a:p>
                  </a:txBody>
                  <a:tcPr marL="73152" marR="73152" marT="27432" marB="27432" anchor="ctr">
                    <a:solidFill>
                      <a:srgbClr val="F3F5F8"/>
                    </a:solidFill>
                  </a:tcPr>
                </a:tc>
                <a:tc>
                  <a:txBody>
                    <a:bodyPr wrap="square"/>
                    <a:lstStyle/>
                    <a:p>
                      <a:r>
                        <a:rPr b="0" sz="1400">
                          <a:solidFill>
                            <a:srgbClr val="222831"/>
                          </a:solidFill>
                          <a:latin typeface="Calibri"/>
                        </a:rPr>
                        <a:t>51.1 dB</a:t>
                      </a:r>
                    </a:p>
                  </a:txBody>
                  <a:tcPr marL="73152" marR="73152" marT="27432" marB="27432" anchor="ctr">
                    <a:solidFill>
                      <a:srgbClr val="F3F5F8"/>
                    </a:solidFill>
                  </a:tcPr>
                </a:tc>
                <a:tc>
                  <a:txBody>
                    <a:bodyPr wrap="square"/>
                    <a:lstStyle/>
                    <a:p>
                      <a:r>
                        <a:rPr b="0" sz="1400">
                          <a:solidFill>
                            <a:srgbClr val="222831"/>
                          </a:solidFill>
                          <a:latin typeface="Calibri"/>
                        </a:rPr>
                        <a:t>1.14</a:t>
                      </a:r>
                    </a:p>
                  </a:txBody>
                  <a:tcPr marL="73152" marR="73152" marT="27432" marB="27432" anchor="ctr">
                    <a:solidFill>
                      <a:srgbClr val="F3F5F8"/>
                    </a:solidFill>
                  </a:tcPr>
                </a:tc>
                <a:tc>
                  <a:txBody>
                    <a:bodyPr wrap="square"/>
                    <a:lstStyle/>
                    <a:p>
                      <a:r>
                        <a:rPr b="0" sz="1400">
                          <a:solidFill>
                            <a:srgbClr val="222831"/>
                          </a:solidFill>
                          <a:latin typeface="Calibri"/>
                        </a:rPr>
                        <a:t>0.648</a:t>
                      </a:r>
                    </a:p>
                  </a:txBody>
                  <a:tcPr marL="73152" marR="73152" marT="27432" marB="27432" anchor="ctr">
                    <a:solidFill>
                      <a:srgbClr val="F3F5F8"/>
                    </a:solidFill>
                  </a:tcPr>
                </a:tc>
                <a:tc>
                  <a:txBody>
                    <a:bodyPr wrap="square"/>
                    <a:lstStyle/>
                    <a:p>
                      <a:r>
                        <a:rPr b="0" sz="1400">
                          <a:solidFill>
                            <a:srgbClr val="222831"/>
                          </a:solidFill>
                          <a:latin typeface="Calibri"/>
                        </a:rPr>
                        <a:t>0</a:t>
                      </a:r>
                    </a:p>
                  </a:txBody>
                  <a:tcPr marL="73152" marR="73152" marT="27432" marB="27432" anchor="ctr">
                    <a:solidFill>
                      <a:srgbClr val="F3F5F8"/>
                    </a:solidFill>
                  </a:tcPr>
                </a:tc>
              </a:tr>
            </a:tbl>
          </a:graphicData>
        </a:graphic>
      </p:graphicFrame>
      <p:sp>
        <p:nvSpPr>
          <p:cNvPr id="7" name="TextBox 6"/>
          <p:cNvSpPr txBox="1"/>
          <p:nvPr/>
        </p:nvSpPr>
        <p:spPr>
          <a:xfrm>
            <a:off x="548640" y="4754880"/>
            <a:ext cx="11155680" cy="1463040"/>
          </a:xfrm>
          <a:prstGeom prst="rect">
            <a:avLst/>
          </a:prstGeom>
          <a:noFill/>
        </p:spPr>
        <p:txBody>
          <a:bodyPr wrap="square" lIns="45720" rIns="45720">
            <a:spAutoFit/>
          </a:bodyPr>
          <a:lstStyle/>
          <a:p>
            <a:pPr marL="256032" indent="-219456">
              <a:spcAft>
                <a:spcPts val="600"/>
              </a:spcAft>
              <a:buFont typeface="Arial"/>
              <a:buChar char="•"/>
            </a:pPr>
            <a:r>
              <a:rPr b="1" sz="1500">
                <a:solidFill>
                  <a:srgbClr val="1F3A5F"/>
                </a:solidFill>
                <a:latin typeface="Calibri"/>
              </a:rPr>
              <a:t>Algoritmo exacto</a:t>
            </a:r>
            <a:r>
              <a:rPr b="0" sz="1500">
                <a:solidFill>
                  <a:srgbClr val="222831"/>
                </a:solidFill>
                <a:latin typeface="Calibri"/>
              </a:rPr>
              <a:t>: OLS float = FIR en tiempo (~1e-16).</a:t>
            </a:r>
          </a:p>
          <a:p>
            <a:pPr marL="256032" indent="-219456">
              <a:spcAft>
                <a:spcPts val="600"/>
              </a:spcAft>
              <a:buFont typeface="Arial"/>
              <a:buChar char="•"/>
            </a:pPr>
            <a:r>
              <a:rPr b="1" sz="1500">
                <a:solidFill>
                  <a:srgbClr val="1F3A5F"/>
                </a:solidFill>
                <a:latin typeface="Calibri"/>
              </a:rPr>
              <a:t>Punto fijo</a:t>
            </a:r>
            <a:r>
              <a:rPr b="0" sz="1500">
                <a:solidFill>
                  <a:srgbClr val="222831"/>
                </a:solidFill>
                <a:latin typeface="Calibri"/>
              </a:rPr>
              <a:t>: SQNR 40–68 dB, error ≤ ~2 LSB de salida, </a:t>
            </a:r>
            <a:r>
              <a:rPr b="1" sz="1500">
                <a:solidFill>
                  <a:srgbClr val="1F3A5F"/>
                </a:solidFill>
                <a:latin typeface="Calibri"/>
              </a:rPr>
              <a:t>0 overflows</a:t>
            </a:r>
            <a:r>
              <a:rPr b="0" sz="1500">
                <a:solidFill>
                  <a:srgbClr val="222831"/>
                </a:solidFill>
                <a:latin typeface="Calibri"/>
              </a:rPr>
              <a:t> (las cotas se cumplen).</a:t>
            </a:r>
          </a:p>
          <a:p>
            <a:pPr marL="256032" indent="-219456">
              <a:spcAft>
                <a:spcPts val="600"/>
              </a:spcAft>
              <a:buFont typeface="Arial"/>
              <a:buChar char="•"/>
            </a:pPr>
            <a:r>
              <a:rPr b="0" sz="1500">
                <a:solidFill>
                  <a:srgbClr val="222831"/>
                </a:solidFill>
                <a:latin typeface="Calibri"/>
              </a:rPr>
              <a:t>El impulso da menos SQNR: poca energía con el mismo error absoluto.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Resultados: forma de onda y constelación</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6 · Verificación y resultados</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38</a:t>
            </a:r>
          </a:p>
        </p:txBody>
      </p:sp>
      <p:pic>
        <p:nvPicPr>
          <p:cNvPr id="6" name="Picture 5" descr="float_vs_fijo.png"/>
          <p:cNvPicPr>
            <a:picLocks noChangeAspect="1"/>
          </p:cNvPicPr>
          <p:nvPr/>
        </p:nvPicPr>
        <p:blipFill>
          <a:blip r:embed="rId3"/>
          <a:stretch>
            <a:fillRect/>
          </a:stretch>
        </p:blipFill>
        <p:spPr>
          <a:xfrm>
            <a:off x="274320" y="1188720"/>
            <a:ext cx="6789420" cy="4937760"/>
          </a:xfrm>
          <a:prstGeom prst="rect">
            <a:avLst/>
          </a:prstGeom>
        </p:spPr>
      </p:pic>
      <p:pic>
        <p:nvPicPr>
          <p:cNvPr id="7" name="Picture 6" descr="constelacion.png"/>
          <p:cNvPicPr>
            <a:picLocks noChangeAspect="1"/>
          </p:cNvPicPr>
          <p:nvPr/>
        </p:nvPicPr>
        <p:blipFill>
          <a:blip r:embed="rId4"/>
          <a:stretch>
            <a:fillRect/>
          </a:stretch>
        </p:blipFill>
        <p:spPr>
          <a:xfrm>
            <a:off x="7406640" y="1234440"/>
            <a:ext cx="3931920" cy="3931920"/>
          </a:xfrm>
          <a:prstGeom prst="rect">
            <a:avLst/>
          </a:prstGeom>
        </p:spPr>
      </p:pic>
      <p:sp>
        <p:nvSpPr>
          <p:cNvPr id="8" name="TextBox 7"/>
          <p:cNvSpPr txBox="1"/>
          <p:nvPr/>
        </p:nvSpPr>
        <p:spPr>
          <a:xfrm>
            <a:off x="7406640" y="5303520"/>
            <a:ext cx="4297680" cy="822960"/>
          </a:xfrm>
          <a:prstGeom prst="rect">
            <a:avLst/>
          </a:prstGeom>
          <a:noFill/>
        </p:spPr>
        <p:txBody>
          <a:bodyPr wrap="square" lIns="45720" rIns="45720">
            <a:spAutoFit/>
          </a:bodyPr>
          <a:lstStyle/>
          <a:p>
            <a:pPr>
              <a:spcAft>
                <a:spcPts val="600"/>
              </a:spcAft>
            </a:pPr>
            <a:r>
              <a:rPr b="0" sz="1400">
                <a:solidFill>
                  <a:srgbClr val="5F6B7A"/>
                </a:solidFill>
                <a:latin typeface="Calibri"/>
              </a:rPr>
              <a:t>Después del filtro adaptado RX: 4 puntos QPSK compactos.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Vectores para el RTL</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6 · Verificación y resultados</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39</a:t>
            </a:r>
          </a:p>
        </p:txBody>
      </p:sp>
      <p:graphicFrame>
        <p:nvGraphicFramePr>
          <p:cNvPr id="6" name="Table 5"/>
          <p:cNvGraphicFramePr>
            <a:graphicFrameLocks noGrp="1"/>
          </p:cNvGraphicFramePr>
          <p:nvPr/>
        </p:nvGraphicFramePr>
        <p:xfrm>
          <a:off x="548640" y="1325880"/>
          <a:ext cx="5852160" cy="3657600"/>
        </p:xfrm>
        <a:graphic>
          <a:graphicData uri="http://schemas.openxmlformats.org/drawingml/2006/table">
            <a:tbl>
              <a:tblPr firstRow="1" bandRow="1">
                <a:tableStyleId>{5C22544A-7EE6-4342-B048-85BDC9FD1C3A}</a:tableStyleId>
              </a:tblPr>
              <a:tblGrid>
                <a:gridCol w="2377440"/>
                <a:gridCol w="3474720"/>
              </a:tblGrid>
              <a:tr h="457200">
                <a:tc>
                  <a:txBody>
                    <a:bodyPr wrap="square"/>
                    <a:lstStyle/>
                    <a:p>
                      <a:r>
                        <a:rPr b="1" sz="1300">
                          <a:solidFill>
                            <a:srgbClr val="FFFFFF"/>
                          </a:solidFill>
                          <a:latin typeface="Calibri"/>
                        </a:rPr>
                        <a:t>Archivo</a:t>
                      </a:r>
                    </a:p>
                  </a:txBody>
                  <a:tcPr marL="73152" marR="73152" marT="27432" marB="27432" anchor="ctr">
                    <a:solidFill>
                      <a:srgbClr val="1F3A5F"/>
                    </a:solidFill>
                  </a:tcPr>
                </a:tc>
                <a:tc>
                  <a:txBody>
                    <a:bodyPr wrap="square"/>
                    <a:lstStyle/>
                    <a:p>
                      <a:r>
                        <a:rPr b="1" sz="1300">
                          <a:solidFill>
                            <a:srgbClr val="FFFFFF"/>
                          </a:solidFill>
                          <a:latin typeface="Calibri"/>
                        </a:rPr>
                        <a:t>Contenido</a:t>
                      </a:r>
                    </a:p>
                  </a:txBody>
                  <a:tcPr marL="73152" marR="73152" marT="27432" marB="27432" anchor="ctr">
                    <a:solidFill>
                      <a:srgbClr val="1F3A5F"/>
                    </a:solidFill>
                  </a:tcPr>
                </a:tc>
              </a:tr>
              <a:tr h="457200">
                <a:tc>
                  <a:txBody>
                    <a:bodyPr wrap="square"/>
                    <a:lstStyle/>
                    <a:p>
                      <a:r>
                        <a:rPr b="1" sz="1300">
                          <a:solidFill>
                            <a:srgbClr val="222831"/>
                          </a:solidFill>
                          <a:latin typeface="Calibri"/>
                        </a:rPr>
                        <a:t>rom/golden_params.svh</a:t>
                      </a:r>
                    </a:p>
                  </a:txBody>
                  <a:tcPr marL="73152" marR="73152" marT="27432" marB="27432" anchor="ctr">
                    <a:solidFill>
                      <a:srgbClr val="FFFFFF"/>
                    </a:solidFill>
                  </a:tcPr>
                </a:tc>
                <a:tc>
                  <a:txBody>
                    <a:bodyPr wrap="square"/>
                    <a:lstStyle/>
                    <a:p>
                      <a:r>
                        <a:rPr b="0" sz="1300">
                          <a:solidFill>
                            <a:srgbClr val="222831"/>
                          </a:solidFill>
                          <a:latin typeface="Calibri"/>
                        </a:rPr>
                        <a:t>todos los anchos (localparam)</a:t>
                      </a:r>
                    </a:p>
                  </a:txBody>
                  <a:tcPr marL="73152" marR="73152" marT="27432" marB="27432" anchor="ctr">
                    <a:solidFill>
                      <a:srgbClr val="FFFFFF"/>
                    </a:solidFill>
                  </a:tcPr>
                </a:tc>
              </a:tr>
              <a:tr h="457200">
                <a:tc>
                  <a:txBody>
                    <a:bodyPr wrap="square"/>
                    <a:lstStyle/>
                    <a:p>
                      <a:r>
                        <a:rPr b="1" sz="1300">
                          <a:solidFill>
                            <a:srgbClr val="222831"/>
                          </a:solidFill>
                          <a:latin typeface="Calibri"/>
                        </a:rPr>
                        <a:t>rom/twiddle.hex, H.hex</a:t>
                      </a:r>
                    </a:p>
                  </a:txBody>
                  <a:tcPr marL="73152" marR="73152" marT="27432" marB="27432" anchor="ctr">
                    <a:solidFill>
                      <a:srgbClr val="F3F5F8"/>
                    </a:solidFill>
                  </a:tcPr>
                </a:tc>
                <a:tc>
                  <a:txBody>
                    <a:bodyPr wrap="square"/>
                    <a:lstStyle/>
                    <a:p>
                      <a:r>
                        <a:rPr b="0" sz="1300">
                          <a:solidFill>
                            <a:srgbClr val="222831"/>
                          </a:solidFill>
                          <a:latin typeface="Calibri"/>
                        </a:rPr>
                        <a:t>ROMs: W₁₆ᵏ (k = 0..7) y H[k] (k = 0..15)</a:t>
                      </a:r>
                    </a:p>
                  </a:txBody>
                  <a:tcPr marL="73152" marR="73152" marT="27432" marB="27432" anchor="ctr">
                    <a:solidFill>
                      <a:srgbClr val="F3F5F8"/>
                    </a:solidFill>
                  </a:tcPr>
                </a:tc>
              </a:tr>
              <a:tr h="457200">
                <a:tc>
                  <a:txBody>
                    <a:bodyPr wrap="square"/>
                    <a:lstStyle/>
                    <a:p>
                      <a:r>
                        <a:rPr b="1" sz="1300">
                          <a:solidFill>
                            <a:srgbClr val="222831"/>
                          </a:solidFill>
                          <a:latin typeface="Calibri"/>
                        </a:rPr>
                        <a:t>&lt;dataset&gt;/x_in.hex</a:t>
                      </a:r>
                    </a:p>
                  </a:txBody>
                  <a:tcPr marL="73152" marR="73152" marT="27432" marB="27432" anchor="ctr">
                    <a:solidFill>
                      <a:srgbClr val="FFFFFF"/>
                    </a:solidFill>
                  </a:tcPr>
                </a:tc>
                <a:tc>
                  <a:txBody>
                    <a:bodyPr wrap="square"/>
                    <a:lstStyle/>
                    <a:p>
                      <a:r>
                        <a:rPr b="0" sz="1300">
                          <a:solidFill>
                            <a:srgbClr val="222831"/>
                          </a:solidFill>
                          <a:latin typeface="Calibri"/>
                        </a:rPr>
                        <a:t>entrada, 1 muestra por línea</a:t>
                      </a:r>
                    </a:p>
                  </a:txBody>
                  <a:tcPr marL="73152" marR="73152" marT="27432" marB="27432" anchor="ctr">
                    <a:solidFill>
                      <a:srgbClr val="FFFFFF"/>
                    </a:solidFill>
                  </a:tcPr>
                </a:tc>
              </a:tr>
              <a:tr h="457200">
                <a:tc>
                  <a:txBody>
                    <a:bodyPr wrap="square"/>
                    <a:lstStyle/>
                    <a:p>
                      <a:r>
                        <a:rPr b="1" sz="1300">
                          <a:solidFill>
                            <a:srgbClr val="222831"/>
                          </a:solidFill>
                          <a:latin typeface="Calibri"/>
                        </a:rPr>
                        <a:t>&lt;dataset&gt;/y_out.hex</a:t>
                      </a:r>
                    </a:p>
                  </a:txBody>
                  <a:tcPr marL="73152" marR="73152" marT="27432" marB="27432" anchor="ctr">
                    <a:solidFill>
                      <a:srgbClr val="F3F5F8"/>
                    </a:solidFill>
                  </a:tcPr>
                </a:tc>
                <a:tc>
                  <a:txBody>
                    <a:bodyPr wrap="square"/>
                    <a:lstStyle/>
                    <a:p>
                      <a:r>
                        <a:rPr b="0" sz="1300">
                          <a:solidFill>
                            <a:srgbClr val="222831"/>
                          </a:solidFill>
                          <a:latin typeface="Calibri"/>
                        </a:rPr>
                        <a:t>salida esperada (alineada con x)</a:t>
                      </a:r>
                    </a:p>
                  </a:txBody>
                  <a:tcPr marL="73152" marR="73152" marT="27432" marB="27432" anchor="ctr">
                    <a:solidFill>
                      <a:srgbClr val="F3F5F8"/>
                    </a:solidFill>
                  </a:tcPr>
                </a:tc>
              </a:tr>
              <a:tr h="457200">
                <a:tc>
                  <a:txBody>
                    <a:bodyPr wrap="square"/>
                    <a:lstStyle/>
                    <a:p>
                      <a:r>
                        <a:rPr b="1" sz="1300">
                          <a:solidFill>
                            <a:srgbClr val="222831"/>
                          </a:solidFill>
                          <a:latin typeface="Calibri"/>
                        </a:rPr>
                        <a:t>blk_in, fft_st1..4</a:t>
                      </a:r>
                    </a:p>
                  </a:txBody>
                  <a:tcPr marL="73152" marR="73152" marT="27432" marB="27432" anchor="ctr">
                    <a:solidFill>
                      <a:srgbClr val="FFFFFF"/>
                    </a:solidFill>
                  </a:tcPr>
                </a:tc>
                <a:tc>
                  <a:txBody>
                    <a:bodyPr wrap="square"/>
                    <a:lstStyle/>
                    <a:p>
                      <a:r>
                        <a:rPr b="0" sz="1300">
                          <a:solidFill>
                            <a:srgbClr val="222831"/>
                          </a:solidFill>
                          <a:latin typeface="Calibri"/>
                        </a:rPr>
                        <a:t>16 líneas por bloque</a:t>
                      </a:r>
                    </a:p>
                  </a:txBody>
                  <a:tcPr marL="73152" marR="73152" marT="27432" marB="27432" anchor="ctr">
                    <a:solidFill>
                      <a:srgbClr val="FFFFFF"/>
                    </a:solidFill>
                  </a:tcPr>
                </a:tc>
              </a:tr>
              <a:tr h="457200">
                <a:tc>
                  <a:txBody>
                    <a:bodyPr wrap="square"/>
                    <a:lstStyle/>
                    <a:p>
                      <a:r>
                        <a:rPr b="1" sz="1300">
                          <a:solidFill>
                            <a:srgbClr val="222831"/>
                          </a:solidFill>
                          <a:latin typeface="Calibri"/>
                        </a:rPr>
                        <a:t>spec_mult, ifft_st1..4</a:t>
                      </a:r>
                    </a:p>
                  </a:txBody>
                  <a:tcPr marL="73152" marR="73152" marT="27432" marB="27432" anchor="ctr">
                    <a:solidFill>
                      <a:srgbClr val="F3F5F8"/>
                    </a:solidFill>
                  </a:tcPr>
                </a:tc>
                <a:tc>
                  <a:txBody>
                    <a:bodyPr wrap="square"/>
                    <a:lstStyle/>
                    <a:p>
                      <a:r>
                        <a:rPr b="0" sz="1300">
                          <a:solidFill>
                            <a:srgbClr val="222831"/>
                          </a:solidFill>
                          <a:latin typeface="Calibri"/>
                        </a:rPr>
                        <a:t>16 líneas por bloque</a:t>
                      </a:r>
                    </a:p>
                  </a:txBody>
                  <a:tcPr marL="73152" marR="73152" marT="27432" marB="27432" anchor="ctr">
                    <a:solidFill>
                      <a:srgbClr val="F3F5F8"/>
                    </a:solidFill>
                  </a:tcPr>
                </a:tc>
              </a:tr>
              <a:tr h="457200">
                <a:tc>
                  <a:txBody>
                    <a:bodyPr wrap="square"/>
                    <a:lstStyle/>
                    <a:p>
                      <a:r>
                        <a:rPr b="1" sz="1300">
                          <a:solidFill>
                            <a:srgbClr val="222831"/>
                          </a:solidFill>
                          <a:latin typeface="Calibri"/>
                        </a:rPr>
                        <a:t>*.txt</a:t>
                      </a:r>
                    </a:p>
                  </a:txBody>
                  <a:tcPr marL="73152" marR="73152" marT="27432" marB="27432" anchor="ctr">
                    <a:solidFill>
                      <a:srgbClr val="FFFFFF"/>
                    </a:solidFill>
                  </a:tcPr>
                </a:tc>
                <a:tc>
                  <a:txBody>
                    <a:bodyPr wrap="square"/>
                    <a:lstStyle/>
                    <a:p>
                      <a:r>
                        <a:rPr b="0" sz="1300">
                          <a:solidFill>
                            <a:srgbClr val="222831"/>
                          </a:solidFill>
                          <a:latin typeface="Calibri"/>
                        </a:rPr>
                        <a:t>mismos datos en decimal (re im)</a:t>
                      </a:r>
                    </a:p>
                  </a:txBody>
                  <a:tcPr marL="73152" marR="73152" marT="27432" marB="27432" anchor="ctr">
                    <a:solidFill>
                      <a:srgbClr val="FFFFFF"/>
                    </a:solidFill>
                  </a:tcPr>
                </a:tc>
              </a:tr>
            </a:tbl>
          </a:graphicData>
        </a:graphic>
      </p:graphicFrame>
      <p:sp>
        <p:nvSpPr>
          <p:cNvPr id="7" name="TextBox 6"/>
          <p:cNvSpPr txBox="1"/>
          <p:nvPr/>
        </p:nvSpPr>
        <p:spPr>
          <a:xfrm>
            <a:off x="548640" y="5166360"/>
            <a:ext cx="5852160" cy="914400"/>
          </a:xfrm>
          <a:prstGeom prst="rect">
            <a:avLst/>
          </a:prstGeom>
          <a:noFill/>
        </p:spPr>
        <p:txBody>
          <a:bodyPr wrap="square" lIns="45720" rIns="45720">
            <a:spAutoFit/>
          </a:bodyPr>
          <a:lstStyle/>
          <a:p>
            <a:pPr marL="256032" indent="-219456">
              <a:spcAft>
                <a:spcPts val="600"/>
              </a:spcAft>
              <a:buFont typeface="Arial"/>
              <a:buChar char="•"/>
            </a:pPr>
            <a:r>
              <a:rPr b="0" sz="1400">
                <a:solidFill>
                  <a:srgbClr val="222831"/>
                </a:solidFill>
                <a:latin typeface="Calibri"/>
              </a:rPr>
              <a:t>Palabra hex = </a:t>
            </a:r>
            <a:r>
              <a:rPr b="1" sz="1400">
                <a:solidFill>
                  <a:srgbClr val="1F3A5F"/>
                </a:solidFill>
                <a:latin typeface="Calibri"/>
              </a:rPr>
              <a:t>{im, re}</a:t>
            </a:r>
            <a:r>
              <a:rPr b="0" sz="1400">
                <a:solidFill>
                  <a:srgbClr val="222831"/>
                </a:solidFill>
                <a:latin typeface="Calibri"/>
              </a:rPr>
              <a:t> en complemento a 2 (ej. </a:t>
            </a:r>
            <a:r>
              <a:rPr b="0" sz="1400">
                <a:solidFill>
                  <a:srgbClr val="0E6E63"/>
                </a:solidFill>
                <a:latin typeface="Consolas"/>
              </a:rPr>
              <a:t>4040</a:t>
            </a:r>
            <a:r>
              <a:rPr b="0" sz="1400">
                <a:solidFill>
                  <a:srgbClr val="222831"/>
                </a:solidFill>
                <a:latin typeface="Calibri"/>
              </a:rPr>
              <a:t> = 1 + j en S(8,6)).</a:t>
            </a:r>
          </a:p>
        </p:txBody>
      </p:sp>
      <p:sp>
        <p:nvSpPr>
          <p:cNvPr id="8" name="Rectangle 7"/>
          <p:cNvSpPr/>
          <p:nvPr/>
        </p:nvSpPr>
        <p:spPr>
          <a:xfrm>
            <a:off x="6675120" y="1325880"/>
            <a:ext cx="5029200" cy="3657600"/>
          </a:xfrm>
          <a:prstGeom prst="rect">
            <a:avLst/>
          </a:prstGeom>
          <a:solidFill>
            <a:srgbClr val="F3F5F8"/>
          </a:solidFill>
          <a:ln>
            <a:solidFill>
              <a:srgbClr val="D5DB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a:lstStyle/>
          <a:p>
            <a:pPr algn="l">
              <a:spcAft>
                <a:spcPts val="0"/>
              </a:spcAft>
            </a:pPr>
            <a:r>
              <a:rPr sz="1200">
                <a:solidFill>
                  <a:srgbClr val="222831"/>
                </a:solidFill>
                <a:latin typeface="Consolas"/>
              </a:rPr>
              <a:t>`include "golden_params.svh"</a:t>
            </a:r>
          </a:p>
          <a:p>
            <a:pPr algn="l">
              <a:spcAft>
                <a:spcPts val="0"/>
              </a:spcAft>
            </a:pPr>
            <a:r>
              <a:rPr sz="1200">
                <a:solidFill>
                  <a:srgbClr val="222831"/>
                </a:solidFill>
                <a:latin typeface="Consolas"/>
              </a:rPr>
              <a:t>logic [2*NB_X-1:0] x_mem [0:511];</a:t>
            </a:r>
          </a:p>
          <a:p>
            <a:pPr algn="l">
              <a:spcAft>
                <a:spcPts val="0"/>
              </a:spcAft>
            </a:pPr>
            <a:r>
              <a:rPr sz="1200">
                <a:solidFill>
                  <a:srgbClr val="222831"/>
                </a:solidFill>
                <a:latin typeface="Consolas"/>
              </a:rPr>
              <a:t>logic [2*NB_Y-1:0] y_mem [0:511];</a:t>
            </a:r>
          </a:p>
          <a:p>
            <a:pPr algn="l">
              <a:spcAft>
                <a:spcPts val="0"/>
              </a:spcAft>
            </a:pPr>
          </a:p>
          <a:p>
            <a:pPr algn="l">
              <a:spcAft>
                <a:spcPts val="0"/>
              </a:spcAft>
            </a:pPr>
            <a:r>
              <a:rPr sz="1200">
                <a:solidFill>
                  <a:srgbClr val="222831"/>
                </a:solidFill>
                <a:latin typeface="Consolas"/>
              </a:rPr>
              <a:t>initial begin</a:t>
            </a:r>
          </a:p>
          <a:p>
            <a:pPr algn="l">
              <a:spcAft>
                <a:spcPts val="0"/>
              </a:spcAft>
            </a:pPr>
            <a:r>
              <a:rPr sz="1200">
                <a:solidFill>
                  <a:srgbClr val="222831"/>
                </a:solidFill>
                <a:latin typeface="Consolas"/>
              </a:rPr>
              <a:t>  $readmemh("random_a/x_in.hex",  x_mem);</a:t>
            </a:r>
          </a:p>
          <a:p>
            <a:pPr algn="l">
              <a:spcAft>
                <a:spcPts val="0"/>
              </a:spcAft>
            </a:pPr>
            <a:r>
              <a:rPr sz="1200">
                <a:solidFill>
                  <a:srgbClr val="222831"/>
                </a:solidFill>
                <a:latin typeface="Consolas"/>
              </a:rPr>
              <a:t>  $readmemh("random_a/y_out.hex", y_mem);</a:t>
            </a:r>
          </a:p>
          <a:p>
            <a:pPr algn="l">
              <a:spcAft>
                <a:spcPts val="0"/>
              </a:spcAft>
            </a:pPr>
            <a:r>
              <a:rPr sz="1200">
                <a:solidFill>
                  <a:srgbClr val="222831"/>
                </a:solidFill>
                <a:latin typeface="Consolas"/>
              </a:rPr>
              <a:t>end</a:t>
            </a:r>
          </a:p>
          <a:p>
            <a:pPr algn="l">
              <a:spcAft>
                <a:spcPts val="0"/>
              </a:spcAft>
            </a:pPr>
          </a:p>
          <a:p>
            <a:pPr algn="l">
              <a:spcAft>
                <a:spcPts val="0"/>
              </a:spcAft>
            </a:pPr>
            <a:r>
              <a:rPr sz="1200">
                <a:solidFill>
                  <a:srgbClr val="222831"/>
                </a:solidFill>
                <a:latin typeface="Consolas"/>
              </a:rPr>
              <a:t>// x_re = x_mem[n][NB_X-1:0];</a:t>
            </a:r>
          </a:p>
          <a:p>
            <a:pPr algn="l">
              <a:spcAft>
                <a:spcPts val="0"/>
              </a:spcAft>
            </a:pPr>
            <a:r>
              <a:rPr sz="1200">
                <a:solidFill>
                  <a:srgbClr val="222831"/>
                </a:solidFill>
                <a:latin typeface="Consolas"/>
              </a:rPr>
              <a:t>// x_im = x_mem[n][2*NB_X-1:NB_X];</a:t>
            </a:r>
          </a:p>
        </p:txBody>
      </p:sp>
      <p:sp>
        <p:nvSpPr>
          <p:cNvPr id="9" name="TextBox 8"/>
          <p:cNvSpPr txBox="1"/>
          <p:nvPr/>
        </p:nvSpPr>
        <p:spPr>
          <a:xfrm>
            <a:off x="6675120" y="5166360"/>
            <a:ext cx="5029200" cy="914400"/>
          </a:xfrm>
          <a:prstGeom prst="rect">
            <a:avLst/>
          </a:prstGeom>
          <a:noFill/>
        </p:spPr>
        <p:txBody>
          <a:bodyPr wrap="square" lIns="45720" rIns="45720">
            <a:spAutoFit/>
          </a:bodyPr>
          <a:lstStyle/>
          <a:p>
            <a:pPr>
              <a:spcAft>
                <a:spcPts val="600"/>
              </a:spcAft>
            </a:pPr>
            <a:r>
              <a:rPr b="0" sz="1300">
                <a:solidFill>
                  <a:srgbClr val="5F6B7A"/>
                </a:solidFill>
                <a:latin typeface="Calibri"/>
              </a:rPr>
              <a:t>256 símbolos × OS 2 = 512 muestras por dataset.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822960" y="2103120"/>
            <a:ext cx="10515600" cy="914400"/>
          </a:xfrm>
          <a:prstGeom prst="rect">
            <a:avLst/>
          </a:prstGeom>
          <a:noFill/>
        </p:spPr>
        <p:txBody>
          <a:bodyPr wrap="square" lIns="45720" rIns="45720">
            <a:spAutoFit/>
          </a:bodyPr>
          <a:lstStyle/>
          <a:p>
            <a:pPr>
              <a:spcAft>
                <a:spcPts val="600"/>
              </a:spcAft>
            </a:pPr>
            <a:r>
              <a:rPr b="0" sz="5400">
                <a:solidFill>
                  <a:srgbClr val="1A9E8F"/>
                </a:solidFill>
                <a:latin typeface="Calibri"/>
              </a:rPr>
              <a:t>7</a:t>
            </a:r>
          </a:p>
        </p:txBody>
      </p:sp>
      <p:sp>
        <p:nvSpPr>
          <p:cNvPr id="3" name="TextBox 2"/>
          <p:cNvSpPr txBox="1"/>
          <p:nvPr/>
        </p:nvSpPr>
        <p:spPr>
          <a:xfrm>
            <a:off x="822960" y="3017520"/>
            <a:ext cx="10515600" cy="914400"/>
          </a:xfrm>
          <a:prstGeom prst="rect">
            <a:avLst/>
          </a:prstGeom>
          <a:noFill/>
        </p:spPr>
        <p:txBody>
          <a:bodyPr wrap="square" lIns="45720" rIns="45720">
            <a:spAutoFit/>
          </a:bodyPr>
          <a:lstStyle/>
          <a:p>
            <a:pPr>
              <a:spcAft>
                <a:spcPts val="600"/>
              </a:spcAft>
            </a:pPr>
            <a:r>
              <a:rPr b="0" sz="4000">
                <a:solidFill>
                  <a:srgbClr val="FFFFFF"/>
                </a:solidFill>
                <a:latin typeface="Calibri"/>
              </a:rPr>
              <a:t>Cierre</a:t>
            </a:r>
          </a:p>
        </p:txBody>
      </p:sp>
      <p:sp>
        <p:nvSpPr>
          <p:cNvPr id="4" name="TextBox 3"/>
          <p:cNvSpPr txBox="1"/>
          <p:nvPr/>
        </p:nvSpPr>
        <p:spPr>
          <a:xfrm>
            <a:off x="822960" y="3931920"/>
            <a:ext cx="10515600" cy="914400"/>
          </a:xfrm>
          <a:prstGeom prst="rect">
            <a:avLst/>
          </a:prstGeom>
          <a:noFill/>
        </p:spPr>
        <p:txBody>
          <a:bodyPr wrap="square" lIns="45720" rIns="45720">
            <a:spAutoFit/>
          </a:bodyPr>
          <a:lstStyle/>
          <a:p>
            <a:pPr>
              <a:spcAft>
                <a:spcPts val="600"/>
              </a:spcAft>
            </a:pPr>
            <a:r>
              <a:rPr b="0" sz="2000">
                <a:solidFill>
                  <a:srgbClr val="C8D3E0"/>
                </a:solidFill>
                <a:latin typeface="Calibri"/>
              </a:rPr>
              <a:t>Tiempo vs. frecuencia, decisiones y próximos pasos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Tiempo vs. frecuencia para este filtro (8 taps)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7 · Cierre</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41</a:t>
            </a:r>
          </a:p>
        </p:txBody>
      </p:sp>
      <p:graphicFrame>
        <p:nvGraphicFramePr>
          <p:cNvPr id="6" name="Table 5"/>
          <p:cNvGraphicFramePr>
            <a:graphicFrameLocks noGrp="1"/>
          </p:cNvGraphicFramePr>
          <p:nvPr/>
        </p:nvGraphicFramePr>
        <p:xfrm>
          <a:off x="548640" y="1325880"/>
          <a:ext cx="7315200" cy="3017520"/>
        </p:xfrm>
        <a:graphic>
          <a:graphicData uri="http://schemas.openxmlformats.org/drawingml/2006/table">
            <a:tbl>
              <a:tblPr firstRow="1" bandRow="1">
                <a:tableStyleId>{5C22544A-7EE6-4342-B048-85BDC9FD1C3A}</a:tableStyleId>
              </a:tblPr>
              <a:tblGrid>
                <a:gridCol w="2743200"/>
                <a:gridCol w="1463040"/>
                <a:gridCol w="1371600"/>
                <a:gridCol w="1737360"/>
              </a:tblGrid>
              <a:tr h="502920">
                <a:tc>
                  <a:txBody>
                    <a:bodyPr wrap="square"/>
                    <a:lstStyle/>
                    <a:p/>
                  </a:txBody>
                  <a:tcPr marL="73152" marR="73152" marT="27432" marB="27432" anchor="ctr">
                    <a:solidFill>
                      <a:srgbClr val="1F3A5F"/>
                    </a:solidFill>
                  </a:tcPr>
                </a:tc>
                <a:tc>
                  <a:txBody>
                    <a:bodyPr wrap="square"/>
                    <a:lstStyle/>
                    <a:p>
                      <a:r>
                        <a:rPr b="1" sz="1300">
                          <a:solidFill>
                            <a:srgbClr val="FFFFFF"/>
                          </a:solidFill>
                          <a:latin typeface="Calibri"/>
                        </a:rPr>
                        <a:t>FIR directo</a:t>
                      </a:r>
                    </a:p>
                  </a:txBody>
                  <a:tcPr marL="73152" marR="73152" marT="27432" marB="27432" anchor="ctr">
                    <a:solidFill>
                      <a:srgbClr val="1F3A5F"/>
                    </a:solidFill>
                  </a:tcPr>
                </a:tc>
                <a:tc>
                  <a:txBody>
                    <a:bodyPr wrap="square"/>
                    <a:lstStyle/>
                    <a:p>
                      <a:r>
                        <a:rPr b="1" sz="1300">
                          <a:solidFill>
                            <a:srgbClr val="FFFFFF"/>
                          </a:solidFill>
                          <a:latin typeface="Calibri"/>
                        </a:rPr>
                        <a:t>FIR plegado</a:t>
                      </a:r>
                    </a:p>
                  </a:txBody>
                  <a:tcPr marL="73152" marR="73152" marT="27432" marB="27432" anchor="ctr">
                    <a:solidFill>
                      <a:srgbClr val="1F3A5F"/>
                    </a:solidFill>
                  </a:tcPr>
                </a:tc>
                <a:tc>
                  <a:txBody>
                    <a:bodyPr wrap="square"/>
                    <a:lstStyle/>
                    <a:p>
                      <a:r>
                        <a:rPr b="1" sz="1300">
                          <a:solidFill>
                            <a:srgbClr val="FFFFFF"/>
                          </a:solidFill>
                          <a:latin typeface="Calibri"/>
                        </a:rPr>
                        <a:t>Frecuencia (OLS)</a:t>
                      </a:r>
                    </a:p>
                  </a:txBody>
                  <a:tcPr marL="73152" marR="73152" marT="27432" marB="27432" anchor="ctr">
                    <a:solidFill>
                      <a:srgbClr val="1F3A5F"/>
                    </a:solidFill>
                  </a:tcPr>
                </a:tc>
              </a:tr>
              <a:tr h="502920">
                <a:tc>
                  <a:txBody>
                    <a:bodyPr wrap="square"/>
                    <a:lstStyle/>
                    <a:p>
                      <a:r>
                        <a:rPr b="1" sz="1300">
                          <a:solidFill>
                            <a:srgbClr val="222831"/>
                          </a:solidFill>
                          <a:latin typeface="Calibri"/>
                        </a:rPr>
                        <a:t>Mult. reales por bloque de 8 salidas</a:t>
                      </a:r>
                    </a:p>
                  </a:txBody>
                  <a:tcPr marL="73152" marR="73152" marT="27432" marB="27432" anchor="ctr">
                    <a:solidFill>
                      <a:srgbClr val="FFFFFF"/>
                    </a:solidFill>
                  </a:tcPr>
                </a:tc>
                <a:tc>
                  <a:txBody>
                    <a:bodyPr wrap="square"/>
                    <a:lstStyle/>
                    <a:p>
                      <a:r>
                        <a:rPr b="0" sz="1300">
                          <a:solidFill>
                            <a:srgbClr val="222831"/>
                          </a:solidFill>
                          <a:latin typeface="Calibri"/>
                        </a:rPr>
                        <a:t>128</a:t>
                      </a:r>
                    </a:p>
                  </a:txBody>
                  <a:tcPr marL="73152" marR="73152" marT="27432" marB="27432" anchor="ctr">
                    <a:solidFill>
                      <a:srgbClr val="FFFFFF"/>
                    </a:solidFill>
                  </a:tcPr>
                </a:tc>
                <a:tc>
                  <a:txBody>
                    <a:bodyPr wrap="square"/>
                    <a:lstStyle/>
                    <a:p>
                      <a:r>
                        <a:rPr b="0" sz="1300">
                          <a:solidFill>
                            <a:srgbClr val="222831"/>
                          </a:solidFill>
                          <a:latin typeface="Calibri"/>
                        </a:rPr>
                        <a:t>64</a:t>
                      </a:r>
                    </a:p>
                  </a:txBody>
                  <a:tcPr marL="73152" marR="73152" marT="27432" marB="27432" anchor="ctr">
                    <a:solidFill>
                      <a:srgbClr val="FFFFFF"/>
                    </a:solidFill>
                  </a:tcPr>
                </a:tc>
                <a:tc>
                  <a:txBody>
                    <a:bodyPr wrap="square"/>
                    <a:lstStyle/>
                    <a:p>
                      <a:r>
                        <a:rPr b="0" sz="1300">
                          <a:solidFill>
                            <a:srgbClr val="222831"/>
                          </a:solidFill>
                          <a:latin typeface="Calibri"/>
                        </a:rPr>
                        <a:t>≈ 128</a:t>
                      </a:r>
                    </a:p>
                  </a:txBody>
                  <a:tcPr marL="73152" marR="73152" marT="27432" marB="27432" anchor="ctr">
                    <a:solidFill>
                      <a:srgbClr val="FFFFFF"/>
                    </a:solidFill>
                  </a:tcPr>
                </a:tc>
              </a:tr>
              <a:tr h="502920">
                <a:tc>
                  <a:txBody>
                    <a:bodyPr wrap="square"/>
                    <a:lstStyle/>
                    <a:p>
                      <a:r>
                        <a:rPr b="1" sz="1300">
                          <a:solidFill>
                            <a:srgbClr val="222831"/>
                          </a:solidFill>
                          <a:latin typeface="Calibri"/>
                        </a:rPr>
                        <a:t>Mult. reales por muestra</a:t>
                      </a:r>
                    </a:p>
                  </a:txBody>
                  <a:tcPr marL="73152" marR="73152" marT="27432" marB="27432" anchor="ctr">
                    <a:solidFill>
                      <a:srgbClr val="F3F5F8"/>
                    </a:solidFill>
                  </a:tcPr>
                </a:tc>
                <a:tc>
                  <a:txBody>
                    <a:bodyPr wrap="square"/>
                    <a:lstStyle/>
                    <a:p>
                      <a:r>
                        <a:rPr b="0" sz="1300">
                          <a:solidFill>
                            <a:srgbClr val="222831"/>
                          </a:solidFill>
                          <a:latin typeface="Calibri"/>
                        </a:rPr>
                        <a:t>16</a:t>
                      </a:r>
                    </a:p>
                  </a:txBody>
                  <a:tcPr marL="73152" marR="73152" marT="27432" marB="27432" anchor="ctr">
                    <a:solidFill>
                      <a:srgbClr val="F3F5F8"/>
                    </a:solidFill>
                  </a:tcPr>
                </a:tc>
                <a:tc>
                  <a:txBody>
                    <a:bodyPr wrap="square"/>
                    <a:lstStyle/>
                    <a:p>
                      <a:r>
                        <a:rPr b="0" sz="1300">
                          <a:solidFill>
                            <a:srgbClr val="222831"/>
                          </a:solidFill>
                          <a:latin typeface="Calibri"/>
                        </a:rPr>
                        <a:t>8</a:t>
                      </a:r>
                    </a:p>
                  </a:txBody>
                  <a:tcPr marL="73152" marR="73152" marT="27432" marB="27432" anchor="ctr">
                    <a:solidFill>
                      <a:srgbClr val="F3F5F8"/>
                    </a:solidFill>
                  </a:tcPr>
                </a:tc>
                <a:tc>
                  <a:txBody>
                    <a:bodyPr wrap="square"/>
                    <a:lstStyle/>
                    <a:p>
                      <a:r>
                        <a:rPr b="0" sz="1300">
                          <a:solidFill>
                            <a:srgbClr val="222831"/>
                          </a:solidFill>
                          <a:latin typeface="Calibri"/>
                        </a:rPr>
                        <a:t>≈ 16</a:t>
                      </a:r>
                    </a:p>
                  </a:txBody>
                  <a:tcPr marL="73152" marR="73152" marT="27432" marB="27432" anchor="ctr">
                    <a:solidFill>
                      <a:srgbClr val="F3F5F8"/>
                    </a:solidFill>
                  </a:tcPr>
                </a:tc>
              </a:tr>
              <a:tr h="502920">
                <a:tc>
                  <a:txBody>
                    <a:bodyPr wrap="square"/>
                    <a:lstStyle/>
                    <a:p>
                      <a:r>
                        <a:rPr b="1" sz="1300">
                          <a:solidFill>
                            <a:srgbClr val="222831"/>
                          </a:solidFill>
                          <a:latin typeface="Calibri"/>
                        </a:rPr>
                        <a:t>Latencia</a:t>
                      </a:r>
                    </a:p>
                  </a:txBody>
                  <a:tcPr marL="73152" marR="73152" marT="27432" marB="27432" anchor="ctr">
                    <a:solidFill>
                      <a:srgbClr val="FFFFFF"/>
                    </a:solidFill>
                  </a:tcPr>
                </a:tc>
                <a:tc>
                  <a:txBody>
                    <a:bodyPr wrap="square"/>
                    <a:lstStyle/>
                    <a:p>
                      <a:r>
                        <a:rPr b="0" sz="1300">
                          <a:solidFill>
                            <a:srgbClr val="222831"/>
                          </a:solidFill>
                          <a:latin typeface="Calibri"/>
                        </a:rPr>
                        <a:t>pocos ciclos</a:t>
                      </a:r>
                    </a:p>
                  </a:txBody>
                  <a:tcPr marL="73152" marR="73152" marT="27432" marB="27432" anchor="ctr">
                    <a:solidFill>
                      <a:srgbClr val="FFFFFF"/>
                    </a:solidFill>
                  </a:tcPr>
                </a:tc>
                <a:tc>
                  <a:txBody>
                    <a:bodyPr wrap="square"/>
                    <a:lstStyle/>
                    <a:p>
                      <a:r>
                        <a:rPr b="0" sz="1300">
                          <a:solidFill>
                            <a:srgbClr val="222831"/>
                          </a:solidFill>
                          <a:latin typeface="Calibri"/>
                        </a:rPr>
                        <a:t>pocos ciclos</a:t>
                      </a:r>
                    </a:p>
                  </a:txBody>
                  <a:tcPr marL="73152" marR="73152" marT="27432" marB="27432" anchor="ctr">
                    <a:solidFill>
                      <a:srgbClr val="FFFFFF"/>
                    </a:solidFill>
                  </a:tcPr>
                </a:tc>
                <a:tc>
                  <a:txBody>
                    <a:bodyPr wrap="square"/>
                    <a:lstStyle/>
                    <a:p>
                      <a:r>
                        <a:rPr b="0" sz="1300">
                          <a:solidFill>
                            <a:srgbClr val="222831"/>
                          </a:solidFill>
                          <a:latin typeface="Calibri"/>
                        </a:rPr>
                        <a:t>8 muestras + pipeline</a:t>
                      </a:r>
                    </a:p>
                  </a:txBody>
                  <a:tcPr marL="73152" marR="73152" marT="27432" marB="27432" anchor="ctr">
                    <a:solidFill>
                      <a:srgbClr val="FFFFFF"/>
                    </a:solidFill>
                  </a:tcPr>
                </a:tc>
              </a:tr>
              <a:tr h="502920">
                <a:tc>
                  <a:txBody>
                    <a:bodyPr wrap="square"/>
                    <a:lstStyle/>
                    <a:p>
                      <a:r>
                        <a:rPr b="1" sz="1300">
                          <a:solidFill>
                            <a:srgbClr val="222831"/>
                          </a:solidFill>
                          <a:latin typeface="Calibri"/>
                        </a:rPr>
                        <a:t>Puntos de redondeo</a:t>
                      </a:r>
                    </a:p>
                  </a:txBody>
                  <a:tcPr marL="73152" marR="73152" marT="27432" marB="27432" anchor="ctr">
                    <a:solidFill>
                      <a:srgbClr val="F3F5F8"/>
                    </a:solidFill>
                  </a:tcPr>
                </a:tc>
                <a:tc>
                  <a:txBody>
                    <a:bodyPr wrap="square"/>
                    <a:lstStyle/>
                    <a:p>
                      <a:r>
                        <a:rPr b="0" sz="1300">
                          <a:solidFill>
                            <a:srgbClr val="222831"/>
                          </a:solidFill>
                          <a:latin typeface="Calibri"/>
                        </a:rPr>
                        <a:t>1</a:t>
                      </a:r>
                    </a:p>
                  </a:txBody>
                  <a:tcPr marL="73152" marR="73152" marT="27432" marB="27432" anchor="ctr">
                    <a:solidFill>
                      <a:srgbClr val="F3F5F8"/>
                    </a:solidFill>
                  </a:tcPr>
                </a:tc>
                <a:tc>
                  <a:txBody>
                    <a:bodyPr wrap="square"/>
                    <a:lstStyle/>
                    <a:p>
                      <a:r>
                        <a:rPr b="0" sz="1300">
                          <a:solidFill>
                            <a:srgbClr val="222831"/>
                          </a:solidFill>
                          <a:latin typeface="Calibri"/>
                        </a:rPr>
                        <a:t>1</a:t>
                      </a:r>
                    </a:p>
                  </a:txBody>
                  <a:tcPr marL="73152" marR="73152" marT="27432" marB="27432" anchor="ctr">
                    <a:solidFill>
                      <a:srgbClr val="F3F5F8"/>
                    </a:solidFill>
                  </a:tcPr>
                </a:tc>
                <a:tc>
                  <a:txBody>
                    <a:bodyPr wrap="square"/>
                    <a:lstStyle/>
                    <a:p>
                      <a:r>
                        <a:rPr b="0" sz="1300">
                          <a:solidFill>
                            <a:srgbClr val="222831"/>
                          </a:solidFill>
                          <a:latin typeface="Calibri"/>
                        </a:rPr>
                        <a:t>≈ 9</a:t>
                      </a:r>
                    </a:p>
                  </a:txBody>
                  <a:tcPr marL="73152" marR="73152" marT="27432" marB="27432" anchor="ctr">
                    <a:solidFill>
                      <a:srgbClr val="F3F5F8"/>
                    </a:solidFill>
                  </a:tcPr>
                </a:tc>
              </a:tr>
              <a:tr h="502920">
                <a:tc>
                  <a:txBody>
                    <a:bodyPr wrap="square"/>
                    <a:lstStyle/>
                    <a:p>
                      <a:r>
                        <a:rPr b="1" sz="1300">
                          <a:solidFill>
                            <a:srgbClr val="222831"/>
                          </a:solidFill>
                          <a:latin typeface="Calibri"/>
                        </a:rPr>
                        <a:t>Muestras por ciclo (paralelo)</a:t>
                      </a:r>
                    </a:p>
                  </a:txBody>
                  <a:tcPr marL="73152" marR="73152" marT="27432" marB="27432" anchor="ctr">
                    <a:solidFill>
                      <a:srgbClr val="FFFFFF"/>
                    </a:solidFill>
                  </a:tcPr>
                </a:tc>
                <a:tc>
                  <a:txBody>
                    <a:bodyPr wrap="square"/>
                    <a:lstStyle/>
                    <a:p>
                      <a:r>
                        <a:rPr b="0" sz="1300">
                          <a:solidFill>
                            <a:srgbClr val="222831"/>
                          </a:solidFill>
                          <a:latin typeface="Calibri"/>
                        </a:rPr>
                        <a:t>1 (×8 replicando)</a:t>
                      </a:r>
                    </a:p>
                  </a:txBody>
                  <a:tcPr marL="73152" marR="73152" marT="27432" marB="27432" anchor="ctr">
                    <a:solidFill>
                      <a:srgbClr val="FFFFFF"/>
                    </a:solidFill>
                  </a:tcPr>
                </a:tc>
                <a:tc>
                  <a:txBody>
                    <a:bodyPr wrap="square"/>
                    <a:lstStyle/>
                    <a:p>
                      <a:r>
                        <a:rPr b="0" sz="1300">
                          <a:solidFill>
                            <a:srgbClr val="222831"/>
                          </a:solidFill>
                          <a:latin typeface="Calibri"/>
                        </a:rPr>
                        <a:t>1</a:t>
                      </a:r>
                    </a:p>
                  </a:txBody>
                  <a:tcPr marL="73152" marR="73152" marT="27432" marB="27432" anchor="ctr">
                    <a:solidFill>
                      <a:srgbClr val="FFFFFF"/>
                    </a:solidFill>
                  </a:tcPr>
                </a:tc>
                <a:tc>
                  <a:txBody>
                    <a:bodyPr wrap="square"/>
                    <a:lstStyle/>
                    <a:p>
                      <a:r>
                        <a:rPr b="0" sz="1300">
                          <a:solidFill>
                            <a:srgbClr val="222831"/>
                          </a:solidFill>
                          <a:latin typeface="Calibri"/>
                        </a:rPr>
                        <a:t>8</a:t>
                      </a:r>
                    </a:p>
                  </a:txBody>
                  <a:tcPr marL="73152" marR="73152" marT="27432" marB="27432" anchor="ctr">
                    <a:solidFill>
                      <a:srgbClr val="FFFFFF"/>
                    </a:solidFill>
                  </a:tcPr>
                </a:tc>
              </a:tr>
            </a:tbl>
          </a:graphicData>
        </a:graphic>
      </p:graphicFrame>
      <p:sp>
        <p:nvSpPr>
          <p:cNvPr id="7" name="Rectangle 6"/>
          <p:cNvSpPr/>
          <p:nvPr/>
        </p:nvSpPr>
        <p:spPr>
          <a:xfrm>
            <a:off x="8138160" y="1325880"/>
            <a:ext cx="3566160" cy="4480560"/>
          </a:xfrm>
          <a:prstGeom prst="rect">
            <a:avLst/>
          </a:prstGeom>
          <a:solidFill>
            <a:srgbClr val="E3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0" y="1325880"/>
            <a:ext cx="64008" cy="4480560"/>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399032"/>
            <a:ext cx="3291840" cy="4343400"/>
          </a:xfrm>
          <a:prstGeom prst="rect">
            <a:avLst/>
          </a:prstGeom>
          <a:noFill/>
        </p:spPr>
        <p:txBody>
          <a:bodyPr wrap="square" lIns="45720" rIns="45720">
            <a:spAutoFit/>
          </a:bodyPr>
          <a:lstStyle/>
          <a:p>
            <a:pPr>
              <a:spcAft>
                <a:spcPts val="400"/>
              </a:spcAft>
            </a:pPr>
            <a:r>
              <a:rPr b="1" sz="1400">
                <a:solidFill>
                  <a:srgbClr val="1F3A5F"/>
                </a:solidFill>
                <a:latin typeface="Calibri"/>
              </a:rPr>
              <a:t>Conclusión</a:t>
            </a:r>
          </a:p>
          <a:p>
            <a:pPr>
              <a:spcAft>
                <a:spcPts val="400"/>
              </a:spcAft>
            </a:pPr>
            <a:r>
              <a:rPr b="0" sz="1400">
                <a:solidFill>
                  <a:srgbClr val="222831"/>
                </a:solidFill>
                <a:latin typeface="Calibri"/>
              </a:rPr>
              <a:t>Con </a:t>
            </a:r>
            <a:r>
              <a:rPr b="1" sz="1400">
                <a:solidFill>
                  <a:srgbClr val="1F3A5F"/>
                </a:solidFill>
                <a:latin typeface="Calibri"/>
              </a:rPr>
              <a:t>8 taps</a:t>
            </a:r>
            <a:r>
              <a:rPr b="0" sz="1400">
                <a:solidFill>
                  <a:srgbClr val="222831"/>
                </a:solidFill>
                <a:latin typeface="Calibri"/>
              </a:rPr>
              <a:t>, el filtro en tiempo es más simple y preciso.</a:t>
            </a:r>
          </a:p>
          <a:p>
            <a:pPr>
              <a:spcAft>
                <a:spcPts val="400"/>
              </a:spcAft>
            </a:pPr>
          </a:p>
          <a:p>
            <a:pPr>
              <a:spcAft>
                <a:spcPts val="400"/>
              </a:spcAft>
            </a:pPr>
            <a:r>
              <a:rPr b="0" sz="1400">
                <a:solidFill>
                  <a:srgbClr val="222831"/>
                </a:solidFill>
                <a:latin typeface="Calibri"/>
              </a:rPr>
              <a:t>El método en frecuencia </a:t>
            </a:r>
            <a:r>
              <a:rPr b="1" sz="1400">
                <a:solidFill>
                  <a:srgbClr val="1F3A5F"/>
                </a:solidFill>
                <a:latin typeface="Calibri"/>
              </a:rPr>
              <a:t>gana con filtros largos</a:t>
            </a:r>
            <a:r>
              <a:rPr b="0" sz="1400">
                <a:solidFill>
                  <a:srgbClr val="222831"/>
                </a:solidFill>
                <a:latin typeface="Calibri"/>
              </a:rPr>
              <a:t> (≈ 32–64 taps o más): su costo crece como </a:t>
            </a:r>
            <a:r>
              <a:rPr b="1" sz="1400">
                <a:solidFill>
                  <a:srgbClr val="1F3A5F"/>
                </a:solidFill>
                <a:latin typeface="Calibri"/>
              </a:rPr>
              <a:t>log N</a:t>
            </a:r>
            <a:r>
              <a:rPr b="0" sz="1400">
                <a:solidFill>
                  <a:srgbClr val="222831"/>
                </a:solidFill>
                <a:latin typeface="Calibri"/>
              </a:rPr>
              <a:t>, no como M.</a:t>
            </a:r>
          </a:p>
          <a:p>
            <a:pPr>
              <a:spcAft>
                <a:spcPts val="400"/>
              </a:spcAft>
            </a:pPr>
          </a:p>
          <a:p>
            <a:pPr>
              <a:spcAft>
                <a:spcPts val="400"/>
              </a:spcAft>
            </a:pPr>
            <a:r>
              <a:rPr b="0" sz="1400">
                <a:solidFill>
                  <a:srgbClr val="222831"/>
                </a:solidFill>
                <a:latin typeface="Calibri"/>
              </a:rPr>
              <a:t>Y es naturalmente </a:t>
            </a:r>
            <a:r>
              <a:rPr b="1" sz="1400">
                <a:solidFill>
                  <a:srgbClr val="1F3A5F"/>
                </a:solidFill>
                <a:latin typeface="Calibri"/>
              </a:rPr>
              <a:t>paralelo</a:t>
            </a:r>
            <a:r>
              <a:rPr b="0" sz="1400">
                <a:solidFill>
                  <a:srgbClr val="222831"/>
                </a:solidFill>
                <a:latin typeface="Calibri"/>
              </a:rPr>
              <a:t>: 8 muestras por ciclo.</a:t>
            </a:r>
          </a:p>
        </p:txBody>
      </p:sp>
      <p:sp>
        <p:nvSpPr>
          <p:cNvPr id="10" name="TextBox 9"/>
          <p:cNvSpPr txBox="1"/>
          <p:nvPr/>
        </p:nvSpPr>
        <p:spPr>
          <a:xfrm>
            <a:off x="548640" y="4572000"/>
            <a:ext cx="7315200" cy="1371600"/>
          </a:xfrm>
          <a:prstGeom prst="rect">
            <a:avLst/>
          </a:prstGeom>
          <a:noFill/>
        </p:spPr>
        <p:txBody>
          <a:bodyPr wrap="square" lIns="45720" rIns="45720">
            <a:spAutoFit/>
          </a:bodyPr>
          <a:lstStyle/>
          <a:p>
            <a:pPr marL="256032" indent="-219456">
              <a:spcAft>
                <a:spcPts val="600"/>
              </a:spcAft>
              <a:buFont typeface="Arial"/>
              <a:buChar char="•"/>
            </a:pPr>
            <a:r>
              <a:rPr b="0" sz="1400">
                <a:solidFill>
                  <a:srgbClr val="5F6B7A"/>
                </a:solidFill>
                <a:latin typeface="Calibri"/>
              </a:rPr>
              <a:t>FFT16 ≈ 32 mult. reales, IFFT16 ≈ 32, producto espectral 16 × 4 = 64.</a:t>
            </a:r>
          </a:p>
          <a:p>
            <a:pPr marL="256032" indent="-219456">
              <a:spcAft>
                <a:spcPts val="600"/>
              </a:spcAft>
              <a:buFont typeface="Arial"/>
              <a:buChar char="•"/>
            </a:pPr>
            <a:r>
              <a:rPr b="0" sz="1400">
                <a:solidFill>
                  <a:srgbClr val="5F6B7A"/>
                </a:solidFill>
                <a:latin typeface="Calibri"/>
              </a:rPr>
              <a:t>El TP pide ambos para </a:t>
            </a:r>
            <a:r>
              <a:rPr b="1" sz="1400">
                <a:solidFill>
                  <a:srgbClr val="5F6B7A"/>
                </a:solidFill>
                <a:latin typeface="Calibri"/>
              </a:rPr>
              <a:t>comparar</a:t>
            </a:r>
            <a:r>
              <a:rPr b="0" sz="1400">
                <a:solidFill>
                  <a:srgbClr val="5F6B7A"/>
                </a:solidFill>
                <a:latin typeface="Calibri"/>
              </a:rPr>
              <a:t> y practicar la paralelización de FFT / producto / IFFT.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Resumen de decisiones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7 · Cierre</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42</a:t>
            </a:r>
          </a:p>
        </p:txBody>
      </p:sp>
      <p:graphicFrame>
        <p:nvGraphicFramePr>
          <p:cNvPr id="6" name="Table 5"/>
          <p:cNvGraphicFramePr>
            <a:graphicFrameLocks noGrp="1"/>
          </p:cNvGraphicFramePr>
          <p:nvPr/>
        </p:nvGraphicFramePr>
        <p:xfrm>
          <a:off x="548640" y="1280160"/>
          <a:ext cx="11155680" cy="4718304"/>
        </p:xfrm>
        <a:graphic>
          <a:graphicData uri="http://schemas.openxmlformats.org/drawingml/2006/table">
            <a:tbl>
              <a:tblPr firstRow="1" bandRow="1">
                <a:tableStyleId>{5C22544A-7EE6-4342-B048-85BDC9FD1C3A}</a:tableStyleId>
              </a:tblPr>
              <a:tblGrid>
                <a:gridCol w="3474720"/>
                <a:gridCol w="7680960"/>
              </a:tblGrid>
              <a:tr h="393192">
                <a:tc>
                  <a:txBody>
                    <a:bodyPr wrap="square"/>
                    <a:lstStyle/>
                    <a:p>
                      <a:r>
                        <a:rPr b="1" sz="1300">
                          <a:solidFill>
                            <a:srgbClr val="FFFFFF"/>
                          </a:solidFill>
                          <a:latin typeface="Calibri"/>
                        </a:rPr>
                        <a:t>Decisión</a:t>
                      </a:r>
                    </a:p>
                  </a:txBody>
                  <a:tcPr marL="73152" marR="73152" marT="27432" marB="27432" anchor="ctr">
                    <a:solidFill>
                      <a:srgbClr val="1F3A5F"/>
                    </a:solidFill>
                  </a:tcPr>
                </a:tc>
                <a:tc>
                  <a:txBody>
                    <a:bodyPr wrap="square"/>
                    <a:lstStyle/>
                    <a:p>
                      <a:r>
                        <a:rPr b="1" sz="1300">
                          <a:solidFill>
                            <a:srgbClr val="FFFFFF"/>
                          </a:solidFill>
                          <a:latin typeface="Calibri"/>
                        </a:rPr>
                        <a:t>Motivo</a:t>
                      </a:r>
                    </a:p>
                  </a:txBody>
                  <a:tcPr marL="73152" marR="73152" marT="27432" marB="27432" anchor="ctr">
                    <a:solidFill>
                      <a:srgbClr val="1F3A5F"/>
                    </a:solidFill>
                  </a:tcPr>
                </a:tc>
              </a:tr>
              <a:tr h="393192">
                <a:tc>
                  <a:txBody>
                    <a:bodyPr wrap="square"/>
                    <a:lstStyle/>
                    <a:p>
                      <a:r>
                        <a:rPr b="1" sz="1300">
                          <a:solidFill>
                            <a:srgbClr val="222831"/>
                          </a:solidFill>
                          <a:latin typeface="Calibri"/>
                        </a:rPr>
                        <a:t>OS = 2</a:t>
                      </a:r>
                    </a:p>
                  </a:txBody>
                  <a:tcPr marL="73152" marR="73152" marT="27432" marB="27432" anchor="ctr">
                    <a:solidFill>
                      <a:srgbClr val="FFFFFF"/>
                    </a:solidFill>
                  </a:tcPr>
                </a:tc>
                <a:tc>
                  <a:txBody>
                    <a:bodyPr wrap="square"/>
                    <a:lstStyle/>
                    <a:p>
                      <a:r>
                        <a:rPr b="0" sz="1300">
                          <a:solidFill>
                            <a:srgbClr val="222831"/>
                          </a:solidFill>
                          <a:latin typeface="Calibri"/>
                        </a:rPr>
                        <a:t>8 taps = 4 símbolos de RRC (con OS = 4 serían solo 2)</a:t>
                      </a:r>
                    </a:p>
                  </a:txBody>
                  <a:tcPr marL="73152" marR="73152" marT="27432" marB="27432" anchor="ctr">
                    <a:solidFill>
                      <a:srgbClr val="FFFFFF"/>
                    </a:solidFill>
                  </a:tcPr>
                </a:tc>
              </a:tr>
              <a:tr h="393192">
                <a:tc>
                  <a:txBody>
                    <a:bodyPr wrap="square"/>
                    <a:lstStyle/>
                    <a:p>
                      <a:r>
                        <a:rPr b="1" sz="1300">
                          <a:solidFill>
                            <a:srgbClr val="222831"/>
                          </a:solidFill>
                          <a:latin typeface="Calibri"/>
                        </a:rPr>
                        <a:t>RRC simétrico</a:t>
                      </a:r>
                    </a:p>
                  </a:txBody>
                  <a:tcPr marL="73152" marR="73152" marT="27432" marB="27432" anchor="ctr">
                    <a:solidFill>
                      <a:srgbClr val="F3F5F8"/>
                    </a:solidFill>
                  </a:tcPr>
                </a:tc>
                <a:tc>
                  <a:txBody>
                    <a:bodyPr wrap="square"/>
                    <a:lstStyle/>
                    <a:p>
                      <a:r>
                        <a:rPr b="0" sz="1300">
                          <a:solidFill>
                            <a:srgbClr val="222831"/>
                          </a:solidFill>
                          <a:latin typeface="Calibri"/>
                        </a:rPr>
                        <a:t>fase lineal, menos ISI (−36.9 dB), FIR plegable</a:t>
                      </a:r>
                    </a:p>
                  </a:txBody>
                  <a:tcPr marL="73152" marR="73152" marT="27432" marB="27432" anchor="ctr">
                    <a:solidFill>
                      <a:srgbClr val="F3F5F8"/>
                    </a:solidFill>
                  </a:tcPr>
                </a:tc>
              </a:tr>
              <a:tr h="393192">
                <a:tc>
                  <a:txBody>
                    <a:bodyPr wrap="square"/>
                    <a:lstStyle/>
                    <a:p>
                      <a:r>
                        <a:rPr b="1" sz="1300">
                          <a:solidFill>
                            <a:srgbClr val="222831"/>
                          </a:solidFill>
                          <a:latin typeface="Calibri"/>
                        </a:rPr>
                        <a:t>max|H[k]| = 1</a:t>
                      </a:r>
                    </a:p>
                  </a:txBody>
                  <a:tcPr marL="73152" marR="73152" marT="27432" marB="27432" anchor="ctr">
                    <a:solidFill>
                      <a:srgbClr val="FFFFFF"/>
                    </a:solidFill>
                  </a:tcPr>
                </a:tc>
                <a:tc>
                  <a:txBody>
                    <a:bodyPr wrap="square"/>
                    <a:lstStyle/>
                    <a:p>
                      <a:r>
                        <a:rPr b="0" sz="1300">
                          <a:solidFill>
                            <a:srgbClr val="222831"/>
                          </a:solidFill>
                          <a:latin typeface="Calibri"/>
                        </a:rPr>
                        <a:t>el filtro no amplifica; H y W comparten formato S(10,8)</a:t>
                      </a:r>
                    </a:p>
                  </a:txBody>
                  <a:tcPr marL="73152" marR="73152" marT="27432" marB="27432" anchor="ctr">
                    <a:solidFill>
                      <a:srgbClr val="FFFFFF"/>
                    </a:solidFill>
                  </a:tcPr>
                </a:tc>
              </a:tr>
              <a:tr h="393192">
                <a:tc>
                  <a:txBody>
                    <a:bodyPr wrap="square"/>
                    <a:lstStyle/>
                    <a:p>
                      <a:r>
                        <a:rPr b="1" sz="1300">
                          <a:solidFill>
                            <a:srgbClr val="222831"/>
                          </a:solidFill>
                          <a:latin typeface="Calibri"/>
                        </a:rPr>
                        <a:t>Overlap-save</a:t>
                      </a:r>
                    </a:p>
                  </a:txBody>
                  <a:tcPr marL="73152" marR="73152" marT="27432" marB="27432" anchor="ctr">
                    <a:solidFill>
                      <a:srgbClr val="F3F5F8"/>
                    </a:solidFill>
                  </a:tcPr>
                </a:tc>
                <a:tc>
                  <a:txBody>
                    <a:bodyPr wrap="square"/>
                    <a:lstStyle/>
                    <a:p>
                      <a:r>
                        <a:rPr b="0" sz="1300">
                          <a:solidFill>
                            <a:srgbClr val="222831"/>
                          </a:solidFill>
                          <a:latin typeface="Calibri"/>
                        </a:rPr>
                        <a:t>descartar es gratis; overlap-add necesita sumar colas</a:t>
                      </a:r>
                    </a:p>
                  </a:txBody>
                  <a:tcPr marL="73152" marR="73152" marT="27432" marB="27432" anchor="ctr">
                    <a:solidFill>
                      <a:srgbClr val="F3F5F8"/>
                    </a:solidFill>
                  </a:tcPr>
                </a:tc>
              </a:tr>
              <a:tr h="393192">
                <a:tc>
                  <a:txBody>
                    <a:bodyPr wrap="square"/>
                    <a:lstStyle/>
                    <a:p>
                      <a:r>
                        <a:rPr b="1" sz="1300">
                          <a:solidFill>
                            <a:srgbClr val="222831"/>
                          </a:solidFill>
                          <a:latin typeface="Calibri"/>
                        </a:rPr>
                        <a:t>N = 16, L = 8</a:t>
                      </a:r>
                    </a:p>
                  </a:txBody>
                  <a:tcPr marL="73152" marR="73152" marT="27432" marB="27432" anchor="ctr">
                    <a:solidFill>
                      <a:srgbClr val="FFFFFF"/>
                    </a:solidFill>
                  </a:tcPr>
                </a:tc>
                <a:tc>
                  <a:txBody>
                    <a:bodyPr wrap="square"/>
                    <a:lstStyle/>
                    <a:p>
                      <a:r>
                        <a:rPr b="0" sz="1300">
                          <a:solidFill>
                            <a:srgbClr val="222831"/>
                          </a:solidFill>
                          <a:latin typeface="Calibri"/>
                        </a:rPr>
                        <a:t>mínimo que cumple historia ≥ M − 1 = 7 con 50 %</a:t>
                      </a:r>
                    </a:p>
                  </a:txBody>
                  <a:tcPr marL="73152" marR="73152" marT="27432" marB="27432" anchor="ctr">
                    <a:solidFill>
                      <a:srgbClr val="FFFFFF"/>
                    </a:solidFill>
                  </a:tcPr>
                </a:tc>
              </a:tr>
              <a:tr h="393192">
                <a:tc>
                  <a:txBody>
                    <a:bodyPr wrap="square"/>
                    <a:lstStyle/>
                    <a:p>
                      <a:r>
                        <a:rPr b="1" sz="1300">
                          <a:solidFill>
                            <a:srgbClr val="222831"/>
                          </a:solidFill>
                          <a:latin typeface="Calibri"/>
                        </a:rPr>
                        <a:t>FFT radix-2 DIT desenrollada</a:t>
                      </a:r>
                    </a:p>
                  </a:txBody>
                  <a:tcPr marL="73152" marR="73152" marT="27432" marB="27432" anchor="ctr">
                    <a:solidFill>
                      <a:srgbClr val="F3F5F8"/>
                    </a:solidFill>
                  </a:tcPr>
                </a:tc>
                <a:tc>
                  <a:txBody>
                    <a:bodyPr wrap="square"/>
                    <a:lstStyle/>
                    <a:p>
                      <a:r>
                        <a:rPr b="0" sz="1300">
                          <a:solidFill>
                            <a:srgbClr val="222831"/>
                          </a:solidFill>
                          <a:latin typeface="Calibri"/>
                        </a:rPr>
                        <a:t>máxima paralelización: 1 bloque por ciclo, una sola mariposa</a:t>
                      </a:r>
                    </a:p>
                  </a:txBody>
                  <a:tcPr marL="73152" marR="73152" marT="27432" marB="27432" anchor="ctr">
                    <a:solidFill>
                      <a:srgbClr val="F3F5F8"/>
                    </a:solidFill>
                  </a:tcPr>
                </a:tc>
              </a:tr>
              <a:tr h="393192">
                <a:tc>
                  <a:txBody>
                    <a:bodyPr wrap="square"/>
                    <a:lstStyle/>
                    <a:p>
                      <a:r>
                        <a:rPr b="1" sz="1300">
                          <a:solidFill>
                            <a:srgbClr val="222831"/>
                          </a:solidFill>
                          <a:latin typeface="Calibri"/>
                        </a:rPr>
                        <a:t>FFT sin escalar</a:t>
                      </a:r>
                    </a:p>
                  </a:txBody>
                  <a:tcPr marL="73152" marR="73152" marT="27432" marB="27432" anchor="ctr">
                    <a:solidFill>
                      <a:srgbClr val="FFFFFF"/>
                    </a:solidFill>
                  </a:tcPr>
                </a:tc>
                <a:tc>
                  <a:txBody>
                    <a:bodyPr wrap="square"/>
                    <a:lstStyle/>
                    <a:p>
                      <a:r>
                        <a:rPr b="0" sz="1300">
                          <a:solidFill>
                            <a:srgbClr val="222831"/>
                          </a:solidFill>
                          <a:latin typeface="Calibri"/>
                        </a:rPr>
                        <a:t>+1 bit por etapa → overflow imposible</a:t>
                      </a:r>
                    </a:p>
                  </a:txBody>
                  <a:tcPr marL="73152" marR="73152" marT="27432" marB="27432" anchor="ctr">
                    <a:solidFill>
                      <a:srgbClr val="FFFFFF"/>
                    </a:solidFill>
                  </a:tcPr>
                </a:tc>
              </a:tr>
              <a:tr h="393192">
                <a:tc>
                  <a:txBody>
                    <a:bodyPr wrap="square"/>
                    <a:lstStyle/>
                    <a:p>
                      <a:r>
                        <a:rPr b="1" sz="1300">
                          <a:solidFill>
                            <a:srgbClr val="222831"/>
                          </a:solidFill>
                          <a:latin typeface="Calibri"/>
                        </a:rPr>
                        <a:t>IFFT con ÷2 por etapa</a:t>
                      </a:r>
                    </a:p>
                  </a:txBody>
                  <a:tcPr marL="73152" marR="73152" marT="27432" marB="27432" anchor="ctr">
                    <a:solidFill>
                      <a:srgbClr val="F3F5F8"/>
                    </a:solidFill>
                  </a:tcPr>
                </a:tc>
                <a:tc>
                  <a:txBody>
                    <a:bodyPr wrap="square"/>
                    <a:lstStyle/>
                    <a:p>
                      <a:r>
                        <a:rPr b="0" sz="1300">
                          <a:solidFill>
                            <a:srgbClr val="222831"/>
                          </a:solidFill>
                          <a:latin typeface="Calibri"/>
                        </a:rPr>
                        <a:t>1/N gratis y ancho constante S(14,8)</a:t>
                      </a:r>
                    </a:p>
                  </a:txBody>
                  <a:tcPr marL="73152" marR="73152" marT="27432" marB="27432" anchor="ctr">
                    <a:solidFill>
                      <a:srgbClr val="F3F5F8"/>
                    </a:solidFill>
                  </a:tcPr>
                </a:tc>
              </a:tr>
              <a:tr h="393192">
                <a:tc>
                  <a:txBody>
                    <a:bodyPr wrap="square"/>
                    <a:lstStyle/>
                    <a:p>
                      <a:r>
                        <a:rPr b="1" sz="1300">
                          <a:solidFill>
                            <a:srgbClr val="222831"/>
                          </a:solidFill>
                          <a:latin typeface="Calibri"/>
                        </a:rPr>
                        <a:t>Un redondeo half-up por operación</a:t>
                      </a:r>
                    </a:p>
                  </a:txBody>
                  <a:tcPr marL="73152" marR="73152" marT="27432" marB="27432" anchor="ctr">
                    <a:solidFill>
                      <a:srgbClr val="FFFFFF"/>
                    </a:solidFill>
                  </a:tcPr>
                </a:tc>
                <a:tc>
                  <a:txBody>
                    <a:bodyPr wrap="square"/>
                    <a:lstStyle/>
                    <a:p>
                      <a:r>
                        <a:rPr b="0" sz="1300">
                          <a:solidFill>
                            <a:srgbClr val="222831"/>
                          </a:solidFill>
                          <a:latin typeface="Calibri"/>
                        </a:rPr>
                        <a:t>fácil de copiar en RTL; ~5 dB mejor que truncar</a:t>
                      </a:r>
                    </a:p>
                  </a:txBody>
                  <a:tcPr marL="73152" marR="73152" marT="27432" marB="27432" anchor="ctr">
                    <a:solidFill>
                      <a:srgbClr val="FFFFFF"/>
                    </a:solidFill>
                  </a:tcPr>
                </a:tc>
              </a:tr>
              <a:tr h="393192">
                <a:tc>
                  <a:txBody>
                    <a:bodyPr wrap="square"/>
                    <a:lstStyle/>
                    <a:p>
                      <a:r>
                        <a:rPr b="1" sz="1300">
                          <a:solidFill>
                            <a:srgbClr val="222831"/>
                          </a:solidFill>
                          <a:latin typeface="Calibri"/>
                        </a:rPr>
                        <a:t>Bits enteros por cotas</a:t>
                      </a:r>
                    </a:p>
                  </a:txBody>
                  <a:tcPr marL="73152" marR="73152" marT="27432" marB="27432" anchor="ctr">
                    <a:solidFill>
                      <a:srgbClr val="F3F5F8"/>
                    </a:solidFill>
                  </a:tcPr>
                </a:tc>
                <a:tc>
                  <a:txBody>
                    <a:bodyPr wrap="square"/>
                    <a:lstStyle/>
                    <a:p>
                      <a:r>
                        <a:rPr b="0" sz="1300">
                          <a:solidFill>
                            <a:srgbClr val="222831"/>
                          </a:solidFill>
                          <a:latin typeface="Calibri"/>
                        </a:rPr>
                        <a:t>sin overflow para cualquier entrada QPSK, no solo las simuladas</a:t>
                      </a:r>
                    </a:p>
                  </a:txBody>
                  <a:tcPr marL="73152" marR="73152" marT="27432" marB="27432" anchor="ctr">
                    <a:solidFill>
                      <a:srgbClr val="F3F5F8"/>
                    </a:solidFill>
                  </a:tcPr>
                </a:tc>
              </a:tr>
              <a:tr h="393192">
                <a:tc>
                  <a:txBody>
                    <a:bodyPr wrap="square"/>
                    <a:lstStyle/>
                    <a:p>
                      <a:r>
                        <a:rPr b="1" sz="1300">
                          <a:solidFill>
                            <a:srgbClr val="222831"/>
                          </a:solidFill>
                          <a:latin typeface="Calibri"/>
                        </a:rPr>
                        <a:t>NBF_D = 8, coeficientes de 10 bits</a:t>
                      </a:r>
                    </a:p>
                  </a:txBody>
                  <a:tcPr marL="73152" marR="73152" marT="27432" marB="27432" anchor="ctr">
                    <a:solidFill>
                      <a:srgbClr val="FFFFFF"/>
                    </a:solidFill>
                  </a:tcPr>
                </a:tc>
                <a:tc>
                  <a:txBody>
                    <a:bodyPr wrap="square"/>
                    <a:lstStyle/>
                    <a:p>
                      <a:r>
                        <a:rPr b="0" sz="1300">
                          <a:solidFill>
                            <a:srgbClr val="222831"/>
                          </a:solidFill>
                          <a:latin typeface="Calibri"/>
                        </a:rPr>
                        <a:t>≈ 49 dB, fuentes de error equilibradas</a:t>
                      </a:r>
                    </a:p>
                  </a:txBody>
                  <a:tcPr marL="73152" marR="73152" marT="27432" marB="27432"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r>
              <a:rPr b="1" sz="2800">
                <a:solidFill>
                  <a:srgbClr val="1F3A5F"/>
                </a:solidFill>
                <a:latin typeface="Calibri"/>
              </a:rPr>
              <a:t>Próximos pasos</a:t>
            </a:r>
          </a:p>
        </p:txBody>
      </p:sp>
      <p:sp>
        <p:nvSpPr>
          <p:cNvPr id="3" name="Rectangle 2"/>
          <p:cNvSpPr/>
          <p:nvPr/>
        </p:nvSpPr>
        <p:spPr>
          <a:xfrm>
            <a:off x="566928" y="987552"/>
            <a:ext cx="1188720" cy="54864"/>
          </a:xfrm>
          <a:prstGeom prst="rect">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lIns="45720" rIns="45720">
            <a:spAutoFit/>
          </a:bodyPr>
          <a:lstStyle/>
          <a:p>
            <a:pPr>
              <a:spcAft>
                <a:spcPts val="600"/>
              </a:spcAft>
            </a:pPr>
            <a:r>
              <a:rPr b="0" sz="1000">
                <a:solidFill>
                  <a:srgbClr val="5F6B7A"/>
                </a:solidFill>
                <a:latin typeface="Calibri"/>
              </a:rPr>
              <a:t>7 · Cierre</a:t>
            </a:r>
          </a:p>
        </p:txBody>
      </p:sp>
      <p:sp>
        <p:nvSpPr>
          <p:cNvPr id="5" name="TextBox 4"/>
          <p:cNvSpPr txBox="1"/>
          <p:nvPr/>
        </p:nvSpPr>
        <p:spPr>
          <a:xfrm>
            <a:off x="10698480" y="6400800"/>
            <a:ext cx="914400" cy="320040"/>
          </a:xfrm>
          <a:prstGeom prst="rect">
            <a:avLst/>
          </a:prstGeom>
          <a:noFill/>
        </p:spPr>
        <p:txBody>
          <a:bodyPr wrap="square" lIns="45720" rIns="45720">
            <a:spAutoFit/>
          </a:bodyPr>
          <a:lstStyle/>
          <a:p>
            <a:pPr algn="r">
              <a:spcAft>
                <a:spcPts val="600"/>
              </a:spcAft>
            </a:pPr>
            <a:r>
              <a:rPr b="0" sz="1000">
                <a:solidFill>
                  <a:srgbClr val="5F6B7A"/>
                </a:solidFill>
                <a:latin typeface="Calibri"/>
              </a:rPr>
              <a:t>43</a:t>
            </a:r>
          </a:p>
        </p:txBody>
      </p:sp>
      <p:sp>
        <p:nvSpPr>
          <p:cNvPr id="6" name="Rounded Rectangle 5"/>
          <p:cNvSpPr/>
          <p:nvPr/>
        </p:nvSpPr>
        <p:spPr>
          <a:xfrm>
            <a:off x="548640" y="1371600"/>
            <a:ext cx="594360" cy="594360"/>
          </a:xfrm>
          <a:prstGeom prst="roundRect">
            <a:avLst>
              <a:gd name="adj" fmla="val 12000"/>
            </a:avLst>
          </a:prstGeom>
          <a:solidFill>
            <a:srgbClr val="1A9E8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1</a:t>
            </a:r>
          </a:p>
        </p:txBody>
      </p:sp>
      <p:sp>
        <p:nvSpPr>
          <p:cNvPr id="7" name="TextBox 6"/>
          <p:cNvSpPr txBox="1"/>
          <p:nvPr/>
        </p:nvSpPr>
        <p:spPr>
          <a:xfrm>
            <a:off x="1371600" y="1325880"/>
            <a:ext cx="10241280" cy="457200"/>
          </a:xfrm>
          <a:prstGeom prst="rect">
            <a:avLst/>
          </a:prstGeom>
          <a:noFill/>
        </p:spPr>
        <p:txBody>
          <a:bodyPr wrap="square" lIns="45720" rIns="45720">
            <a:spAutoFit/>
          </a:bodyPr>
          <a:lstStyle/>
          <a:p>
            <a:pPr>
              <a:spcAft>
                <a:spcPts val="600"/>
              </a:spcAft>
            </a:pPr>
            <a:r>
              <a:rPr b="1" sz="1800">
                <a:solidFill>
                  <a:srgbClr val="1F3A5F"/>
                </a:solidFill>
                <a:latin typeface="Calibri"/>
              </a:rPr>
              <a:t>RTL del filtro en frecuencia</a:t>
            </a:r>
          </a:p>
        </p:txBody>
      </p:sp>
      <p:sp>
        <p:nvSpPr>
          <p:cNvPr id="8" name="TextBox 7"/>
          <p:cNvSpPr txBox="1"/>
          <p:nvPr/>
        </p:nvSpPr>
        <p:spPr>
          <a:xfrm>
            <a:off x="1371600" y="1709928"/>
            <a:ext cx="10241280" cy="457200"/>
          </a:xfrm>
          <a:prstGeom prst="rect">
            <a:avLst/>
          </a:prstGeom>
          <a:noFill/>
        </p:spPr>
        <p:txBody>
          <a:bodyPr wrap="square" lIns="45720" rIns="45720">
            <a:spAutoFit/>
          </a:bodyPr>
          <a:lstStyle/>
          <a:p>
            <a:pPr>
              <a:spcAft>
                <a:spcPts val="600"/>
              </a:spcAft>
            </a:pPr>
            <a:r>
              <a:rPr b="0" sz="1400">
                <a:solidFill>
                  <a:srgbClr val="5F6B7A"/>
                </a:solidFill>
                <a:latin typeface="Calibri"/>
              </a:rPr>
              <a:t>mariposa → etapas con pipeline → FFT16 / IFFT16, ROMs, buffer OLS; testbench con </a:t>
            </a:r>
            <a:r>
              <a:rPr b="0" sz="1400">
                <a:solidFill>
                  <a:srgbClr val="0E6E63"/>
                </a:solidFill>
                <a:latin typeface="Consolas"/>
              </a:rPr>
              <a:t>$readmemh</a:t>
            </a:r>
            <a:r>
              <a:rPr b="0" sz="1400">
                <a:solidFill>
                  <a:srgbClr val="5F6B7A"/>
                </a:solidFill>
                <a:latin typeface="Calibri"/>
              </a:rPr>
              <a:t> comparando etapa por etapa</a:t>
            </a:r>
          </a:p>
        </p:txBody>
      </p:sp>
      <p:sp>
        <p:nvSpPr>
          <p:cNvPr id="9" name="Rounded Rectangle 8"/>
          <p:cNvSpPr/>
          <p:nvPr/>
        </p:nvSpPr>
        <p:spPr>
          <a:xfrm>
            <a:off x="548640" y="2304288"/>
            <a:ext cx="594360" cy="5943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2</a:t>
            </a:r>
          </a:p>
        </p:txBody>
      </p:sp>
      <p:sp>
        <p:nvSpPr>
          <p:cNvPr id="10" name="TextBox 9"/>
          <p:cNvSpPr txBox="1"/>
          <p:nvPr/>
        </p:nvSpPr>
        <p:spPr>
          <a:xfrm>
            <a:off x="1371600" y="2258568"/>
            <a:ext cx="10241280" cy="457200"/>
          </a:xfrm>
          <a:prstGeom prst="rect">
            <a:avLst/>
          </a:prstGeom>
          <a:noFill/>
        </p:spPr>
        <p:txBody>
          <a:bodyPr wrap="square" lIns="45720" rIns="45720">
            <a:spAutoFit/>
          </a:bodyPr>
          <a:lstStyle/>
          <a:p>
            <a:pPr>
              <a:spcAft>
                <a:spcPts val="600"/>
              </a:spcAft>
            </a:pPr>
            <a:r>
              <a:rPr b="1" sz="1800">
                <a:solidFill>
                  <a:srgbClr val="1F3A5F"/>
                </a:solidFill>
                <a:latin typeface="Calibri"/>
              </a:rPr>
              <a:t>FIR en el dominio del tiempo</a:t>
            </a:r>
          </a:p>
        </p:txBody>
      </p:sp>
      <p:sp>
        <p:nvSpPr>
          <p:cNvPr id="11" name="TextBox 10"/>
          <p:cNvSpPr txBox="1"/>
          <p:nvPr/>
        </p:nvSpPr>
        <p:spPr>
          <a:xfrm>
            <a:off x="1371600" y="2642616"/>
            <a:ext cx="10241280" cy="457200"/>
          </a:xfrm>
          <a:prstGeom prst="rect">
            <a:avLst/>
          </a:prstGeom>
          <a:noFill/>
        </p:spPr>
        <p:txBody>
          <a:bodyPr wrap="square" lIns="45720" rIns="45720">
            <a:spAutoFit/>
          </a:bodyPr>
          <a:lstStyle/>
          <a:p>
            <a:pPr>
              <a:spcAft>
                <a:spcPts val="600"/>
              </a:spcAft>
            </a:pPr>
            <a:r>
              <a:rPr b="0" sz="1400">
                <a:solidFill>
                  <a:srgbClr val="5F6B7A"/>
                </a:solidFill>
                <a:latin typeface="Calibri"/>
              </a:rPr>
              <a:t>golden en punto fijo + RTL directo y plegado (4 mult./componente)</a:t>
            </a:r>
          </a:p>
        </p:txBody>
      </p:sp>
      <p:sp>
        <p:nvSpPr>
          <p:cNvPr id="12" name="Rounded Rectangle 11"/>
          <p:cNvSpPr/>
          <p:nvPr/>
        </p:nvSpPr>
        <p:spPr>
          <a:xfrm>
            <a:off x="548640" y="3236976"/>
            <a:ext cx="594360" cy="5943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3</a:t>
            </a:r>
          </a:p>
        </p:txBody>
      </p:sp>
      <p:sp>
        <p:nvSpPr>
          <p:cNvPr id="13" name="TextBox 12"/>
          <p:cNvSpPr txBox="1"/>
          <p:nvPr/>
        </p:nvSpPr>
        <p:spPr>
          <a:xfrm>
            <a:off x="1371600" y="3191256"/>
            <a:ext cx="10241280" cy="457200"/>
          </a:xfrm>
          <a:prstGeom prst="rect">
            <a:avLst/>
          </a:prstGeom>
          <a:noFill/>
        </p:spPr>
        <p:txBody>
          <a:bodyPr wrap="square" lIns="45720" rIns="45720">
            <a:spAutoFit/>
          </a:bodyPr>
          <a:lstStyle/>
          <a:p>
            <a:pPr>
              <a:spcAft>
                <a:spcPts val="600"/>
              </a:spcAft>
            </a:pPr>
            <a:r>
              <a:rPr b="1" sz="1800">
                <a:solidFill>
                  <a:srgbClr val="1F3A5F"/>
                </a:solidFill>
                <a:latin typeface="Calibri"/>
              </a:rPr>
              <a:t>Comparación tiempo vs. frecuencia</a:t>
            </a:r>
          </a:p>
        </p:txBody>
      </p:sp>
      <p:sp>
        <p:nvSpPr>
          <p:cNvPr id="14" name="TextBox 13"/>
          <p:cNvSpPr txBox="1"/>
          <p:nvPr/>
        </p:nvSpPr>
        <p:spPr>
          <a:xfrm>
            <a:off x="1371600" y="3575304"/>
            <a:ext cx="10241280" cy="457200"/>
          </a:xfrm>
          <a:prstGeom prst="rect">
            <a:avLst/>
          </a:prstGeom>
          <a:noFill/>
        </p:spPr>
        <p:txBody>
          <a:bodyPr wrap="square" lIns="45720" rIns="45720">
            <a:spAutoFit/>
          </a:bodyPr>
          <a:lstStyle/>
          <a:p>
            <a:pPr>
              <a:spcAft>
                <a:spcPts val="600"/>
              </a:spcAft>
            </a:pPr>
            <a:r>
              <a:rPr b="0" sz="1400">
                <a:solidFill>
                  <a:srgbClr val="5F6B7A"/>
                </a:solidFill>
                <a:latin typeface="Calibri"/>
              </a:rPr>
              <a:t>área, frecuencia máxima, throughput y latencia con síntesis real</a:t>
            </a:r>
          </a:p>
        </p:txBody>
      </p:sp>
      <p:sp>
        <p:nvSpPr>
          <p:cNvPr id="15" name="Rounded Rectangle 14"/>
          <p:cNvSpPr/>
          <p:nvPr/>
        </p:nvSpPr>
        <p:spPr>
          <a:xfrm>
            <a:off x="548640" y="4169664"/>
            <a:ext cx="594360" cy="5943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4</a:t>
            </a:r>
          </a:p>
        </p:txBody>
      </p:sp>
      <p:sp>
        <p:nvSpPr>
          <p:cNvPr id="16" name="TextBox 15"/>
          <p:cNvSpPr txBox="1"/>
          <p:nvPr/>
        </p:nvSpPr>
        <p:spPr>
          <a:xfrm>
            <a:off x="1371600" y="4123944"/>
            <a:ext cx="10241280" cy="457200"/>
          </a:xfrm>
          <a:prstGeom prst="rect">
            <a:avLst/>
          </a:prstGeom>
          <a:noFill/>
        </p:spPr>
        <p:txBody>
          <a:bodyPr wrap="square" lIns="45720" rIns="45720">
            <a:spAutoFit/>
          </a:bodyPr>
          <a:lstStyle/>
          <a:p>
            <a:pPr>
              <a:spcAft>
                <a:spcPts val="600"/>
              </a:spcAft>
            </a:pPr>
            <a:r>
              <a:rPr b="1" sz="1800">
                <a:solidFill>
                  <a:srgbClr val="1F3A5F"/>
                </a:solidFill>
                <a:latin typeface="Calibri"/>
              </a:rPr>
              <a:t>Interfaz serie</a:t>
            </a:r>
          </a:p>
        </p:txBody>
      </p:sp>
      <p:sp>
        <p:nvSpPr>
          <p:cNvPr id="17" name="TextBox 16"/>
          <p:cNvSpPr txBox="1"/>
          <p:nvPr/>
        </p:nvSpPr>
        <p:spPr>
          <a:xfrm>
            <a:off x="1371600" y="4507992"/>
            <a:ext cx="10241280" cy="457200"/>
          </a:xfrm>
          <a:prstGeom prst="rect">
            <a:avLst/>
          </a:prstGeom>
          <a:noFill/>
        </p:spPr>
        <p:txBody>
          <a:bodyPr wrap="square" lIns="45720" rIns="45720">
            <a:spAutoFit/>
          </a:bodyPr>
          <a:lstStyle/>
          <a:p>
            <a:pPr>
              <a:spcAft>
                <a:spcPts val="600"/>
              </a:spcAft>
            </a:pPr>
            <a:r>
              <a:rPr b="0" sz="1400">
                <a:solidFill>
                  <a:srgbClr val="5F6B7A"/>
                </a:solidFill>
                <a:latin typeface="Calibri"/>
              </a:rPr>
              <a:t>UART para cargar estímulos y leer resultados; verificar que ambos filtros coinciden</a:t>
            </a:r>
          </a:p>
        </p:txBody>
      </p:sp>
      <p:sp>
        <p:nvSpPr>
          <p:cNvPr id="18" name="Rounded Rectangle 17"/>
          <p:cNvSpPr/>
          <p:nvPr/>
        </p:nvSpPr>
        <p:spPr>
          <a:xfrm>
            <a:off x="548640" y="5102352"/>
            <a:ext cx="594360" cy="594360"/>
          </a:xfrm>
          <a:prstGeom prst="roundRect">
            <a:avLst>
              <a:gd name="adj" fmla="val 12000"/>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b="1" sz="2000">
                <a:solidFill>
                  <a:srgbClr val="FFFFFF"/>
                </a:solidFill>
                <a:latin typeface="Calibri"/>
              </a:rPr>
              <a:t>5</a:t>
            </a:r>
          </a:p>
        </p:txBody>
      </p:sp>
      <p:sp>
        <p:nvSpPr>
          <p:cNvPr id="19" name="TextBox 18"/>
          <p:cNvSpPr txBox="1"/>
          <p:nvPr/>
        </p:nvSpPr>
        <p:spPr>
          <a:xfrm>
            <a:off x="1371600" y="5056632"/>
            <a:ext cx="10241280" cy="457200"/>
          </a:xfrm>
          <a:prstGeom prst="rect">
            <a:avLst/>
          </a:prstGeom>
          <a:noFill/>
        </p:spPr>
        <p:txBody>
          <a:bodyPr wrap="square" lIns="45720" rIns="45720">
            <a:spAutoFit/>
          </a:bodyPr>
          <a:lstStyle/>
          <a:p>
            <a:pPr>
              <a:spcAft>
                <a:spcPts val="600"/>
              </a:spcAft>
            </a:pPr>
            <a:r>
              <a:rPr b="1" sz="1800">
                <a:solidFill>
                  <a:srgbClr val="1F3A5F"/>
                </a:solidFill>
                <a:latin typeface="Calibri"/>
              </a:rPr>
              <a:t>Implementación paralela</a:t>
            </a:r>
          </a:p>
        </p:txBody>
      </p:sp>
      <p:sp>
        <p:nvSpPr>
          <p:cNvPr id="20" name="TextBox 19"/>
          <p:cNvSpPr txBox="1"/>
          <p:nvPr/>
        </p:nvSpPr>
        <p:spPr>
          <a:xfrm>
            <a:off x="1371600" y="5440680"/>
            <a:ext cx="10241280" cy="457200"/>
          </a:xfrm>
          <a:prstGeom prst="rect">
            <a:avLst/>
          </a:prstGeom>
          <a:noFill/>
        </p:spPr>
        <p:txBody>
          <a:bodyPr wrap="square" lIns="45720" rIns="45720">
            <a:spAutoFit/>
          </a:bodyPr>
          <a:lstStyle/>
          <a:p>
            <a:pPr>
              <a:spcAft>
                <a:spcPts val="600"/>
              </a:spcAft>
            </a:pPr>
            <a:r>
              <a:rPr b="0" sz="1400">
                <a:solidFill>
                  <a:srgbClr val="5F6B7A"/>
                </a:solidFill>
                <a:latin typeface="Calibri"/>
              </a:rPr>
              <a:t>pipeline / sistólica / folded y análisis de la mejora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